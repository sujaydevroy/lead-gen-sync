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5240000" cy="85725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58" d="100"/>
          <a:sy n="58" d="100"/>
        </p:scale>
        <p:origin x="91" y="46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6605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outline. A unified workspace for sales teams to identify customers, uncover opportunities, and forecast demand, replacing manual spreadsheets and gut-feel decisions with data-driven insight.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The Problem section. Forecast horizon question includes coming days, weeks or months. The platform currently supports monthly projections only. Sales teams spend significant time figuring out who to target and where opportunity exists.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user-supplied Ledora AI presentation outline. Product capabilities and roadmap reflect the supplied material, not independent verification.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user-supplied Ledora AI presentation outline. Product capabilities and roadmap reflect the supplied material, not independent verification.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user-supplied Ledora AI presentation outline. Product capabilities and roadmap reflect the supplied material, not independent verification.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Lead Targeting &amp; Segmentation. Country filters cascade to Region. Sector filters cascade to Sub-sector. Every filter option carries a faceted count. This supports deciding which existing customers to target and where regional or sector opportunities may exist. Automated lead scoring is a roadmap item.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Sales Trends &amp; Forecasting. Sales by country and product use bar charts. Monthly sales trend uses a line chart. The forecast shows actual and projected values together, with up/down/flat trend indicators and percentage change. No sample chart values are supplied, so this slide describes the analytical views without inventing revenue or quantity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user-supplied Ledora AI presentation outline. Product capabilities and roadmap reflect the supplied material, not independent verification.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Data Captured Today. The supplied outline states that most upcoming features can build on the existing data model. Order lifecycle tracking explicitly requires an order-status extension. Future analytical features may need validation and enrichment of available fields.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Roadmap: From Insight to Action. All eight entries are future capabilities. Numbering follows the supplied order and does not imply committed release dates. Cross-sell uses sector / sub-sector catalog against current purchase mix. Lead scoring combines communication engagement with firmographic and sales signals.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Why This Matters. Sales reps use one place to search, filter and act instead of relying on memory and spreadsheets. Forecasting supports proactive planning. Features map back to sales leadership questions. The architecture is designed to replace mock services with live APIs / ML models without UI rework.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user-supplied Ledora AI presentation outline. Product capabilities and roadmap reflect the supplied material, not independent verification.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DEC7F9-F6E2-39EA-655B-53FD780505F9}"/>
              </a:ext>
            </a:extLst>
          </p:cNvPr>
          <p:cNvSpPr txBox="1"/>
          <p:nvPr userDrawn="1">
            <p:extLst>
              <p:ext uri="{1162E1C5-73C7-4A58-AE30-91384D911F3F}">
                <p184:classification xmlns:p184="http://schemas.microsoft.com/office/powerpoint/2018/4/main" val="hdr"/>
              </p:ext>
            </p:extLst>
          </p:nvPr>
        </p:nvSpPr>
        <p:spPr>
          <a:xfrm>
            <a:off x="63500" y="63500"/>
            <a:ext cx="1270000"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Classification: Internal</a:t>
            </a:r>
          </a:p>
        </p:txBody>
      </p:sp>
    </p:spTree>
    <p:extLst>
      <p:ext uri="{BB962C8B-B14F-4D97-AF65-F5344CB8AC3E}">
        <p14:creationId xmlns:p14="http://schemas.microsoft.com/office/powerpoint/2010/main" val="1240189395"/>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00001-0001-4000-8000-000000000000}"/>
              </a:ext>
            </a:extLst>
          </p:cNvPr>
          <p:cNvSpPr>
            <a:spLocks noGrp="1"/>
          </p:cNvSpPr>
          <p:nvPr/>
        </p:nvSpPr>
        <p:spPr>
          <a:xfrm>
            <a:off x="800100" y="628650"/>
            <a:ext cx="13620750" cy="819150"/>
          </a:xfrm>
          <a:prstGeom prst="rect">
            <a:avLst/>
          </a:prstGeom>
          <a:noFill/>
          <a:ln w="0">
            <a:noFill/>
          </a:ln>
        </p:spPr>
        <p:txBody>
          <a:bodyPr>
            <a:noAutofit/>
          </a:bodyPr>
          <a:lstStyle/>
          <a:p>
            <a:endParaRPr/>
          </a:p>
        </p:txBody>
      </p:sp>
      <p:sp>
        <p:nvSpPr>
          <p:cNvPr id="2" name="Rectangle 1">
            <a:extLst>
              <a:ext uri="{FF2B5EF4-FFF2-40B4-BE49-F238E27FC236}">
                <a16:creationId xmlns:a16="http://schemas.microsoft.com/office/drawing/2014/main" id="{00000001-0002-4000-8000-000000000000}"/>
              </a:ext>
            </a:extLst>
          </p:cNvPr>
          <p:cNvSpPr>
            <a:spLocks noGrp="1"/>
          </p:cNvSpPr>
          <p:nvPr/>
        </p:nvSpPr>
        <p:spPr>
          <a:xfrm>
            <a:off x="800100" y="1647825"/>
            <a:ext cx="13639800" cy="19050"/>
          </a:xfrm>
          <a:prstGeom prst="rect">
            <a:avLst/>
          </a:prstGeom>
          <a:solidFill>
            <a:srgbClr val="D7DFEC"/>
          </a:solidFill>
          <a:ln w="0">
            <a:noFill/>
          </a:ln>
        </p:spPr>
        <p:txBody>
          <a:bodyPr/>
          <a:lstStyle/>
          <a:p>
            <a:endParaRPr lang="en-US"/>
          </a:p>
        </p:txBody>
      </p:sp>
      <p:sp>
        <p:nvSpPr>
          <p:cNvPr id="3" name="Rectangle 2">
            <a:extLst>
              <a:ext uri="{FF2B5EF4-FFF2-40B4-BE49-F238E27FC236}">
                <a16:creationId xmlns:a16="http://schemas.microsoft.com/office/drawing/2014/main" id="{00000001-0003-4000-8000-000000000000}"/>
              </a:ext>
            </a:extLst>
          </p:cNvPr>
          <p:cNvSpPr>
            <a:spLocks noGrp="1"/>
          </p:cNvSpPr>
          <p:nvPr/>
        </p:nvSpPr>
        <p:spPr>
          <a:xfrm>
            <a:off x="800100" y="8039100"/>
            <a:ext cx="5715000" cy="285750"/>
          </a:xfrm>
          <a:prstGeom prst="rect">
            <a:avLst/>
          </a:prstGeom>
          <a:noFill/>
          <a:ln w="0">
            <a:noFill/>
          </a:ln>
        </p:spPr>
        <p:txBody>
          <a:bodyPr>
            <a:noAutofit/>
          </a:bodyPr>
          <a:lstStyle/>
          <a:p>
            <a:pPr>
              <a:defRPr sz="1350" b="1">
                <a:solidFill>
                  <a:srgbClr val="596579"/>
                </a:solidFill>
                <a:latin typeface="DejaVu Sans"/>
                <a:ea typeface="DejaVu Sans"/>
                <a:cs typeface="DejaVu Sans"/>
              </a:defRPr>
            </a:pPr>
            <a:r>
              <a:rPr sz="1350" b="1">
                <a:solidFill>
                  <a:srgbClr val="596579"/>
                </a:solidFill>
                <a:latin typeface="DejaVu Sans"/>
                <a:ea typeface="DejaVu Sans"/>
                <a:cs typeface="DejaVu Sans"/>
              </a:rPr>
              <a:t>LEDORA AI</a:t>
            </a:r>
          </a:p>
        </p:txBody>
      </p:sp>
      <p:sp>
        <p:nvSpPr>
          <p:cNvPr id="4" name="Rectangle 3">
            <a:extLst>
              <a:ext uri="{FF2B5EF4-FFF2-40B4-BE49-F238E27FC236}">
                <a16:creationId xmlns:a16="http://schemas.microsoft.com/office/drawing/2014/main" id="{00000001-0004-4000-8000-000000000000}"/>
              </a:ext>
            </a:extLst>
          </p:cNvPr>
          <p:cNvSpPr>
            <a:spLocks noGrp="1"/>
          </p:cNvSpPr>
          <p:nvPr/>
        </p:nvSpPr>
        <p:spPr>
          <a:xfrm>
            <a:off x="13811250" y="8010525"/>
            <a:ext cx="619125" cy="304800"/>
          </a:xfrm>
          <a:prstGeom prst="rect">
            <a:avLst/>
          </a:prstGeom>
          <a:noFill/>
          <a:ln w="0">
            <a:noFill/>
          </a:ln>
        </p:spPr>
        <p:txBody>
          <a:bodyPr>
            <a:noAutofit/>
          </a:bodyPr>
          <a:lstStyle/>
          <a:p>
            <a:pPr>
              <a:defRPr sz="1500" b="0">
                <a:solidFill>
                  <a:srgbClr val="596579"/>
                </a:solidFill>
                <a:latin typeface="DejaVu Sans"/>
                <a:ea typeface="DejaVu Sans"/>
                <a:cs typeface="DejaVu Sans"/>
              </a:defRPr>
            </a:pPr>
            <a:r>
              <a:rPr sz="1500" b="0">
                <a:solidFill>
                  <a:srgbClr val="596579"/>
                </a:solidFill>
                <a:latin typeface="DejaVu Sans"/>
                <a:ea typeface="DejaVu Sans"/>
                <a:cs typeface="DejaVu Sans"/>
              </a:rPr>
              <a:t>01</a:t>
            </a:r>
          </a:p>
        </p:txBody>
      </p:sp>
      <p:sp>
        <p:nvSpPr>
          <p:cNvPr id="5" name="Rectangle 4">
            <a:extLst>
              <a:ext uri="{FF2B5EF4-FFF2-40B4-BE49-F238E27FC236}">
                <a16:creationId xmlns:a16="http://schemas.microsoft.com/office/drawing/2014/main" id="{00000001-0005-4000-8000-000000000000}"/>
              </a:ext>
            </a:extLst>
          </p:cNvPr>
          <p:cNvSpPr>
            <a:spLocks noGrp="1"/>
          </p:cNvSpPr>
          <p:nvPr/>
        </p:nvSpPr>
        <p:spPr>
          <a:xfrm>
            <a:off x="800100" y="1781175"/>
            <a:ext cx="13525500" cy="1619250"/>
          </a:xfrm>
          <a:prstGeom prst="rect">
            <a:avLst/>
          </a:prstGeom>
          <a:noFill/>
          <a:ln w="0">
            <a:noFill/>
          </a:ln>
        </p:spPr>
        <p:txBody>
          <a:bodyPr>
            <a:noAutofit/>
          </a:bodyPr>
          <a:lstStyle/>
          <a:p>
            <a:pPr>
              <a:defRPr sz="9750" b="1">
                <a:solidFill>
                  <a:srgbClr val="2454D6"/>
                </a:solidFill>
                <a:latin typeface="DejaVu Sans"/>
                <a:ea typeface="DejaVu Sans"/>
                <a:cs typeface="DejaVu Sans"/>
              </a:defRPr>
            </a:pPr>
            <a:r>
              <a:rPr sz="9750" b="1">
                <a:solidFill>
                  <a:srgbClr val="2454D6"/>
                </a:solidFill>
                <a:latin typeface="DejaVu Sans"/>
                <a:ea typeface="DejaVu Sans"/>
                <a:cs typeface="DejaVu Sans"/>
              </a:rPr>
              <a:t>Ledora AI</a:t>
            </a:r>
          </a:p>
        </p:txBody>
      </p:sp>
      <p:sp>
        <p:nvSpPr>
          <p:cNvPr id="6" name="Rectangle 5">
            <a:extLst>
              <a:ext uri="{FF2B5EF4-FFF2-40B4-BE49-F238E27FC236}">
                <a16:creationId xmlns:a16="http://schemas.microsoft.com/office/drawing/2014/main" id="{00000001-0006-4000-8000-000000000000}"/>
              </a:ext>
            </a:extLst>
          </p:cNvPr>
          <p:cNvSpPr>
            <a:spLocks noGrp="1"/>
          </p:cNvSpPr>
          <p:nvPr/>
        </p:nvSpPr>
        <p:spPr>
          <a:xfrm>
            <a:off x="857250" y="3695700"/>
            <a:ext cx="13049250" cy="1428750"/>
          </a:xfrm>
          <a:prstGeom prst="rect">
            <a:avLst/>
          </a:prstGeom>
          <a:noFill/>
          <a:ln w="0">
            <a:noFill/>
          </a:ln>
        </p:spPr>
        <p:txBody>
          <a:bodyPr>
            <a:noAutofit/>
          </a:bodyPr>
          <a:lstStyle/>
          <a:p>
            <a:pPr>
              <a:defRPr sz="3975" b="1">
                <a:solidFill>
                  <a:srgbClr val="172033"/>
                </a:solidFill>
                <a:latin typeface="DejaVu Sans"/>
                <a:ea typeface="DejaVu Sans"/>
                <a:cs typeface="DejaVu Sans"/>
              </a:defRPr>
            </a:pPr>
            <a:r>
              <a:rPr sz="3975" b="1">
                <a:solidFill>
                  <a:srgbClr val="172033"/>
                </a:solidFill>
                <a:latin typeface="DejaVu Sans"/>
                <a:ea typeface="DejaVu Sans"/>
                <a:cs typeface="DejaVu Sans"/>
              </a:rPr>
              <a:t>Sales Intelligence &amp;</a:t>
            </a:r>
          </a:p>
          <a:p>
            <a:pPr>
              <a:defRPr sz="3975" b="1">
                <a:solidFill>
                  <a:srgbClr val="172033"/>
                </a:solidFill>
                <a:latin typeface="DejaVu Sans"/>
                <a:ea typeface="DejaVu Sans"/>
                <a:cs typeface="DejaVu Sans"/>
              </a:defRPr>
            </a:pPr>
            <a:r>
              <a:rPr sz="3975" b="1">
                <a:solidFill>
                  <a:srgbClr val="172033"/>
                </a:solidFill>
                <a:latin typeface="DejaVu Sans"/>
                <a:ea typeface="DejaVu Sans"/>
                <a:cs typeface="DejaVu Sans"/>
              </a:rPr>
              <a:t>Lead Generation Platform</a:t>
            </a:r>
          </a:p>
        </p:txBody>
      </p:sp>
      <p:sp>
        <p:nvSpPr>
          <p:cNvPr id="7" name="Rectangle 6">
            <a:extLst>
              <a:ext uri="{FF2B5EF4-FFF2-40B4-BE49-F238E27FC236}">
                <a16:creationId xmlns:a16="http://schemas.microsoft.com/office/drawing/2014/main" id="{00000001-0007-4000-8000-000000000000}"/>
              </a:ext>
            </a:extLst>
          </p:cNvPr>
          <p:cNvSpPr>
            <a:spLocks noGrp="1"/>
          </p:cNvSpPr>
          <p:nvPr/>
        </p:nvSpPr>
        <p:spPr>
          <a:xfrm>
            <a:off x="876300" y="5800725"/>
            <a:ext cx="12668250" cy="714375"/>
          </a:xfrm>
          <a:prstGeom prst="rect">
            <a:avLst/>
          </a:prstGeom>
          <a:noFill/>
          <a:ln w="0">
            <a:noFill/>
          </a:ln>
        </p:spPr>
        <p:txBody>
          <a:bodyPr>
            <a:noAutofit/>
          </a:bodyPr>
          <a:lstStyle/>
          <a:p>
            <a:pPr>
              <a:defRPr sz="2850" b="0">
                <a:solidFill>
                  <a:srgbClr val="2454D6"/>
                </a:solidFill>
                <a:latin typeface="DejaVu Sans"/>
                <a:ea typeface="DejaVu Sans"/>
                <a:cs typeface="DejaVu Sans"/>
              </a:defRPr>
            </a:pPr>
            <a:r>
              <a:rPr sz="2850" b="0">
                <a:solidFill>
                  <a:srgbClr val="2454D6"/>
                </a:solidFill>
                <a:latin typeface="DejaVu Sans"/>
                <a:ea typeface="DejaVu Sans"/>
                <a:cs typeface="DejaVu Sans"/>
              </a:rPr>
              <a:t>Turn Leads Into Growth</a:t>
            </a:r>
          </a:p>
        </p:txBody>
      </p:sp>
    </p:spTree>
    <p:extLst>
      <p:ext uri="{BB962C8B-B14F-4D97-AF65-F5344CB8AC3E}">
        <p14:creationId xmlns:p14="http://schemas.microsoft.com/office/powerpoint/2010/main" val="100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0000002-0001-4000-8000-000000000000}"/>
              </a:ext>
            </a:extLst>
          </p:cNvPr>
          <p:cNvSpPr>
            <a:spLocks noGrp="1"/>
          </p:cNvSpPr>
          <p:nvPr/>
        </p:nvSpPr>
        <p:spPr>
          <a:xfrm>
            <a:off x="800100" y="628650"/>
            <a:ext cx="13620750" cy="819150"/>
          </a:xfrm>
          <a:prstGeom prst="rect">
            <a:avLst/>
          </a:prstGeom>
          <a:noFill/>
          <a:ln w="0">
            <a:noFill/>
          </a:ln>
        </p:spPr>
        <p:txBody>
          <a:bodyPr>
            <a:noAutofit/>
          </a:bodyPr>
          <a:lstStyle/>
          <a:p>
            <a:pPr>
              <a:defRPr sz="4050" b="1">
                <a:solidFill>
                  <a:srgbClr val="172033"/>
                </a:solidFill>
                <a:latin typeface="DejaVu Sans"/>
                <a:ea typeface="DejaVu Sans"/>
                <a:cs typeface="DejaVu Sans"/>
              </a:defRPr>
            </a:pPr>
            <a:r>
              <a:rPr sz="4050" b="1">
                <a:solidFill>
                  <a:srgbClr val="172033"/>
                </a:solidFill>
                <a:latin typeface="DejaVu Sans"/>
                <a:ea typeface="DejaVu Sans"/>
                <a:cs typeface="DejaVu Sans"/>
              </a:rPr>
              <a:t>The problem: deciding where to sell</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800100" y="1647825"/>
            <a:ext cx="13639800" cy="19050"/>
          </a:xfrm>
          <a:prstGeom prst="rect">
            <a:avLst/>
          </a:prstGeom>
          <a:solidFill>
            <a:srgbClr val="D7DFEC"/>
          </a:solidFill>
          <a:ln w="0">
            <a:noFill/>
          </a:ln>
        </p:spPr>
        <p:txBody>
          <a:bodyPr/>
          <a:lstStyle/>
          <a:p>
            <a:endParaRPr lang="en-US"/>
          </a:p>
        </p:txBody>
      </p:sp>
      <p:sp>
        <p:nvSpPr>
          <p:cNvPr id="3" name="Rectangle 2">
            <a:extLst>
              <a:ext uri="{FF2B5EF4-FFF2-40B4-BE49-F238E27FC236}">
                <a16:creationId xmlns:a16="http://schemas.microsoft.com/office/drawing/2014/main" id="{00000002-0003-4000-8000-000000000000}"/>
              </a:ext>
            </a:extLst>
          </p:cNvPr>
          <p:cNvSpPr>
            <a:spLocks noGrp="1"/>
          </p:cNvSpPr>
          <p:nvPr/>
        </p:nvSpPr>
        <p:spPr>
          <a:xfrm>
            <a:off x="800100" y="8039100"/>
            <a:ext cx="5715000" cy="285750"/>
          </a:xfrm>
          <a:prstGeom prst="rect">
            <a:avLst/>
          </a:prstGeom>
          <a:noFill/>
          <a:ln w="0">
            <a:noFill/>
          </a:ln>
        </p:spPr>
        <p:txBody>
          <a:bodyPr>
            <a:noAutofit/>
          </a:bodyPr>
          <a:lstStyle/>
          <a:p>
            <a:pPr>
              <a:defRPr sz="1350" b="1">
                <a:solidFill>
                  <a:srgbClr val="596579"/>
                </a:solidFill>
                <a:latin typeface="DejaVu Sans"/>
                <a:ea typeface="DejaVu Sans"/>
                <a:cs typeface="DejaVu Sans"/>
              </a:defRPr>
            </a:pPr>
            <a:r>
              <a:rPr sz="1350" b="1">
                <a:solidFill>
                  <a:srgbClr val="596579"/>
                </a:solidFill>
                <a:latin typeface="DejaVu Sans"/>
                <a:ea typeface="DejaVu Sans"/>
                <a:cs typeface="DejaVu Sans"/>
              </a:rPr>
              <a:t>LEDORA AI</a:t>
            </a:r>
          </a:p>
        </p:txBody>
      </p:sp>
      <p:sp>
        <p:nvSpPr>
          <p:cNvPr id="4" name="Rectangle 3">
            <a:extLst>
              <a:ext uri="{FF2B5EF4-FFF2-40B4-BE49-F238E27FC236}">
                <a16:creationId xmlns:a16="http://schemas.microsoft.com/office/drawing/2014/main" id="{00000002-0004-4000-8000-000000000000}"/>
              </a:ext>
            </a:extLst>
          </p:cNvPr>
          <p:cNvSpPr>
            <a:spLocks noGrp="1"/>
          </p:cNvSpPr>
          <p:nvPr/>
        </p:nvSpPr>
        <p:spPr>
          <a:xfrm>
            <a:off x="13811250" y="8010525"/>
            <a:ext cx="619125" cy="304800"/>
          </a:xfrm>
          <a:prstGeom prst="rect">
            <a:avLst/>
          </a:prstGeom>
          <a:noFill/>
          <a:ln w="0">
            <a:noFill/>
          </a:ln>
        </p:spPr>
        <p:txBody>
          <a:bodyPr>
            <a:noAutofit/>
          </a:bodyPr>
          <a:lstStyle/>
          <a:p>
            <a:pPr>
              <a:defRPr sz="1500" b="0">
                <a:solidFill>
                  <a:srgbClr val="596579"/>
                </a:solidFill>
                <a:latin typeface="DejaVu Sans"/>
                <a:ea typeface="DejaVu Sans"/>
                <a:cs typeface="DejaVu Sans"/>
              </a:defRPr>
            </a:pPr>
            <a:r>
              <a:rPr sz="1500" b="0">
                <a:solidFill>
                  <a:srgbClr val="596579"/>
                </a:solidFill>
                <a:latin typeface="DejaVu Sans"/>
                <a:ea typeface="DejaVu Sans"/>
                <a:cs typeface="DejaVu Sans"/>
              </a:rPr>
              <a:t>02</a:t>
            </a:r>
          </a:p>
        </p:txBody>
      </p:sp>
      <p:sp>
        <p:nvSpPr>
          <p:cNvPr id="5" name="Rectangle 4">
            <a:extLst>
              <a:ext uri="{FF2B5EF4-FFF2-40B4-BE49-F238E27FC236}">
                <a16:creationId xmlns:a16="http://schemas.microsoft.com/office/drawing/2014/main" id="{00000002-0005-4000-8000-000000000000}"/>
              </a:ext>
            </a:extLst>
          </p:cNvPr>
          <p:cNvSpPr>
            <a:spLocks noGrp="1"/>
          </p:cNvSpPr>
          <p:nvPr/>
        </p:nvSpPr>
        <p:spPr>
          <a:xfrm>
            <a:off x="800100" y="1952625"/>
            <a:ext cx="13477875" cy="876300"/>
          </a:xfrm>
          <a:prstGeom prst="rect">
            <a:avLst/>
          </a:prstGeom>
          <a:noFill/>
          <a:ln w="0">
            <a:noFill/>
          </a:ln>
        </p:spPr>
        <p:txBody>
          <a:bodyPr>
            <a:noAutofit/>
          </a:bodyPr>
          <a:lstStyle/>
          <a:p>
            <a:pPr>
              <a:defRPr sz="2325" b="0">
                <a:solidFill>
                  <a:srgbClr val="596579"/>
                </a:solidFill>
                <a:latin typeface="DejaVu Sans"/>
                <a:ea typeface="DejaVu Sans"/>
                <a:cs typeface="DejaVu Sans"/>
              </a:defRPr>
            </a:pPr>
            <a:r>
              <a:rPr sz="2325" b="0">
                <a:solidFill>
                  <a:srgbClr val="596579"/>
                </a:solidFill>
                <a:latin typeface="DejaVu Sans"/>
                <a:ea typeface="DejaVu Sans"/>
                <a:cs typeface="DejaVu Sans"/>
              </a:rPr>
              <a:t>Manual analysis, personal experience and basic reports leave key sales questions unanswered.</a:t>
            </a:r>
          </a:p>
        </p:txBody>
      </p:sp>
      <p:sp>
        <p:nvSpPr>
          <p:cNvPr id="6" name="Rectangle 5">
            <a:extLst>
              <a:ext uri="{FF2B5EF4-FFF2-40B4-BE49-F238E27FC236}">
                <a16:creationId xmlns:a16="http://schemas.microsoft.com/office/drawing/2014/main" id="{00000002-0006-4000-8000-000000000000}"/>
              </a:ext>
            </a:extLst>
          </p:cNvPr>
          <p:cNvSpPr>
            <a:spLocks noGrp="1"/>
          </p:cNvSpPr>
          <p:nvPr/>
        </p:nvSpPr>
        <p:spPr>
          <a:xfrm>
            <a:off x="800100" y="3095625"/>
            <a:ext cx="6572250" cy="428625"/>
          </a:xfrm>
          <a:prstGeom prst="rect">
            <a:avLst/>
          </a:prstGeom>
          <a:noFill/>
          <a:ln w="0">
            <a:noFill/>
          </a:ln>
        </p:spPr>
        <p:txBody>
          <a:bodyPr>
            <a:noAutofit/>
          </a:bodyPr>
          <a:lstStyle/>
          <a:p>
            <a:pPr>
              <a:defRPr sz="1875" b="1">
                <a:solidFill>
                  <a:srgbClr val="2454D6"/>
                </a:solidFill>
                <a:latin typeface="DejaVu Sans"/>
                <a:ea typeface="DejaVu Sans"/>
                <a:cs typeface="DejaVu Sans"/>
              </a:defRPr>
            </a:pPr>
            <a:r>
              <a:rPr sz="1875" b="1">
                <a:solidFill>
                  <a:srgbClr val="2454D6"/>
                </a:solidFill>
                <a:latin typeface="DejaVu Sans"/>
                <a:ea typeface="DejaVu Sans"/>
                <a:cs typeface="DejaVu Sans"/>
              </a:rPr>
              <a:t>PERFORMANCE &amp; PLANNING</a:t>
            </a:r>
          </a:p>
        </p:txBody>
      </p:sp>
      <p:sp>
        <p:nvSpPr>
          <p:cNvPr id="7" name="Rectangle 6">
            <a:extLst>
              <a:ext uri="{FF2B5EF4-FFF2-40B4-BE49-F238E27FC236}">
                <a16:creationId xmlns:a16="http://schemas.microsoft.com/office/drawing/2014/main" id="{00000002-0007-4000-8000-000000000000}"/>
              </a:ext>
            </a:extLst>
          </p:cNvPr>
          <p:cNvSpPr>
            <a:spLocks noGrp="1"/>
          </p:cNvSpPr>
          <p:nvPr/>
        </p:nvSpPr>
        <p:spPr>
          <a:xfrm>
            <a:off x="8029575" y="3095625"/>
            <a:ext cx="6381750" cy="428625"/>
          </a:xfrm>
          <a:prstGeom prst="rect">
            <a:avLst/>
          </a:prstGeom>
          <a:noFill/>
          <a:ln w="0">
            <a:noFill/>
          </a:ln>
        </p:spPr>
        <p:txBody>
          <a:bodyPr>
            <a:noAutofit/>
          </a:bodyPr>
          <a:lstStyle/>
          <a:p>
            <a:pPr>
              <a:defRPr sz="1875" b="1">
                <a:solidFill>
                  <a:srgbClr val="2454D6"/>
                </a:solidFill>
                <a:latin typeface="DejaVu Sans"/>
                <a:ea typeface="DejaVu Sans"/>
                <a:cs typeface="DejaVu Sans"/>
              </a:defRPr>
            </a:pPr>
            <a:r>
              <a:rPr sz="1875" b="1">
                <a:solidFill>
                  <a:srgbClr val="2454D6"/>
                </a:solidFill>
                <a:latin typeface="DejaVu Sans"/>
                <a:ea typeface="DejaVu Sans"/>
                <a:cs typeface="DejaVu Sans"/>
              </a:rPr>
              <a:t>TARGETING &amp; OPPORTUNITY</a:t>
            </a:r>
          </a:p>
        </p:txBody>
      </p:sp>
      <p:sp>
        <p:nvSpPr>
          <p:cNvPr id="8" name="Rectangle 7">
            <a:extLst>
              <a:ext uri="{FF2B5EF4-FFF2-40B4-BE49-F238E27FC236}">
                <a16:creationId xmlns:a16="http://schemas.microsoft.com/office/drawing/2014/main" id="{00000002-0008-4000-8000-000000000000}"/>
              </a:ext>
            </a:extLst>
          </p:cNvPr>
          <p:cNvSpPr>
            <a:spLocks noGrp="1"/>
          </p:cNvSpPr>
          <p:nvPr/>
        </p:nvSpPr>
        <p:spPr>
          <a:xfrm>
            <a:off x="800100" y="3743325"/>
            <a:ext cx="6286500" cy="685800"/>
          </a:xfrm>
          <a:prstGeom prst="rect">
            <a:avLst/>
          </a:prstGeom>
          <a:noFill/>
          <a:ln w="0">
            <a:noFill/>
          </a:ln>
        </p:spPr>
        <p:txBody>
          <a:bodyPr>
            <a:noAutofit/>
          </a:bodyPr>
          <a:lstStyle/>
          <a:p>
            <a:pPr>
              <a:defRPr sz="2025" b="0">
                <a:solidFill>
                  <a:srgbClr val="172033"/>
                </a:solidFill>
                <a:latin typeface="DejaVu Sans"/>
                <a:ea typeface="DejaVu Sans"/>
                <a:cs typeface="DejaVu Sans"/>
              </a:defRPr>
            </a:pPr>
            <a:r>
              <a:rPr sz="2025" b="0">
                <a:solidFill>
                  <a:srgbClr val="172033"/>
                </a:solidFill>
                <a:latin typeface="DejaVu Sans"/>
                <a:ea typeface="DejaVu Sans"/>
                <a:cs typeface="DejaVu Sans"/>
              </a:rPr>
              <a:t>What are current and historical sales trends?</a:t>
            </a:r>
          </a:p>
        </p:txBody>
      </p:sp>
      <p:sp>
        <p:nvSpPr>
          <p:cNvPr id="9" name="Rectangle 8">
            <a:extLst>
              <a:ext uri="{FF2B5EF4-FFF2-40B4-BE49-F238E27FC236}">
                <a16:creationId xmlns:a16="http://schemas.microsoft.com/office/drawing/2014/main" id="{00000002-0009-4000-8000-000000000000}"/>
              </a:ext>
            </a:extLst>
          </p:cNvPr>
          <p:cNvSpPr>
            <a:spLocks noGrp="1"/>
          </p:cNvSpPr>
          <p:nvPr/>
        </p:nvSpPr>
        <p:spPr>
          <a:xfrm>
            <a:off x="8029575" y="3743325"/>
            <a:ext cx="6381750" cy="685800"/>
          </a:xfrm>
          <a:prstGeom prst="rect">
            <a:avLst/>
          </a:prstGeom>
          <a:noFill/>
          <a:ln w="0">
            <a:noFill/>
          </a:ln>
        </p:spPr>
        <p:txBody>
          <a:bodyPr>
            <a:noAutofit/>
          </a:bodyPr>
          <a:lstStyle/>
          <a:p>
            <a:pPr>
              <a:defRPr sz="2025" b="0">
                <a:solidFill>
                  <a:srgbClr val="172033"/>
                </a:solidFill>
                <a:latin typeface="DejaVu Sans"/>
                <a:ea typeface="DejaVu Sans"/>
                <a:cs typeface="DejaVu Sans"/>
              </a:defRPr>
            </a:pPr>
            <a:r>
              <a:rPr sz="2025" b="0">
                <a:solidFill>
                  <a:srgbClr val="172033"/>
                </a:solidFill>
                <a:latin typeface="DejaVu Sans"/>
                <a:ea typeface="DejaVu Sans"/>
                <a:cs typeface="DejaVu Sans"/>
              </a:rPr>
              <a:t>Which customers could buy more products?</a:t>
            </a:r>
          </a:p>
        </p:txBody>
      </p:sp>
      <p:sp>
        <p:nvSpPr>
          <p:cNvPr id="10" name="Rectangle 9">
            <a:extLst>
              <a:ext uri="{FF2B5EF4-FFF2-40B4-BE49-F238E27FC236}">
                <a16:creationId xmlns:a16="http://schemas.microsoft.com/office/drawing/2014/main" id="{00000002-000A-4000-8000-000000000000}"/>
              </a:ext>
            </a:extLst>
          </p:cNvPr>
          <p:cNvSpPr>
            <a:spLocks noGrp="1"/>
          </p:cNvSpPr>
          <p:nvPr/>
        </p:nvSpPr>
        <p:spPr>
          <a:xfrm>
            <a:off x="800100" y="4495800"/>
            <a:ext cx="6286500" cy="685800"/>
          </a:xfrm>
          <a:prstGeom prst="rect">
            <a:avLst/>
          </a:prstGeom>
          <a:noFill/>
          <a:ln w="0">
            <a:noFill/>
          </a:ln>
        </p:spPr>
        <p:txBody>
          <a:bodyPr>
            <a:noAutofit/>
          </a:bodyPr>
          <a:lstStyle/>
          <a:p>
            <a:pPr>
              <a:defRPr sz="2025" b="0">
                <a:solidFill>
                  <a:srgbClr val="172033"/>
                </a:solidFill>
                <a:latin typeface="DejaVu Sans"/>
                <a:ea typeface="DejaVu Sans"/>
                <a:cs typeface="DejaVu Sans"/>
              </a:defRPr>
            </a:pPr>
            <a:r>
              <a:rPr sz="2025" b="0">
                <a:solidFill>
                  <a:srgbClr val="172033"/>
                </a:solidFill>
                <a:latin typeface="DejaVu Sans"/>
                <a:ea typeface="DejaVu Sans"/>
                <a:cs typeface="DejaVu Sans"/>
              </a:rPr>
              <a:t>What sales can we expect next?</a:t>
            </a:r>
          </a:p>
        </p:txBody>
      </p:sp>
      <p:sp>
        <p:nvSpPr>
          <p:cNvPr id="11" name="Rectangle 10">
            <a:extLst>
              <a:ext uri="{FF2B5EF4-FFF2-40B4-BE49-F238E27FC236}">
                <a16:creationId xmlns:a16="http://schemas.microsoft.com/office/drawing/2014/main" id="{00000002-000B-4000-8000-000000000000}"/>
              </a:ext>
            </a:extLst>
          </p:cNvPr>
          <p:cNvSpPr>
            <a:spLocks noGrp="1"/>
          </p:cNvSpPr>
          <p:nvPr/>
        </p:nvSpPr>
        <p:spPr>
          <a:xfrm>
            <a:off x="8029575" y="4495800"/>
            <a:ext cx="6381750" cy="685800"/>
          </a:xfrm>
          <a:prstGeom prst="rect">
            <a:avLst/>
          </a:prstGeom>
          <a:noFill/>
          <a:ln w="0">
            <a:noFill/>
          </a:ln>
        </p:spPr>
        <p:txBody>
          <a:bodyPr>
            <a:noAutofit/>
          </a:bodyPr>
          <a:lstStyle/>
          <a:p>
            <a:pPr>
              <a:defRPr sz="2025" b="0">
                <a:solidFill>
                  <a:srgbClr val="172033"/>
                </a:solidFill>
                <a:latin typeface="DejaVu Sans"/>
                <a:ea typeface="DejaVu Sans"/>
                <a:cs typeface="DejaVu Sans"/>
              </a:defRPr>
            </a:pPr>
            <a:r>
              <a:rPr sz="2025" b="0">
                <a:solidFill>
                  <a:srgbClr val="172033"/>
                </a:solidFill>
                <a:latin typeface="DejaVu Sans"/>
                <a:ea typeface="DejaVu Sans"/>
                <a:cs typeface="DejaVu Sans"/>
              </a:rPr>
              <a:t>Which regions perform well or have potential?</a:t>
            </a:r>
          </a:p>
        </p:txBody>
      </p:sp>
      <p:sp>
        <p:nvSpPr>
          <p:cNvPr id="12" name="Rectangle 11">
            <a:extLst>
              <a:ext uri="{FF2B5EF4-FFF2-40B4-BE49-F238E27FC236}">
                <a16:creationId xmlns:a16="http://schemas.microsoft.com/office/drawing/2014/main" id="{00000002-000C-4000-8000-000000000000}"/>
              </a:ext>
            </a:extLst>
          </p:cNvPr>
          <p:cNvSpPr>
            <a:spLocks noGrp="1"/>
          </p:cNvSpPr>
          <p:nvPr/>
        </p:nvSpPr>
        <p:spPr>
          <a:xfrm>
            <a:off x="800100" y="5248275"/>
            <a:ext cx="6286500" cy="685800"/>
          </a:xfrm>
          <a:prstGeom prst="rect">
            <a:avLst/>
          </a:prstGeom>
          <a:noFill/>
          <a:ln w="0">
            <a:noFill/>
          </a:ln>
        </p:spPr>
        <p:txBody>
          <a:bodyPr>
            <a:noAutofit/>
          </a:bodyPr>
          <a:lstStyle/>
          <a:p>
            <a:pPr>
              <a:defRPr sz="2025" b="0">
                <a:solidFill>
                  <a:srgbClr val="172033"/>
                </a:solidFill>
                <a:latin typeface="DejaVu Sans"/>
                <a:ea typeface="DejaVu Sans"/>
                <a:cs typeface="DejaVu Sans"/>
              </a:defRPr>
            </a:pPr>
            <a:r>
              <a:rPr sz="2025" b="0">
                <a:solidFill>
                  <a:srgbClr val="172033"/>
                </a:solidFill>
                <a:latin typeface="DejaVu Sans"/>
                <a:ea typeface="DejaVu Sans"/>
                <a:cs typeface="DejaVu Sans"/>
              </a:rPr>
              <a:t>Which orders are pending, completed or delayed?</a:t>
            </a:r>
          </a:p>
        </p:txBody>
      </p:sp>
      <p:sp>
        <p:nvSpPr>
          <p:cNvPr id="13" name="Rectangle 12">
            <a:extLst>
              <a:ext uri="{FF2B5EF4-FFF2-40B4-BE49-F238E27FC236}">
                <a16:creationId xmlns:a16="http://schemas.microsoft.com/office/drawing/2014/main" id="{00000002-000D-4000-8000-000000000000}"/>
              </a:ext>
            </a:extLst>
          </p:cNvPr>
          <p:cNvSpPr>
            <a:spLocks noGrp="1"/>
          </p:cNvSpPr>
          <p:nvPr/>
        </p:nvSpPr>
        <p:spPr>
          <a:xfrm>
            <a:off x="8029575" y="5248275"/>
            <a:ext cx="6381750" cy="685800"/>
          </a:xfrm>
          <a:prstGeom prst="rect">
            <a:avLst/>
          </a:prstGeom>
          <a:noFill/>
          <a:ln w="0">
            <a:noFill/>
          </a:ln>
        </p:spPr>
        <p:txBody>
          <a:bodyPr>
            <a:noAutofit/>
          </a:bodyPr>
          <a:lstStyle/>
          <a:p>
            <a:pPr>
              <a:defRPr sz="2025" b="0">
                <a:solidFill>
                  <a:srgbClr val="172033"/>
                </a:solidFill>
                <a:latin typeface="DejaVu Sans"/>
                <a:ea typeface="DejaVu Sans"/>
                <a:cs typeface="DejaVu Sans"/>
              </a:defRPr>
            </a:pPr>
            <a:r>
              <a:rPr sz="2025" b="0">
                <a:solidFill>
                  <a:srgbClr val="172033"/>
                </a:solidFill>
                <a:latin typeface="DejaVu Sans"/>
                <a:ea typeface="DejaVu Sans"/>
                <a:cs typeface="DejaVu Sans"/>
              </a:rPr>
              <a:t>Which existing customers should we target next?</a:t>
            </a:r>
          </a:p>
        </p:txBody>
      </p:sp>
      <p:sp>
        <p:nvSpPr>
          <p:cNvPr id="14" name="Rectangle 13">
            <a:extLst>
              <a:ext uri="{FF2B5EF4-FFF2-40B4-BE49-F238E27FC236}">
                <a16:creationId xmlns:a16="http://schemas.microsoft.com/office/drawing/2014/main" id="{00000002-000E-4000-8000-000000000000}"/>
              </a:ext>
            </a:extLst>
          </p:cNvPr>
          <p:cNvSpPr>
            <a:spLocks noGrp="1"/>
          </p:cNvSpPr>
          <p:nvPr/>
        </p:nvSpPr>
        <p:spPr>
          <a:xfrm>
            <a:off x="800100" y="6000750"/>
            <a:ext cx="6286500" cy="685800"/>
          </a:xfrm>
          <a:prstGeom prst="rect">
            <a:avLst/>
          </a:prstGeom>
          <a:noFill/>
          <a:ln w="0">
            <a:noFill/>
          </a:ln>
        </p:spPr>
        <p:txBody>
          <a:bodyPr>
            <a:noAutofit/>
          </a:bodyPr>
          <a:lstStyle/>
          <a:p>
            <a:pPr>
              <a:defRPr sz="2025" b="0">
                <a:solidFill>
                  <a:srgbClr val="172033"/>
                </a:solidFill>
                <a:latin typeface="DejaVu Sans"/>
                <a:ea typeface="DejaVu Sans"/>
                <a:cs typeface="DejaVu Sans"/>
              </a:defRPr>
            </a:pPr>
            <a:r>
              <a:rPr sz="2025" b="0">
                <a:solidFill>
                  <a:srgbClr val="172033"/>
                </a:solidFill>
                <a:latin typeface="DejaVu Sans"/>
                <a:ea typeface="DejaVu Sans"/>
                <a:cs typeface="DejaVu Sans"/>
              </a:rPr>
              <a:t>Which customers are buying more or less?</a:t>
            </a:r>
          </a:p>
        </p:txBody>
      </p:sp>
      <p:sp>
        <p:nvSpPr>
          <p:cNvPr id="15" name="Rectangle 14">
            <a:extLst>
              <a:ext uri="{FF2B5EF4-FFF2-40B4-BE49-F238E27FC236}">
                <a16:creationId xmlns:a16="http://schemas.microsoft.com/office/drawing/2014/main" id="{00000002-000F-4000-8000-000000000000}"/>
              </a:ext>
            </a:extLst>
          </p:cNvPr>
          <p:cNvSpPr>
            <a:spLocks noGrp="1"/>
          </p:cNvSpPr>
          <p:nvPr/>
        </p:nvSpPr>
        <p:spPr>
          <a:xfrm>
            <a:off x="8029575" y="6000750"/>
            <a:ext cx="6381750" cy="685800"/>
          </a:xfrm>
          <a:prstGeom prst="rect">
            <a:avLst/>
          </a:prstGeom>
          <a:noFill/>
          <a:ln w="0">
            <a:noFill/>
          </a:ln>
        </p:spPr>
        <p:txBody>
          <a:bodyPr>
            <a:noAutofit/>
          </a:bodyPr>
          <a:lstStyle/>
          <a:p>
            <a:pPr>
              <a:defRPr sz="2025" b="0">
                <a:solidFill>
                  <a:srgbClr val="172033"/>
                </a:solidFill>
                <a:latin typeface="DejaVu Sans"/>
                <a:ea typeface="DejaVu Sans"/>
                <a:cs typeface="DejaVu Sans"/>
              </a:defRPr>
            </a:pPr>
            <a:r>
              <a:rPr sz="2025" b="0">
                <a:solidFill>
                  <a:srgbClr val="172033"/>
                </a:solidFill>
                <a:latin typeface="DejaVu Sans"/>
                <a:ea typeface="DejaVu Sans"/>
                <a:cs typeface="DejaVu Sans"/>
              </a:rPr>
              <a:t>Where are we losing sales opportunities?</a:t>
            </a:r>
          </a:p>
        </p:txBody>
      </p:sp>
      <p:sp>
        <p:nvSpPr>
          <p:cNvPr id="16" name="Rectangle 15">
            <a:extLst>
              <a:ext uri="{FF2B5EF4-FFF2-40B4-BE49-F238E27FC236}">
                <a16:creationId xmlns:a16="http://schemas.microsoft.com/office/drawing/2014/main" id="{00000002-0010-4000-8000-000000000000}"/>
              </a:ext>
            </a:extLst>
          </p:cNvPr>
          <p:cNvSpPr>
            <a:spLocks noGrp="1"/>
          </p:cNvSpPr>
          <p:nvPr/>
        </p:nvSpPr>
        <p:spPr>
          <a:xfrm>
            <a:off x="800100" y="6753225"/>
            <a:ext cx="6286500" cy="685800"/>
          </a:xfrm>
          <a:prstGeom prst="rect">
            <a:avLst/>
          </a:prstGeom>
          <a:noFill/>
          <a:ln w="0">
            <a:noFill/>
          </a:ln>
        </p:spPr>
        <p:txBody>
          <a:bodyPr>
            <a:noAutofit/>
          </a:bodyPr>
          <a:lstStyle/>
          <a:p>
            <a:pPr>
              <a:defRPr sz="2025" b="0">
                <a:solidFill>
                  <a:srgbClr val="172033"/>
                </a:solidFill>
                <a:latin typeface="DejaVu Sans"/>
                <a:ea typeface="DejaVu Sans"/>
                <a:cs typeface="DejaVu Sans"/>
              </a:defRPr>
            </a:pPr>
            <a:r>
              <a:rPr sz="2025" b="0">
                <a:solidFill>
                  <a:srgbClr val="172033"/>
                </a:solidFill>
                <a:latin typeface="DejaVu Sans"/>
                <a:ea typeface="DejaVu Sans"/>
                <a:cs typeface="DejaVu Sans"/>
              </a:rPr>
              <a:t>Which products will see higher demand?</a:t>
            </a:r>
          </a:p>
        </p:txBody>
      </p:sp>
      <p:sp>
        <p:nvSpPr>
          <p:cNvPr id="17" name="Rectangle 16">
            <a:extLst>
              <a:ext uri="{FF2B5EF4-FFF2-40B4-BE49-F238E27FC236}">
                <a16:creationId xmlns:a16="http://schemas.microsoft.com/office/drawing/2014/main" id="{00000002-0011-4000-8000-000000000000}"/>
              </a:ext>
            </a:extLst>
          </p:cNvPr>
          <p:cNvSpPr>
            <a:spLocks noGrp="1"/>
          </p:cNvSpPr>
          <p:nvPr/>
        </p:nvSpPr>
        <p:spPr>
          <a:xfrm>
            <a:off x="8029575" y="6753225"/>
            <a:ext cx="6381750" cy="685800"/>
          </a:xfrm>
          <a:prstGeom prst="rect">
            <a:avLst/>
          </a:prstGeom>
          <a:noFill/>
          <a:ln w="0">
            <a:noFill/>
          </a:ln>
        </p:spPr>
        <p:txBody>
          <a:bodyPr>
            <a:noAutofit/>
          </a:bodyPr>
          <a:lstStyle/>
          <a:p>
            <a:pPr>
              <a:defRPr sz="2025" b="0">
                <a:solidFill>
                  <a:srgbClr val="172033"/>
                </a:solidFill>
                <a:latin typeface="DejaVu Sans"/>
                <a:ea typeface="DejaVu Sans"/>
                <a:cs typeface="DejaVu Sans"/>
              </a:defRPr>
            </a:pPr>
            <a:r>
              <a:rPr sz="2025" b="0">
                <a:solidFill>
                  <a:srgbClr val="172033"/>
                </a:solidFill>
                <a:latin typeface="DejaVu Sans"/>
                <a:ea typeface="DejaVu Sans"/>
                <a:cs typeface="DejaVu Sans"/>
              </a:rPr>
              <a:t>Which similar customers could bring new business?</a:t>
            </a:r>
          </a:p>
        </p:txBody>
      </p:sp>
      <p:sp>
        <p:nvSpPr>
          <p:cNvPr id="18" name="Straight Connector 17">
            <a:extLst>
              <a:ext uri="{FF2B5EF4-FFF2-40B4-BE49-F238E27FC236}">
                <a16:creationId xmlns:a16="http://schemas.microsoft.com/office/drawing/2014/main" id="{00000002-0012-4000-8000-000000000000}"/>
              </a:ext>
            </a:extLst>
          </p:cNvPr>
          <p:cNvSpPr>
            <a:spLocks noGrp="1"/>
          </p:cNvSpPr>
          <p:nvPr/>
        </p:nvSpPr>
        <p:spPr>
          <a:xfrm>
            <a:off x="7562850" y="3095625"/>
            <a:ext cx="0" cy="4314825"/>
          </a:xfrm>
          <a:prstGeom prst="line">
            <a:avLst/>
          </a:prstGeom>
          <a:noFill/>
          <a:ln w="19050">
            <a:solidFill>
              <a:srgbClr val="D7DFEC"/>
            </a:solidFill>
          </a:ln>
        </p:spPr>
        <p:txBody>
          <a:bodyPr/>
          <a:lstStyle/>
          <a:p>
            <a:endParaRPr lang="en-US"/>
          </a:p>
        </p:txBody>
      </p:sp>
    </p:spTree>
    <p:extLst>
      <p:ext uri="{BB962C8B-B14F-4D97-AF65-F5344CB8AC3E}">
        <p14:creationId xmlns:p14="http://schemas.microsoft.com/office/powerpoint/2010/main" val="20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00000003-0001-4000-8000-000000000000}"/>
              </a:ext>
            </a:extLst>
          </p:cNvPr>
          <p:cNvSpPr>
            <a:spLocks noGrp="1"/>
          </p:cNvSpPr>
          <p:nvPr/>
        </p:nvSpPr>
        <p:spPr>
          <a:xfrm>
            <a:off x="800100" y="628650"/>
            <a:ext cx="13620750" cy="819150"/>
          </a:xfrm>
          <a:prstGeom prst="rect">
            <a:avLst/>
          </a:prstGeom>
          <a:noFill/>
          <a:ln w="0">
            <a:noFill/>
          </a:ln>
        </p:spPr>
        <p:txBody>
          <a:bodyPr>
            <a:noAutofit/>
          </a:bodyPr>
          <a:lstStyle/>
          <a:p>
            <a:pPr>
              <a:defRPr sz="4050" b="1">
                <a:solidFill>
                  <a:srgbClr val="172033"/>
                </a:solidFill>
                <a:latin typeface="DejaVu Sans"/>
                <a:ea typeface="DejaVu Sans"/>
                <a:cs typeface="DejaVu Sans"/>
              </a:defRPr>
            </a:pPr>
            <a:r>
              <a:rPr sz="4050" b="1">
                <a:solidFill>
                  <a:srgbClr val="172033"/>
                </a:solidFill>
                <a:latin typeface="DejaVu Sans"/>
                <a:ea typeface="DejaVu Sans"/>
                <a:cs typeface="DejaVu Sans"/>
              </a:rPr>
              <a:t>One workspace for data, insight and outreach</a:t>
            </a:r>
          </a:p>
        </p:txBody>
      </p:sp>
      <p:sp>
        <p:nvSpPr>
          <p:cNvPr id="2" name="Rectangle 1">
            <a:extLst>
              <a:ext uri="{FF2B5EF4-FFF2-40B4-BE49-F238E27FC236}">
                <a16:creationId xmlns:a16="http://schemas.microsoft.com/office/drawing/2014/main" id="{00000003-0002-4000-8000-000000000000}"/>
              </a:ext>
            </a:extLst>
          </p:cNvPr>
          <p:cNvSpPr>
            <a:spLocks noGrp="1"/>
          </p:cNvSpPr>
          <p:nvPr/>
        </p:nvSpPr>
        <p:spPr>
          <a:xfrm>
            <a:off x="800100" y="1647825"/>
            <a:ext cx="13639800" cy="19050"/>
          </a:xfrm>
          <a:prstGeom prst="rect">
            <a:avLst/>
          </a:prstGeom>
          <a:solidFill>
            <a:srgbClr val="D7DFEC"/>
          </a:solidFill>
          <a:ln w="0">
            <a:noFill/>
          </a:ln>
        </p:spPr>
        <p:txBody>
          <a:bodyPr/>
          <a:lstStyle/>
          <a:p>
            <a:endParaRPr lang="en-US"/>
          </a:p>
        </p:txBody>
      </p:sp>
      <p:sp>
        <p:nvSpPr>
          <p:cNvPr id="3" name="Rectangle 2">
            <a:extLst>
              <a:ext uri="{FF2B5EF4-FFF2-40B4-BE49-F238E27FC236}">
                <a16:creationId xmlns:a16="http://schemas.microsoft.com/office/drawing/2014/main" id="{00000003-0003-4000-8000-000000000000}"/>
              </a:ext>
            </a:extLst>
          </p:cNvPr>
          <p:cNvSpPr>
            <a:spLocks noGrp="1"/>
          </p:cNvSpPr>
          <p:nvPr/>
        </p:nvSpPr>
        <p:spPr>
          <a:xfrm>
            <a:off x="800100" y="8039100"/>
            <a:ext cx="5715000" cy="285750"/>
          </a:xfrm>
          <a:prstGeom prst="rect">
            <a:avLst/>
          </a:prstGeom>
          <a:noFill/>
          <a:ln w="0">
            <a:noFill/>
          </a:ln>
        </p:spPr>
        <p:txBody>
          <a:bodyPr>
            <a:noAutofit/>
          </a:bodyPr>
          <a:lstStyle/>
          <a:p>
            <a:pPr>
              <a:defRPr sz="1350" b="1">
                <a:solidFill>
                  <a:srgbClr val="596579"/>
                </a:solidFill>
                <a:latin typeface="DejaVu Sans"/>
                <a:ea typeface="DejaVu Sans"/>
                <a:cs typeface="DejaVu Sans"/>
              </a:defRPr>
            </a:pPr>
            <a:r>
              <a:rPr sz="1350" b="1">
                <a:solidFill>
                  <a:srgbClr val="596579"/>
                </a:solidFill>
                <a:latin typeface="DejaVu Sans"/>
                <a:ea typeface="DejaVu Sans"/>
                <a:cs typeface="DejaVu Sans"/>
              </a:rPr>
              <a:t>LEDORA AI</a:t>
            </a:r>
          </a:p>
        </p:txBody>
      </p:sp>
      <p:sp>
        <p:nvSpPr>
          <p:cNvPr id="4" name="Rectangle 3">
            <a:extLst>
              <a:ext uri="{FF2B5EF4-FFF2-40B4-BE49-F238E27FC236}">
                <a16:creationId xmlns:a16="http://schemas.microsoft.com/office/drawing/2014/main" id="{00000003-0004-4000-8000-000000000000}"/>
              </a:ext>
            </a:extLst>
          </p:cNvPr>
          <p:cNvSpPr>
            <a:spLocks noGrp="1"/>
          </p:cNvSpPr>
          <p:nvPr/>
        </p:nvSpPr>
        <p:spPr>
          <a:xfrm>
            <a:off x="13811250" y="8010525"/>
            <a:ext cx="619125" cy="304800"/>
          </a:xfrm>
          <a:prstGeom prst="rect">
            <a:avLst/>
          </a:prstGeom>
          <a:noFill/>
          <a:ln w="0">
            <a:noFill/>
          </a:ln>
        </p:spPr>
        <p:txBody>
          <a:bodyPr>
            <a:noAutofit/>
          </a:bodyPr>
          <a:lstStyle/>
          <a:p>
            <a:pPr>
              <a:defRPr sz="1500" b="0">
                <a:solidFill>
                  <a:srgbClr val="596579"/>
                </a:solidFill>
                <a:latin typeface="DejaVu Sans"/>
                <a:ea typeface="DejaVu Sans"/>
                <a:cs typeface="DejaVu Sans"/>
              </a:defRPr>
            </a:pPr>
            <a:r>
              <a:rPr sz="1500" b="0">
                <a:solidFill>
                  <a:srgbClr val="596579"/>
                </a:solidFill>
                <a:latin typeface="DejaVu Sans"/>
                <a:ea typeface="DejaVu Sans"/>
                <a:cs typeface="DejaVu Sans"/>
              </a:rPr>
              <a:t>03</a:t>
            </a:r>
          </a:p>
        </p:txBody>
      </p:sp>
      <p:sp>
        <p:nvSpPr>
          <p:cNvPr id="5" name="Rectangle 4">
            <a:extLst>
              <a:ext uri="{FF2B5EF4-FFF2-40B4-BE49-F238E27FC236}">
                <a16:creationId xmlns:a16="http://schemas.microsoft.com/office/drawing/2014/main" id="{00000003-0005-4000-8000-000000000000}"/>
              </a:ext>
            </a:extLst>
          </p:cNvPr>
          <p:cNvSpPr>
            <a:spLocks noGrp="1"/>
          </p:cNvSpPr>
          <p:nvPr/>
        </p:nvSpPr>
        <p:spPr>
          <a:xfrm>
            <a:off x="800100" y="1990725"/>
            <a:ext cx="13620750" cy="914400"/>
          </a:xfrm>
          <a:prstGeom prst="rect">
            <a:avLst/>
          </a:prstGeom>
          <a:noFill/>
          <a:ln w="0">
            <a:noFill/>
          </a:ln>
        </p:spPr>
        <p:txBody>
          <a:bodyPr>
            <a:noAutofit/>
          </a:bodyPr>
          <a:lstStyle/>
          <a:p>
            <a:pPr>
              <a:defRPr sz="2400" b="0">
                <a:solidFill>
                  <a:srgbClr val="596579"/>
                </a:solidFill>
                <a:latin typeface="DejaVu Sans"/>
                <a:ea typeface="DejaVu Sans"/>
                <a:cs typeface="DejaVu Sans"/>
              </a:defRPr>
            </a:pPr>
            <a:r>
              <a:rPr sz="2400" b="0">
                <a:solidFill>
                  <a:srgbClr val="596579"/>
                </a:solidFill>
                <a:latin typeface="DejaVu Sans"/>
                <a:ea typeface="DejaVu Sans"/>
                <a:cs typeface="DejaVu Sans"/>
              </a:rPr>
              <a:t>Ledora AI combines dealer data, sales records and communication history in a single web application.</a:t>
            </a:r>
          </a:p>
        </p:txBody>
      </p:sp>
      <p:sp>
        <p:nvSpPr>
          <p:cNvPr id="6" name="Rectangle 5">
            <a:extLst>
              <a:ext uri="{FF2B5EF4-FFF2-40B4-BE49-F238E27FC236}">
                <a16:creationId xmlns:a16="http://schemas.microsoft.com/office/drawing/2014/main" id="{00000003-0006-4000-8000-000000000000}"/>
              </a:ext>
            </a:extLst>
          </p:cNvPr>
          <p:cNvSpPr>
            <a:spLocks noGrp="1"/>
          </p:cNvSpPr>
          <p:nvPr/>
        </p:nvSpPr>
        <p:spPr>
          <a:xfrm>
            <a:off x="800100" y="3190875"/>
            <a:ext cx="4000500" cy="381000"/>
          </a:xfrm>
          <a:prstGeom prst="rect">
            <a:avLst/>
          </a:prstGeom>
          <a:noFill/>
          <a:ln w="0">
            <a:noFill/>
          </a:ln>
        </p:spPr>
        <p:txBody>
          <a:bodyPr>
            <a:noAutofit/>
          </a:bodyPr>
          <a:lstStyle/>
          <a:p>
            <a:pPr>
              <a:defRPr sz="1800" b="1">
                <a:solidFill>
                  <a:srgbClr val="2454D6"/>
                </a:solidFill>
                <a:latin typeface="DejaVu Sans"/>
                <a:ea typeface="DejaVu Sans"/>
                <a:cs typeface="DejaVu Sans"/>
              </a:defRPr>
            </a:pPr>
            <a:r>
              <a:rPr sz="1800" b="1">
                <a:solidFill>
                  <a:srgbClr val="2454D6"/>
                </a:solidFill>
                <a:latin typeface="DejaVu Sans"/>
                <a:ea typeface="DejaVu Sans"/>
                <a:cs typeface="DejaVu Sans"/>
              </a:rPr>
              <a:t>CONNECTED INPUTS</a:t>
            </a:r>
          </a:p>
        </p:txBody>
      </p:sp>
      <p:sp>
        <p:nvSpPr>
          <p:cNvPr id="7" name="Rectangle 6">
            <a:extLst>
              <a:ext uri="{FF2B5EF4-FFF2-40B4-BE49-F238E27FC236}">
                <a16:creationId xmlns:a16="http://schemas.microsoft.com/office/drawing/2014/main" id="{00000003-0007-4000-8000-000000000000}"/>
              </a:ext>
            </a:extLst>
          </p:cNvPr>
          <p:cNvSpPr>
            <a:spLocks noGrp="1"/>
          </p:cNvSpPr>
          <p:nvPr/>
        </p:nvSpPr>
        <p:spPr>
          <a:xfrm>
            <a:off x="5705475" y="3190875"/>
            <a:ext cx="4048125" cy="381000"/>
          </a:xfrm>
          <a:prstGeom prst="rect">
            <a:avLst/>
          </a:prstGeom>
          <a:noFill/>
          <a:ln w="0">
            <a:noFill/>
          </a:ln>
        </p:spPr>
        <p:txBody>
          <a:bodyPr>
            <a:noAutofit/>
          </a:bodyPr>
          <a:lstStyle/>
          <a:p>
            <a:pPr>
              <a:defRPr sz="1800" b="1">
                <a:solidFill>
                  <a:srgbClr val="2454D6"/>
                </a:solidFill>
                <a:latin typeface="DejaVu Sans"/>
                <a:ea typeface="DejaVu Sans"/>
                <a:cs typeface="DejaVu Sans"/>
              </a:defRPr>
            </a:pPr>
            <a:r>
              <a:rPr sz="1800" b="1">
                <a:solidFill>
                  <a:srgbClr val="2454D6"/>
                </a:solidFill>
                <a:latin typeface="DejaVu Sans"/>
                <a:ea typeface="DejaVu Sans"/>
                <a:cs typeface="DejaVu Sans"/>
              </a:rPr>
              <a:t>SHARED PLATFORM</a:t>
            </a:r>
          </a:p>
        </p:txBody>
      </p:sp>
      <p:sp>
        <p:nvSpPr>
          <p:cNvPr id="8" name="Rectangle 7">
            <a:extLst>
              <a:ext uri="{FF2B5EF4-FFF2-40B4-BE49-F238E27FC236}">
                <a16:creationId xmlns:a16="http://schemas.microsoft.com/office/drawing/2014/main" id="{00000003-0008-4000-8000-000000000000}"/>
              </a:ext>
            </a:extLst>
          </p:cNvPr>
          <p:cNvSpPr>
            <a:spLocks noGrp="1"/>
          </p:cNvSpPr>
          <p:nvPr/>
        </p:nvSpPr>
        <p:spPr>
          <a:xfrm>
            <a:off x="10668000" y="3190875"/>
            <a:ext cx="3810000" cy="381000"/>
          </a:xfrm>
          <a:prstGeom prst="rect">
            <a:avLst/>
          </a:prstGeom>
          <a:noFill/>
          <a:ln w="0">
            <a:noFill/>
          </a:ln>
        </p:spPr>
        <p:txBody>
          <a:bodyPr>
            <a:noAutofit/>
          </a:bodyPr>
          <a:lstStyle/>
          <a:p>
            <a:pPr>
              <a:defRPr sz="1800" b="1">
                <a:solidFill>
                  <a:srgbClr val="2454D6"/>
                </a:solidFill>
                <a:latin typeface="DejaVu Sans"/>
                <a:ea typeface="DejaVu Sans"/>
                <a:cs typeface="DejaVu Sans"/>
              </a:defRPr>
            </a:pPr>
            <a:r>
              <a:rPr sz="1800" b="1">
                <a:solidFill>
                  <a:srgbClr val="2454D6"/>
                </a:solidFill>
                <a:latin typeface="DejaVu Sans"/>
                <a:ea typeface="DejaVu Sans"/>
                <a:cs typeface="DejaVu Sans"/>
              </a:rPr>
              <a:t>SALES WORKFLOWS</a:t>
            </a:r>
          </a:p>
        </p:txBody>
      </p:sp>
      <p:sp>
        <p:nvSpPr>
          <p:cNvPr id="9" name="Rectangle 8">
            <a:extLst>
              <a:ext uri="{FF2B5EF4-FFF2-40B4-BE49-F238E27FC236}">
                <a16:creationId xmlns:a16="http://schemas.microsoft.com/office/drawing/2014/main" id="{00000003-0009-4000-8000-000000000000}"/>
              </a:ext>
            </a:extLst>
          </p:cNvPr>
          <p:cNvSpPr>
            <a:spLocks noGrp="1"/>
          </p:cNvSpPr>
          <p:nvPr/>
        </p:nvSpPr>
        <p:spPr>
          <a:xfrm>
            <a:off x="800100" y="3924300"/>
            <a:ext cx="3667125" cy="895350"/>
          </a:xfrm>
          <a:prstGeom prst="rect">
            <a:avLst/>
          </a:prstGeom>
          <a:solidFill>
            <a:srgbClr val="EAF0FC"/>
          </a:solidFill>
          <a:ln w="0">
            <a:noFill/>
          </a:ln>
        </p:spPr>
        <p:txBody>
          <a:bodyPr/>
          <a:lstStyle/>
          <a:p>
            <a:endParaRPr lang="en-US"/>
          </a:p>
        </p:txBody>
      </p:sp>
      <p:sp>
        <p:nvSpPr>
          <p:cNvPr id="10" name="Rectangle 9">
            <a:extLst>
              <a:ext uri="{FF2B5EF4-FFF2-40B4-BE49-F238E27FC236}">
                <a16:creationId xmlns:a16="http://schemas.microsoft.com/office/drawing/2014/main" id="{00000003-000A-4000-8000-000000000000}"/>
              </a:ext>
            </a:extLst>
          </p:cNvPr>
          <p:cNvSpPr>
            <a:spLocks noGrp="1"/>
          </p:cNvSpPr>
          <p:nvPr/>
        </p:nvSpPr>
        <p:spPr>
          <a:xfrm>
            <a:off x="990600" y="4067175"/>
            <a:ext cx="3286125" cy="704850"/>
          </a:xfrm>
          <a:prstGeom prst="rect">
            <a:avLst/>
          </a:prstGeom>
          <a:noFill/>
          <a:ln w="0">
            <a:noFill/>
          </a:ln>
        </p:spPr>
        <p:txBody>
          <a:bodyPr>
            <a:noAutofit/>
          </a:bodyPr>
          <a:lstStyle/>
          <a:p>
            <a:pPr>
              <a:defRPr sz="1875" b="0">
                <a:solidFill>
                  <a:srgbClr val="172033"/>
                </a:solidFill>
                <a:latin typeface="DejaVu Sans"/>
                <a:ea typeface="DejaVu Sans"/>
                <a:cs typeface="DejaVu Sans"/>
              </a:defRPr>
            </a:pPr>
            <a:r>
              <a:rPr lang="en-US" sz="1875" b="0">
                <a:solidFill>
                  <a:srgbClr val="172033"/>
                </a:solidFill>
                <a:latin typeface="DejaVu Sans"/>
                <a:ea typeface="DejaVu Sans"/>
                <a:cs typeface="DejaVu Sans"/>
              </a:rPr>
              <a:t>Dealer / Lead Database</a:t>
            </a:r>
          </a:p>
        </p:txBody>
      </p:sp>
      <p:sp>
        <p:nvSpPr>
          <p:cNvPr id="11" name="Rectangle 10">
            <a:extLst>
              <a:ext uri="{FF2B5EF4-FFF2-40B4-BE49-F238E27FC236}">
                <a16:creationId xmlns:a16="http://schemas.microsoft.com/office/drawing/2014/main" id="{00000003-000B-4000-8000-000000000000}"/>
              </a:ext>
            </a:extLst>
          </p:cNvPr>
          <p:cNvSpPr>
            <a:spLocks noGrp="1"/>
          </p:cNvSpPr>
          <p:nvPr/>
        </p:nvSpPr>
        <p:spPr>
          <a:xfrm>
            <a:off x="800100" y="5257800"/>
            <a:ext cx="3667125" cy="1181100"/>
          </a:xfrm>
          <a:prstGeom prst="rect">
            <a:avLst/>
          </a:prstGeom>
          <a:solidFill>
            <a:srgbClr val="EAF0FC"/>
          </a:solidFill>
          <a:ln w="0">
            <a:noFill/>
          </a:ln>
        </p:spPr>
        <p:txBody>
          <a:bodyPr/>
          <a:lstStyle/>
          <a:p>
            <a:endParaRPr lang="en-US"/>
          </a:p>
        </p:txBody>
      </p:sp>
      <p:sp>
        <p:nvSpPr>
          <p:cNvPr id="12" name="Rectangle 11">
            <a:extLst>
              <a:ext uri="{FF2B5EF4-FFF2-40B4-BE49-F238E27FC236}">
                <a16:creationId xmlns:a16="http://schemas.microsoft.com/office/drawing/2014/main" id="{00000003-000C-4000-8000-000000000000}"/>
              </a:ext>
            </a:extLst>
          </p:cNvPr>
          <p:cNvSpPr>
            <a:spLocks noGrp="1"/>
          </p:cNvSpPr>
          <p:nvPr/>
        </p:nvSpPr>
        <p:spPr>
          <a:xfrm>
            <a:off x="990600" y="5400675"/>
            <a:ext cx="3286125" cy="990600"/>
          </a:xfrm>
          <a:prstGeom prst="rect">
            <a:avLst/>
          </a:prstGeom>
          <a:noFill/>
          <a:ln w="0">
            <a:noFill/>
          </a:ln>
        </p:spPr>
        <p:txBody>
          <a:bodyPr>
            <a:noAutofit/>
          </a:bodyPr>
          <a:lstStyle/>
          <a:p>
            <a:pPr>
              <a:defRPr sz="1875" b="0">
                <a:solidFill>
                  <a:srgbClr val="172033"/>
                </a:solidFill>
                <a:latin typeface="DejaVu Sans"/>
                <a:ea typeface="DejaVu Sans"/>
                <a:cs typeface="DejaVu Sans"/>
              </a:defRPr>
            </a:pPr>
            <a:r>
              <a:rPr lang="en-US" sz="1875" b="0">
                <a:solidFill>
                  <a:srgbClr val="172033"/>
                </a:solidFill>
                <a:latin typeface="DejaVu Sans"/>
                <a:ea typeface="DejaVu Sans"/>
                <a:cs typeface="DejaVu Sans"/>
              </a:rPr>
              <a:t>Sales Records</a:t>
            </a:r>
          </a:p>
          <a:p>
            <a:pPr>
              <a:defRPr sz="1875" b="0">
                <a:solidFill>
                  <a:srgbClr val="172033"/>
                </a:solidFill>
                <a:latin typeface="DejaVu Sans"/>
                <a:ea typeface="DejaVu Sans"/>
                <a:cs typeface="DejaVu Sans"/>
              </a:defRPr>
            </a:pPr>
            <a:r>
              <a:rPr lang="en-US" sz="1875" b="0">
                <a:solidFill>
                  <a:srgbClr val="172033"/>
                </a:solidFill>
                <a:latin typeface="DejaVu Sans"/>
                <a:ea typeface="DejaVu Sans"/>
                <a:cs typeface="DejaVu Sans"/>
              </a:rPr>
              <a:t>Excel Upload</a:t>
            </a:r>
          </a:p>
        </p:txBody>
      </p:sp>
      <p:sp>
        <p:nvSpPr>
          <p:cNvPr id="13" name="Rectangle 12">
            <a:extLst>
              <a:ext uri="{FF2B5EF4-FFF2-40B4-BE49-F238E27FC236}">
                <a16:creationId xmlns:a16="http://schemas.microsoft.com/office/drawing/2014/main" id="{00000003-000D-4000-8000-000000000000}"/>
              </a:ext>
            </a:extLst>
          </p:cNvPr>
          <p:cNvSpPr>
            <a:spLocks noGrp="1"/>
          </p:cNvSpPr>
          <p:nvPr/>
        </p:nvSpPr>
        <p:spPr>
          <a:xfrm>
            <a:off x="800100" y="6877050"/>
            <a:ext cx="3667125" cy="819150"/>
          </a:xfrm>
          <a:prstGeom prst="rect">
            <a:avLst/>
          </a:prstGeom>
          <a:solidFill>
            <a:srgbClr val="EAF0FC"/>
          </a:solidFill>
          <a:ln w="0">
            <a:noFill/>
          </a:ln>
        </p:spPr>
        <p:txBody>
          <a:bodyPr/>
          <a:lstStyle/>
          <a:p>
            <a:endParaRPr lang="en-US"/>
          </a:p>
        </p:txBody>
      </p:sp>
      <p:sp>
        <p:nvSpPr>
          <p:cNvPr id="14" name="Rectangle 13">
            <a:extLst>
              <a:ext uri="{FF2B5EF4-FFF2-40B4-BE49-F238E27FC236}">
                <a16:creationId xmlns:a16="http://schemas.microsoft.com/office/drawing/2014/main" id="{00000003-000E-4000-8000-000000000000}"/>
              </a:ext>
            </a:extLst>
          </p:cNvPr>
          <p:cNvSpPr>
            <a:spLocks noGrp="1"/>
          </p:cNvSpPr>
          <p:nvPr/>
        </p:nvSpPr>
        <p:spPr>
          <a:xfrm>
            <a:off x="990600" y="7019925"/>
            <a:ext cx="3286125" cy="628650"/>
          </a:xfrm>
          <a:prstGeom prst="rect">
            <a:avLst/>
          </a:prstGeom>
          <a:noFill/>
          <a:ln w="0">
            <a:noFill/>
          </a:ln>
        </p:spPr>
        <p:txBody>
          <a:bodyPr>
            <a:noAutofit/>
          </a:bodyPr>
          <a:lstStyle/>
          <a:p>
            <a:pPr>
              <a:defRPr sz="1875" b="0">
                <a:solidFill>
                  <a:srgbClr val="172033"/>
                </a:solidFill>
                <a:latin typeface="DejaVu Sans"/>
                <a:ea typeface="DejaVu Sans"/>
                <a:cs typeface="DejaVu Sans"/>
              </a:defRPr>
            </a:pPr>
            <a:r>
              <a:rPr lang="en-US" sz="1875" b="0">
                <a:solidFill>
                  <a:srgbClr val="172033"/>
                </a:solidFill>
                <a:latin typeface="DejaVu Sans"/>
                <a:ea typeface="DejaVu Sans"/>
                <a:cs typeface="DejaVu Sans"/>
              </a:rPr>
              <a:t>Communication History</a:t>
            </a:r>
          </a:p>
        </p:txBody>
      </p:sp>
      <p:sp>
        <p:nvSpPr>
          <p:cNvPr id="15" name="Rectangle 14">
            <a:extLst>
              <a:ext uri="{FF2B5EF4-FFF2-40B4-BE49-F238E27FC236}">
                <a16:creationId xmlns:a16="http://schemas.microsoft.com/office/drawing/2014/main" id="{00000003-000F-4000-8000-000000000000}"/>
              </a:ext>
            </a:extLst>
          </p:cNvPr>
          <p:cNvSpPr>
            <a:spLocks noGrp="1"/>
          </p:cNvSpPr>
          <p:nvPr/>
        </p:nvSpPr>
        <p:spPr>
          <a:xfrm>
            <a:off x="5695950" y="4829175"/>
            <a:ext cx="3733800" cy="1428750"/>
          </a:xfrm>
          <a:prstGeom prst="rect">
            <a:avLst/>
          </a:prstGeom>
          <a:solidFill>
            <a:srgbClr val="2454D6"/>
          </a:solidFill>
          <a:ln w="0">
            <a:noFill/>
          </a:ln>
        </p:spPr>
        <p:txBody>
          <a:bodyPr/>
          <a:lstStyle/>
          <a:p>
            <a:endParaRPr lang="en-US"/>
          </a:p>
        </p:txBody>
      </p:sp>
      <p:sp>
        <p:nvSpPr>
          <p:cNvPr id="16" name="Rectangle 15">
            <a:extLst>
              <a:ext uri="{FF2B5EF4-FFF2-40B4-BE49-F238E27FC236}">
                <a16:creationId xmlns:a16="http://schemas.microsoft.com/office/drawing/2014/main" id="{00000003-0010-4000-8000-000000000000}"/>
              </a:ext>
            </a:extLst>
          </p:cNvPr>
          <p:cNvSpPr>
            <a:spLocks noGrp="1"/>
          </p:cNvSpPr>
          <p:nvPr/>
        </p:nvSpPr>
        <p:spPr>
          <a:xfrm>
            <a:off x="5886450" y="4972050"/>
            <a:ext cx="3352800" cy="1238250"/>
          </a:xfrm>
          <a:prstGeom prst="rect">
            <a:avLst/>
          </a:prstGeom>
          <a:noFill/>
          <a:ln w="0">
            <a:noFill/>
          </a:ln>
        </p:spPr>
        <p:txBody>
          <a:bodyPr>
            <a:noAutofit/>
          </a:bodyPr>
          <a:lstStyle/>
          <a:p>
            <a:pPr>
              <a:defRPr sz="1875" b="1">
                <a:solidFill>
                  <a:srgbClr val="FFFFFF"/>
                </a:solidFill>
                <a:latin typeface="DejaVu Sans"/>
                <a:ea typeface="DejaVu Sans"/>
                <a:cs typeface="DejaVu Sans"/>
              </a:defRPr>
            </a:pPr>
            <a:r>
              <a:rPr lang="en-US" sz="1875" b="1">
                <a:solidFill>
                  <a:srgbClr val="FFFFFF"/>
                </a:solidFill>
                <a:latin typeface="DejaVu Sans"/>
                <a:ea typeface="DejaVu Sans"/>
                <a:cs typeface="DejaVu Sans"/>
              </a:rPr>
              <a:t>Ledora AI</a:t>
            </a:r>
          </a:p>
          <a:p>
            <a:pPr>
              <a:defRPr sz="1875" b="1">
                <a:solidFill>
                  <a:srgbClr val="FFFFFF"/>
                </a:solidFill>
                <a:latin typeface="DejaVu Sans"/>
                <a:ea typeface="DejaVu Sans"/>
                <a:cs typeface="DejaVu Sans"/>
              </a:defRPr>
            </a:pPr>
            <a:r>
              <a:rPr lang="en-US" sz="1875" b="1">
                <a:solidFill>
                  <a:srgbClr val="FFFFFF"/>
                </a:solidFill>
                <a:latin typeface="DejaVu Sans"/>
                <a:ea typeface="DejaVu Sans"/>
                <a:cs typeface="DejaVu Sans"/>
              </a:rPr>
              <a:t>Platform</a:t>
            </a:r>
          </a:p>
        </p:txBody>
      </p:sp>
      <p:sp>
        <p:nvSpPr>
          <p:cNvPr id="17" name="Rectangle 16">
            <a:extLst>
              <a:ext uri="{FF2B5EF4-FFF2-40B4-BE49-F238E27FC236}">
                <a16:creationId xmlns:a16="http://schemas.microsoft.com/office/drawing/2014/main" id="{00000003-0011-4000-8000-000000000000}"/>
              </a:ext>
            </a:extLst>
          </p:cNvPr>
          <p:cNvSpPr>
            <a:spLocks noGrp="1"/>
          </p:cNvSpPr>
          <p:nvPr/>
        </p:nvSpPr>
        <p:spPr>
          <a:xfrm>
            <a:off x="10668000" y="3867150"/>
            <a:ext cx="3771900" cy="781050"/>
          </a:xfrm>
          <a:prstGeom prst="rect">
            <a:avLst/>
          </a:prstGeom>
          <a:solidFill>
            <a:srgbClr val="EAF0FC"/>
          </a:solidFill>
          <a:ln w="0">
            <a:noFill/>
          </a:ln>
        </p:spPr>
        <p:txBody>
          <a:bodyPr/>
          <a:lstStyle/>
          <a:p>
            <a:endParaRPr lang="en-US"/>
          </a:p>
        </p:txBody>
      </p:sp>
      <p:sp>
        <p:nvSpPr>
          <p:cNvPr id="18" name="Rectangle 17">
            <a:extLst>
              <a:ext uri="{FF2B5EF4-FFF2-40B4-BE49-F238E27FC236}">
                <a16:creationId xmlns:a16="http://schemas.microsoft.com/office/drawing/2014/main" id="{00000003-0012-4000-8000-000000000000}"/>
              </a:ext>
            </a:extLst>
          </p:cNvPr>
          <p:cNvSpPr>
            <a:spLocks noGrp="1"/>
          </p:cNvSpPr>
          <p:nvPr/>
        </p:nvSpPr>
        <p:spPr>
          <a:xfrm>
            <a:off x="10858500" y="4010025"/>
            <a:ext cx="3390900" cy="590550"/>
          </a:xfrm>
          <a:prstGeom prst="rect">
            <a:avLst/>
          </a:prstGeom>
          <a:noFill/>
          <a:ln w="0">
            <a:noFill/>
          </a:ln>
        </p:spPr>
        <p:txBody>
          <a:bodyPr>
            <a:noAutofit/>
          </a:bodyPr>
          <a:lstStyle/>
          <a:p>
            <a:pPr>
              <a:defRPr sz="1875" b="0">
                <a:solidFill>
                  <a:srgbClr val="172033"/>
                </a:solidFill>
                <a:latin typeface="DejaVu Sans"/>
                <a:ea typeface="DejaVu Sans"/>
                <a:cs typeface="DejaVu Sans"/>
              </a:defRPr>
            </a:pPr>
            <a:r>
              <a:rPr lang="en-US" sz="1875" b="0">
                <a:solidFill>
                  <a:srgbClr val="172033"/>
                </a:solidFill>
                <a:latin typeface="DejaVu Sans"/>
                <a:ea typeface="DejaVu Sans"/>
                <a:cs typeface="DejaVu Sans"/>
              </a:rPr>
              <a:t>Dashboard &amp; KPIs</a:t>
            </a:r>
          </a:p>
        </p:txBody>
      </p:sp>
      <p:sp>
        <p:nvSpPr>
          <p:cNvPr id="19" name="Straight Connector 18">
            <a:extLst>
              <a:ext uri="{FF2B5EF4-FFF2-40B4-BE49-F238E27FC236}">
                <a16:creationId xmlns:a16="http://schemas.microsoft.com/office/drawing/2014/main" id="{00000003-0013-4000-8000-000000000000}"/>
              </a:ext>
            </a:extLst>
          </p:cNvPr>
          <p:cNvSpPr>
            <a:spLocks noGrp="1"/>
          </p:cNvSpPr>
          <p:nvPr/>
        </p:nvSpPr>
        <p:spPr>
          <a:xfrm>
            <a:off x="10001250" y="4257675"/>
            <a:ext cx="666750" cy="0"/>
          </a:xfrm>
          <a:prstGeom prst="line">
            <a:avLst/>
          </a:prstGeom>
          <a:noFill/>
          <a:ln w="19050">
            <a:solidFill>
              <a:srgbClr val="2454D6"/>
            </a:solidFill>
          </a:ln>
        </p:spPr>
        <p:txBody>
          <a:bodyPr/>
          <a:lstStyle/>
          <a:p>
            <a:endParaRPr lang="en-US"/>
          </a:p>
        </p:txBody>
      </p:sp>
      <p:sp>
        <p:nvSpPr>
          <p:cNvPr id="20" name="Rectangle 19">
            <a:extLst>
              <a:ext uri="{FF2B5EF4-FFF2-40B4-BE49-F238E27FC236}">
                <a16:creationId xmlns:a16="http://schemas.microsoft.com/office/drawing/2014/main" id="{00000003-0014-4000-8000-000000000000}"/>
              </a:ext>
            </a:extLst>
          </p:cNvPr>
          <p:cNvSpPr>
            <a:spLocks noGrp="1"/>
          </p:cNvSpPr>
          <p:nvPr/>
        </p:nvSpPr>
        <p:spPr>
          <a:xfrm>
            <a:off x="10668000" y="4848225"/>
            <a:ext cx="3771900" cy="781050"/>
          </a:xfrm>
          <a:prstGeom prst="rect">
            <a:avLst/>
          </a:prstGeom>
          <a:solidFill>
            <a:srgbClr val="EAF0FC"/>
          </a:solidFill>
          <a:ln w="0">
            <a:noFill/>
          </a:ln>
        </p:spPr>
        <p:txBody>
          <a:bodyPr/>
          <a:lstStyle/>
          <a:p>
            <a:endParaRPr lang="en-US"/>
          </a:p>
        </p:txBody>
      </p:sp>
      <p:sp>
        <p:nvSpPr>
          <p:cNvPr id="21" name="Rectangle 20">
            <a:extLst>
              <a:ext uri="{FF2B5EF4-FFF2-40B4-BE49-F238E27FC236}">
                <a16:creationId xmlns:a16="http://schemas.microsoft.com/office/drawing/2014/main" id="{00000003-0015-4000-8000-000000000000}"/>
              </a:ext>
            </a:extLst>
          </p:cNvPr>
          <p:cNvSpPr>
            <a:spLocks noGrp="1"/>
          </p:cNvSpPr>
          <p:nvPr/>
        </p:nvSpPr>
        <p:spPr>
          <a:xfrm>
            <a:off x="10858500" y="4991100"/>
            <a:ext cx="3390900" cy="590550"/>
          </a:xfrm>
          <a:prstGeom prst="rect">
            <a:avLst/>
          </a:prstGeom>
          <a:noFill/>
          <a:ln w="0">
            <a:noFill/>
          </a:ln>
        </p:spPr>
        <p:txBody>
          <a:bodyPr>
            <a:noAutofit/>
          </a:bodyPr>
          <a:lstStyle/>
          <a:p>
            <a:pPr>
              <a:defRPr sz="1875" b="0">
                <a:solidFill>
                  <a:srgbClr val="172033"/>
                </a:solidFill>
                <a:latin typeface="DejaVu Sans"/>
                <a:ea typeface="DejaVu Sans"/>
                <a:cs typeface="DejaVu Sans"/>
              </a:defRPr>
            </a:pPr>
            <a:r>
              <a:rPr lang="en-US" sz="1875" b="0">
                <a:solidFill>
                  <a:srgbClr val="172033"/>
                </a:solidFill>
                <a:latin typeface="DejaVu Sans"/>
                <a:ea typeface="DejaVu Sans"/>
                <a:cs typeface="DejaVu Sans"/>
              </a:rPr>
              <a:t>Filtering &amp; Segmentation</a:t>
            </a:r>
          </a:p>
        </p:txBody>
      </p:sp>
      <p:sp>
        <p:nvSpPr>
          <p:cNvPr id="22" name="Straight Connector 21">
            <a:extLst>
              <a:ext uri="{FF2B5EF4-FFF2-40B4-BE49-F238E27FC236}">
                <a16:creationId xmlns:a16="http://schemas.microsoft.com/office/drawing/2014/main" id="{00000003-0016-4000-8000-000000000000}"/>
              </a:ext>
            </a:extLst>
          </p:cNvPr>
          <p:cNvSpPr>
            <a:spLocks noGrp="1"/>
          </p:cNvSpPr>
          <p:nvPr/>
        </p:nvSpPr>
        <p:spPr>
          <a:xfrm>
            <a:off x="10001250" y="5238750"/>
            <a:ext cx="666750" cy="0"/>
          </a:xfrm>
          <a:prstGeom prst="line">
            <a:avLst/>
          </a:prstGeom>
          <a:noFill/>
          <a:ln w="19050">
            <a:solidFill>
              <a:srgbClr val="2454D6"/>
            </a:solidFill>
          </a:ln>
        </p:spPr>
        <p:txBody>
          <a:bodyPr/>
          <a:lstStyle/>
          <a:p>
            <a:endParaRPr lang="en-US"/>
          </a:p>
        </p:txBody>
      </p:sp>
      <p:sp>
        <p:nvSpPr>
          <p:cNvPr id="23" name="Rectangle 22">
            <a:extLst>
              <a:ext uri="{FF2B5EF4-FFF2-40B4-BE49-F238E27FC236}">
                <a16:creationId xmlns:a16="http://schemas.microsoft.com/office/drawing/2014/main" id="{00000003-0017-4000-8000-000000000000}"/>
              </a:ext>
            </a:extLst>
          </p:cNvPr>
          <p:cNvSpPr>
            <a:spLocks noGrp="1"/>
          </p:cNvSpPr>
          <p:nvPr/>
        </p:nvSpPr>
        <p:spPr>
          <a:xfrm>
            <a:off x="10668000" y="5829300"/>
            <a:ext cx="3771900" cy="781050"/>
          </a:xfrm>
          <a:prstGeom prst="rect">
            <a:avLst/>
          </a:prstGeom>
          <a:solidFill>
            <a:srgbClr val="EAF0FC"/>
          </a:solidFill>
          <a:ln w="0">
            <a:noFill/>
          </a:ln>
        </p:spPr>
        <p:txBody>
          <a:bodyPr/>
          <a:lstStyle/>
          <a:p>
            <a:endParaRPr lang="en-US"/>
          </a:p>
        </p:txBody>
      </p:sp>
      <p:sp>
        <p:nvSpPr>
          <p:cNvPr id="24" name="Rectangle 23">
            <a:extLst>
              <a:ext uri="{FF2B5EF4-FFF2-40B4-BE49-F238E27FC236}">
                <a16:creationId xmlns:a16="http://schemas.microsoft.com/office/drawing/2014/main" id="{00000003-0018-4000-8000-000000000000}"/>
              </a:ext>
            </a:extLst>
          </p:cNvPr>
          <p:cNvSpPr>
            <a:spLocks noGrp="1"/>
          </p:cNvSpPr>
          <p:nvPr/>
        </p:nvSpPr>
        <p:spPr>
          <a:xfrm>
            <a:off x="10858500" y="5972175"/>
            <a:ext cx="3390900" cy="590550"/>
          </a:xfrm>
          <a:prstGeom prst="rect">
            <a:avLst/>
          </a:prstGeom>
          <a:noFill/>
          <a:ln w="0">
            <a:noFill/>
          </a:ln>
        </p:spPr>
        <p:txBody>
          <a:bodyPr>
            <a:noAutofit/>
          </a:bodyPr>
          <a:lstStyle/>
          <a:p>
            <a:pPr>
              <a:defRPr sz="1875" b="0">
                <a:solidFill>
                  <a:srgbClr val="172033"/>
                </a:solidFill>
                <a:latin typeface="DejaVu Sans"/>
                <a:ea typeface="DejaVu Sans"/>
                <a:cs typeface="DejaVu Sans"/>
              </a:defRPr>
            </a:pPr>
            <a:r>
              <a:rPr lang="en-US" sz="1875" b="0">
                <a:solidFill>
                  <a:srgbClr val="172033"/>
                </a:solidFill>
                <a:latin typeface="DejaVu Sans"/>
                <a:ea typeface="DejaVu Sans"/>
                <a:cs typeface="DejaVu Sans"/>
              </a:rPr>
              <a:t>Analytics &amp; Forecasting</a:t>
            </a:r>
          </a:p>
        </p:txBody>
      </p:sp>
      <p:sp>
        <p:nvSpPr>
          <p:cNvPr id="25" name="Straight Connector 24">
            <a:extLst>
              <a:ext uri="{FF2B5EF4-FFF2-40B4-BE49-F238E27FC236}">
                <a16:creationId xmlns:a16="http://schemas.microsoft.com/office/drawing/2014/main" id="{00000003-0019-4000-8000-000000000000}"/>
              </a:ext>
            </a:extLst>
          </p:cNvPr>
          <p:cNvSpPr>
            <a:spLocks noGrp="1"/>
          </p:cNvSpPr>
          <p:nvPr/>
        </p:nvSpPr>
        <p:spPr>
          <a:xfrm>
            <a:off x="10001250" y="6219825"/>
            <a:ext cx="666750" cy="0"/>
          </a:xfrm>
          <a:prstGeom prst="line">
            <a:avLst/>
          </a:prstGeom>
          <a:noFill/>
          <a:ln w="19050">
            <a:solidFill>
              <a:srgbClr val="2454D6"/>
            </a:solidFill>
          </a:ln>
        </p:spPr>
        <p:txBody>
          <a:bodyPr/>
          <a:lstStyle/>
          <a:p>
            <a:endParaRPr lang="en-US"/>
          </a:p>
        </p:txBody>
      </p:sp>
      <p:sp>
        <p:nvSpPr>
          <p:cNvPr id="26" name="Rectangle 25">
            <a:extLst>
              <a:ext uri="{FF2B5EF4-FFF2-40B4-BE49-F238E27FC236}">
                <a16:creationId xmlns:a16="http://schemas.microsoft.com/office/drawing/2014/main" id="{00000003-001A-4000-8000-000000000000}"/>
              </a:ext>
            </a:extLst>
          </p:cNvPr>
          <p:cNvSpPr>
            <a:spLocks noGrp="1"/>
          </p:cNvSpPr>
          <p:nvPr/>
        </p:nvSpPr>
        <p:spPr>
          <a:xfrm>
            <a:off x="10668000" y="6810375"/>
            <a:ext cx="3771900" cy="781050"/>
          </a:xfrm>
          <a:prstGeom prst="rect">
            <a:avLst/>
          </a:prstGeom>
          <a:solidFill>
            <a:srgbClr val="EAF0FC"/>
          </a:solidFill>
          <a:ln w="0">
            <a:noFill/>
          </a:ln>
        </p:spPr>
        <p:txBody>
          <a:bodyPr/>
          <a:lstStyle/>
          <a:p>
            <a:endParaRPr lang="en-US"/>
          </a:p>
        </p:txBody>
      </p:sp>
      <p:sp>
        <p:nvSpPr>
          <p:cNvPr id="27" name="Rectangle 26">
            <a:extLst>
              <a:ext uri="{FF2B5EF4-FFF2-40B4-BE49-F238E27FC236}">
                <a16:creationId xmlns:a16="http://schemas.microsoft.com/office/drawing/2014/main" id="{00000003-001B-4000-8000-000000000000}"/>
              </a:ext>
            </a:extLst>
          </p:cNvPr>
          <p:cNvSpPr>
            <a:spLocks noGrp="1"/>
          </p:cNvSpPr>
          <p:nvPr/>
        </p:nvSpPr>
        <p:spPr>
          <a:xfrm>
            <a:off x="10858500" y="6953250"/>
            <a:ext cx="3390900" cy="590550"/>
          </a:xfrm>
          <a:prstGeom prst="rect">
            <a:avLst/>
          </a:prstGeom>
          <a:noFill/>
          <a:ln w="0">
            <a:noFill/>
          </a:ln>
        </p:spPr>
        <p:txBody>
          <a:bodyPr>
            <a:noAutofit/>
          </a:bodyPr>
          <a:lstStyle/>
          <a:p>
            <a:pPr>
              <a:defRPr sz="1875" b="0">
                <a:solidFill>
                  <a:srgbClr val="172033"/>
                </a:solidFill>
                <a:latin typeface="DejaVu Sans"/>
                <a:ea typeface="DejaVu Sans"/>
                <a:cs typeface="DejaVu Sans"/>
              </a:defRPr>
            </a:pPr>
            <a:r>
              <a:rPr lang="en-US" sz="1875" b="0">
                <a:solidFill>
                  <a:srgbClr val="172033"/>
                </a:solidFill>
                <a:latin typeface="DejaVu Sans"/>
                <a:ea typeface="DejaVu Sans"/>
                <a:cs typeface="DejaVu Sans"/>
              </a:rPr>
              <a:t>Targeted Outreach</a:t>
            </a:r>
          </a:p>
        </p:txBody>
      </p:sp>
      <p:sp>
        <p:nvSpPr>
          <p:cNvPr id="28" name="Straight Connector 27">
            <a:extLst>
              <a:ext uri="{FF2B5EF4-FFF2-40B4-BE49-F238E27FC236}">
                <a16:creationId xmlns:a16="http://schemas.microsoft.com/office/drawing/2014/main" id="{00000003-001C-4000-8000-000000000000}"/>
              </a:ext>
            </a:extLst>
          </p:cNvPr>
          <p:cNvSpPr>
            <a:spLocks noGrp="1"/>
          </p:cNvSpPr>
          <p:nvPr/>
        </p:nvSpPr>
        <p:spPr>
          <a:xfrm>
            <a:off x="10001250" y="7200900"/>
            <a:ext cx="666750" cy="0"/>
          </a:xfrm>
          <a:prstGeom prst="line">
            <a:avLst/>
          </a:prstGeom>
          <a:noFill/>
          <a:ln w="19050">
            <a:solidFill>
              <a:srgbClr val="2454D6"/>
            </a:solidFill>
          </a:ln>
        </p:spPr>
        <p:txBody>
          <a:bodyPr/>
          <a:lstStyle/>
          <a:p>
            <a:endParaRPr lang="en-US"/>
          </a:p>
        </p:txBody>
      </p:sp>
      <p:sp>
        <p:nvSpPr>
          <p:cNvPr id="29" name="Straight Connector 28">
            <a:extLst>
              <a:ext uri="{FF2B5EF4-FFF2-40B4-BE49-F238E27FC236}">
                <a16:creationId xmlns:a16="http://schemas.microsoft.com/office/drawing/2014/main" id="{00000003-001D-4000-8000-000000000000}"/>
              </a:ext>
            </a:extLst>
          </p:cNvPr>
          <p:cNvSpPr>
            <a:spLocks noGrp="1"/>
          </p:cNvSpPr>
          <p:nvPr/>
        </p:nvSpPr>
        <p:spPr>
          <a:xfrm>
            <a:off x="10001250" y="4257675"/>
            <a:ext cx="0" cy="2943225"/>
          </a:xfrm>
          <a:prstGeom prst="line">
            <a:avLst/>
          </a:prstGeom>
          <a:noFill/>
          <a:ln w="19050">
            <a:solidFill>
              <a:srgbClr val="2454D6"/>
            </a:solidFill>
          </a:ln>
        </p:spPr>
        <p:txBody>
          <a:bodyPr/>
          <a:lstStyle/>
          <a:p>
            <a:endParaRPr lang="en-US"/>
          </a:p>
        </p:txBody>
      </p:sp>
      <p:sp>
        <p:nvSpPr>
          <p:cNvPr id="30" name="Straight Connector 29">
            <a:extLst>
              <a:ext uri="{FF2B5EF4-FFF2-40B4-BE49-F238E27FC236}">
                <a16:creationId xmlns:a16="http://schemas.microsoft.com/office/drawing/2014/main" id="{00000003-001E-4000-8000-000000000000}"/>
              </a:ext>
            </a:extLst>
          </p:cNvPr>
          <p:cNvSpPr>
            <a:spLocks noGrp="1"/>
          </p:cNvSpPr>
          <p:nvPr/>
        </p:nvSpPr>
        <p:spPr>
          <a:xfrm>
            <a:off x="9429750" y="5543550"/>
            <a:ext cx="571500" cy="0"/>
          </a:xfrm>
          <a:prstGeom prst="line">
            <a:avLst/>
          </a:prstGeom>
          <a:noFill/>
          <a:ln w="19050">
            <a:solidFill>
              <a:srgbClr val="2454D6"/>
            </a:solidFill>
          </a:ln>
        </p:spPr>
        <p:txBody>
          <a:bodyPr/>
          <a:lstStyle/>
          <a:p>
            <a:endParaRPr lang="en-US"/>
          </a:p>
        </p:txBody>
      </p:sp>
      <p:sp>
        <p:nvSpPr>
          <p:cNvPr id="31" name="Straight Connector 30">
            <a:extLst>
              <a:ext uri="{FF2B5EF4-FFF2-40B4-BE49-F238E27FC236}">
                <a16:creationId xmlns:a16="http://schemas.microsoft.com/office/drawing/2014/main" id="{00000003-001F-4000-8000-000000000000}"/>
              </a:ext>
            </a:extLst>
          </p:cNvPr>
          <p:cNvSpPr>
            <a:spLocks noGrp="1"/>
          </p:cNvSpPr>
          <p:nvPr/>
        </p:nvSpPr>
        <p:spPr>
          <a:xfrm>
            <a:off x="4467225" y="4371975"/>
            <a:ext cx="571500" cy="0"/>
          </a:xfrm>
          <a:prstGeom prst="line">
            <a:avLst/>
          </a:prstGeom>
          <a:noFill/>
          <a:ln w="19050">
            <a:solidFill>
              <a:srgbClr val="2454D6"/>
            </a:solidFill>
          </a:ln>
        </p:spPr>
        <p:txBody>
          <a:bodyPr/>
          <a:lstStyle/>
          <a:p>
            <a:endParaRPr lang="en-US"/>
          </a:p>
        </p:txBody>
      </p:sp>
      <p:sp>
        <p:nvSpPr>
          <p:cNvPr id="32" name="Straight Connector 31">
            <a:extLst>
              <a:ext uri="{FF2B5EF4-FFF2-40B4-BE49-F238E27FC236}">
                <a16:creationId xmlns:a16="http://schemas.microsoft.com/office/drawing/2014/main" id="{00000003-0020-4000-8000-000000000000}"/>
              </a:ext>
            </a:extLst>
          </p:cNvPr>
          <p:cNvSpPr>
            <a:spLocks noGrp="1"/>
          </p:cNvSpPr>
          <p:nvPr/>
        </p:nvSpPr>
        <p:spPr>
          <a:xfrm>
            <a:off x="4467225" y="5848350"/>
            <a:ext cx="571500" cy="0"/>
          </a:xfrm>
          <a:prstGeom prst="line">
            <a:avLst/>
          </a:prstGeom>
          <a:noFill/>
          <a:ln w="19050">
            <a:solidFill>
              <a:srgbClr val="2454D6"/>
            </a:solidFill>
          </a:ln>
        </p:spPr>
        <p:txBody>
          <a:bodyPr/>
          <a:lstStyle/>
          <a:p>
            <a:endParaRPr lang="en-US"/>
          </a:p>
        </p:txBody>
      </p:sp>
      <p:sp>
        <p:nvSpPr>
          <p:cNvPr id="33" name="Straight Connector 32">
            <a:extLst>
              <a:ext uri="{FF2B5EF4-FFF2-40B4-BE49-F238E27FC236}">
                <a16:creationId xmlns:a16="http://schemas.microsoft.com/office/drawing/2014/main" id="{00000003-0021-4000-8000-000000000000}"/>
              </a:ext>
            </a:extLst>
          </p:cNvPr>
          <p:cNvSpPr>
            <a:spLocks noGrp="1"/>
          </p:cNvSpPr>
          <p:nvPr/>
        </p:nvSpPr>
        <p:spPr>
          <a:xfrm>
            <a:off x="4467225" y="7286625"/>
            <a:ext cx="571500" cy="0"/>
          </a:xfrm>
          <a:prstGeom prst="line">
            <a:avLst/>
          </a:prstGeom>
          <a:noFill/>
          <a:ln w="19050">
            <a:solidFill>
              <a:srgbClr val="2454D6"/>
            </a:solidFill>
          </a:ln>
        </p:spPr>
        <p:txBody>
          <a:bodyPr/>
          <a:lstStyle/>
          <a:p>
            <a:endParaRPr lang="en-US"/>
          </a:p>
        </p:txBody>
      </p:sp>
      <p:sp>
        <p:nvSpPr>
          <p:cNvPr id="34" name="Straight Connector 33">
            <a:extLst>
              <a:ext uri="{FF2B5EF4-FFF2-40B4-BE49-F238E27FC236}">
                <a16:creationId xmlns:a16="http://schemas.microsoft.com/office/drawing/2014/main" id="{00000003-0022-4000-8000-000000000000}"/>
              </a:ext>
            </a:extLst>
          </p:cNvPr>
          <p:cNvSpPr>
            <a:spLocks noGrp="1"/>
          </p:cNvSpPr>
          <p:nvPr/>
        </p:nvSpPr>
        <p:spPr>
          <a:xfrm>
            <a:off x="5038725" y="4371975"/>
            <a:ext cx="0" cy="2914650"/>
          </a:xfrm>
          <a:prstGeom prst="line">
            <a:avLst/>
          </a:prstGeom>
          <a:noFill/>
          <a:ln w="19050">
            <a:solidFill>
              <a:srgbClr val="2454D6"/>
            </a:solidFill>
          </a:ln>
        </p:spPr>
        <p:txBody>
          <a:bodyPr/>
          <a:lstStyle/>
          <a:p>
            <a:endParaRPr lang="en-US"/>
          </a:p>
        </p:txBody>
      </p:sp>
      <p:sp>
        <p:nvSpPr>
          <p:cNvPr id="35" name="Straight Connector 34">
            <a:extLst>
              <a:ext uri="{FF2B5EF4-FFF2-40B4-BE49-F238E27FC236}">
                <a16:creationId xmlns:a16="http://schemas.microsoft.com/office/drawing/2014/main" id="{00000003-0023-4000-8000-000000000000}"/>
              </a:ext>
            </a:extLst>
          </p:cNvPr>
          <p:cNvSpPr>
            <a:spLocks noGrp="1"/>
          </p:cNvSpPr>
          <p:nvPr/>
        </p:nvSpPr>
        <p:spPr>
          <a:xfrm>
            <a:off x="5038725" y="5543550"/>
            <a:ext cx="657225" cy="0"/>
          </a:xfrm>
          <a:prstGeom prst="line">
            <a:avLst/>
          </a:prstGeom>
          <a:noFill/>
          <a:ln w="19050">
            <a:solidFill>
              <a:srgbClr val="2454D6"/>
            </a:solidFill>
          </a:ln>
        </p:spPr>
        <p:txBody>
          <a:bodyPr/>
          <a:lstStyle/>
          <a:p>
            <a:endParaRPr lang="en-US"/>
          </a:p>
        </p:txBody>
      </p:sp>
    </p:spTree>
    <p:extLst>
      <p:ext uri="{BB962C8B-B14F-4D97-AF65-F5344CB8AC3E}">
        <p14:creationId xmlns:p14="http://schemas.microsoft.com/office/powerpoint/2010/main" val="300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00000004-0001-4000-8000-000000000000}"/>
              </a:ext>
            </a:extLst>
          </p:cNvPr>
          <p:cNvSpPr>
            <a:spLocks noGrp="1"/>
          </p:cNvSpPr>
          <p:nvPr/>
        </p:nvSpPr>
        <p:spPr>
          <a:xfrm>
            <a:off x="800100" y="628650"/>
            <a:ext cx="13620750" cy="819150"/>
          </a:xfrm>
          <a:prstGeom prst="rect">
            <a:avLst/>
          </a:prstGeom>
          <a:noFill/>
          <a:ln w="0">
            <a:noFill/>
          </a:ln>
        </p:spPr>
        <p:txBody>
          <a:bodyPr>
            <a:noAutofit/>
          </a:bodyPr>
          <a:lstStyle/>
          <a:p>
            <a:pPr>
              <a:defRPr sz="4050" b="1">
                <a:solidFill>
                  <a:srgbClr val="172033"/>
                </a:solidFill>
                <a:latin typeface="DejaVu Sans"/>
                <a:ea typeface="DejaVu Sans"/>
                <a:cs typeface="DejaVu Sans"/>
              </a:defRPr>
            </a:pPr>
            <a:r>
              <a:rPr sz="4050" b="1">
                <a:solidFill>
                  <a:srgbClr val="172033"/>
                </a:solidFill>
                <a:latin typeface="DejaVu Sans"/>
                <a:ea typeface="DejaVu Sans"/>
                <a:cs typeface="DejaVu Sans"/>
              </a:rPr>
              <a:t>Solution architecture</a:t>
            </a:r>
          </a:p>
        </p:txBody>
      </p:sp>
      <p:sp>
        <p:nvSpPr>
          <p:cNvPr id="2" name="Rectangle 1">
            <a:extLst>
              <a:ext uri="{FF2B5EF4-FFF2-40B4-BE49-F238E27FC236}">
                <a16:creationId xmlns:a16="http://schemas.microsoft.com/office/drawing/2014/main" id="{00000004-0002-4000-8000-000000000000}"/>
              </a:ext>
            </a:extLst>
          </p:cNvPr>
          <p:cNvSpPr>
            <a:spLocks noGrp="1"/>
          </p:cNvSpPr>
          <p:nvPr/>
        </p:nvSpPr>
        <p:spPr>
          <a:xfrm>
            <a:off x="800100" y="1647825"/>
            <a:ext cx="13639800" cy="19050"/>
          </a:xfrm>
          <a:prstGeom prst="rect">
            <a:avLst/>
          </a:prstGeom>
          <a:solidFill>
            <a:srgbClr val="D7DFEC"/>
          </a:solidFill>
          <a:ln w="0">
            <a:noFill/>
          </a:ln>
        </p:spPr>
        <p:txBody>
          <a:bodyPr/>
          <a:lstStyle/>
          <a:p>
            <a:endParaRPr lang="en-US"/>
          </a:p>
        </p:txBody>
      </p:sp>
      <p:sp>
        <p:nvSpPr>
          <p:cNvPr id="3" name="Rectangle 2">
            <a:extLst>
              <a:ext uri="{FF2B5EF4-FFF2-40B4-BE49-F238E27FC236}">
                <a16:creationId xmlns:a16="http://schemas.microsoft.com/office/drawing/2014/main" id="{00000004-0003-4000-8000-000000000000}"/>
              </a:ext>
            </a:extLst>
          </p:cNvPr>
          <p:cNvSpPr>
            <a:spLocks noGrp="1"/>
          </p:cNvSpPr>
          <p:nvPr/>
        </p:nvSpPr>
        <p:spPr>
          <a:xfrm>
            <a:off x="800100" y="8039100"/>
            <a:ext cx="5715000" cy="285750"/>
          </a:xfrm>
          <a:prstGeom prst="rect">
            <a:avLst/>
          </a:prstGeom>
          <a:noFill/>
          <a:ln w="0">
            <a:noFill/>
          </a:ln>
        </p:spPr>
        <p:txBody>
          <a:bodyPr>
            <a:noAutofit/>
          </a:bodyPr>
          <a:lstStyle/>
          <a:p>
            <a:pPr>
              <a:defRPr sz="1350" b="1">
                <a:solidFill>
                  <a:srgbClr val="596579"/>
                </a:solidFill>
                <a:latin typeface="DejaVu Sans"/>
                <a:ea typeface="DejaVu Sans"/>
                <a:cs typeface="DejaVu Sans"/>
              </a:defRPr>
            </a:pPr>
            <a:r>
              <a:rPr sz="1350" b="1">
                <a:solidFill>
                  <a:srgbClr val="596579"/>
                </a:solidFill>
                <a:latin typeface="DejaVu Sans"/>
                <a:ea typeface="DejaVu Sans"/>
                <a:cs typeface="DejaVu Sans"/>
              </a:rPr>
              <a:t>LEDORA AI</a:t>
            </a:r>
          </a:p>
        </p:txBody>
      </p:sp>
      <p:sp>
        <p:nvSpPr>
          <p:cNvPr id="4" name="Rectangle 3">
            <a:extLst>
              <a:ext uri="{FF2B5EF4-FFF2-40B4-BE49-F238E27FC236}">
                <a16:creationId xmlns:a16="http://schemas.microsoft.com/office/drawing/2014/main" id="{00000004-0004-4000-8000-000000000000}"/>
              </a:ext>
            </a:extLst>
          </p:cNvPr>
          <p:cNvSpPr>
            <a:spLocks noGrp="1"/>
          </p:cNvSpPr>
          <p:nvPr/>
        </p:nvSpPr>
        <p:spPr>
          <a:xfrm>
            <a:off x="13811250" y="8010525"/>
            <a:ext cx="619125" cy="304800"/>
          </a:xfrm>
          <a:prstGeom prst="rect">
            <a:avLst/>
          </a:prstGeom>
          <a:noFill/>
          <a:ln w="0">
            <a:noFill/>
          </a:ln>
        </p:spPr>
        <p:txBody>
          <a:bodyPr>
            <a:noAutofit/>
          </a:bodyPr>
          <a:lstStyle/>
          <a:p>
            <a:pPr>
              <a:defRPr sz="1500" b="0">
                <a:solidFill>
                  <a:srgbClr val="596579"/>
                </a:solidFill>
                <a:latin typeface="DejaVu Sans"/>
                <a:ea typeface="DejaVu Sans"/>
                <a:cs typeface="DejaVu Sans"/>
              </a:defRPr>
            </a:pPr>
            <a:r>
              <a:rPr sz="1500" b="0">
                <a:solidFill>
                  <a:srgbClr val="596579"/>
                </a:solidFill>
                <a:latin typeface="DejaVu Sans"/>
                <a:ea typeface="DejaVu Sans"/>
                <a:cs typeface="DejaVu Sans"/>
              </a:rPr>
              <a:t>04</a:t>
            </a:r>
          </a:p>
        </p:txBody>
      </p:sp>
      <p:sp>
        <p:nvSpPr>
          <p:cNvPr id="5" name="Rectangle 4">
            <a:extLst>
              <a:ext uri="{FF2B5EF4-FFF2-40B4-BE49-F238E27FC236}">
                <a16:creationId xmlns:a16="http://schemas.microsoft.com/office/drawing/2014/main" id="{00000004-0005-4000-8000-000000000000}"/>
              </a:ext>
            </a:extLst>
          </p:cNvPr>
          <p:cNvSpPr>
            <a:spLocks noGrp="1"/>
          </p:cNvSpPr>
          <p:nvPr/>
        </p:nvSpPr>
        <p:spPr>
          <a:xfrm>
            <a:off x="800100" y="2066925"/>
            <a:ext cx="6667500" cy="428625"/>
          </a:xfrm>
          <a:prstGeom prst="rect">
            <a:avLst/>
          </a:prstGeom>
          <a:noFill/>
          <a:ln w="0">
            <a:noFill/>
          </a:ln>
        </p:spPr>
        <p:txBody>
          <a:bodyPr>
            <a:noAutofit/>
          </a:bodyPr>
          <a:lstStyle/>
          <a:p>
            <a:pPr>
              <a:defRPr sz="1800" b="1">
                <a:solidFill>
                  <a:srgbClr val="2454D6"/>
                </a:solidFill>
                <a:latin typeface="DejaVu Sans"/>
                <a:ea typeface="DejaVu Sans"/>
                <a:cs typeface="DejaVu Sans"/>
              </a:defRPr>
            </a:pPr>
            <a:r>
              <a:rPr sz="1800" b="1">
                <a:solidFill>
                  <a:srgbClr val="2454D6"/>
                </a:solidFill>
                <a:latin typeface="DejaVu Sans"/>
                <a:ea typeface="DejaVu Sans"/>
                <a:cs typeface="DejaVu Sans"/>
              </a:rPr>
              <a:t>APPLICATION STACK</a:t>
            </a:r>
          </a:p>
        </p:txBody>
      </p:sp>
      <p:sp>
        <p:nvSpPr>
          <p:cNvPr id="6" name="Rectangle 5">
            <a:extLst>
              <a:ext uri="{FF2B5EF4-FFF2-40B4-BE49-F238E27FC236}">
                <a16:creationId xmlns:a16="http://schemas.microsoft.com/office/drawing/2014/main" id="{00000004-0006-4000-8000-000000000000}"/>
              </a:ext>
            </a:extLst>
          </p:cNvPr>
          <p:cNvSpPr>
            <a:spLocks noGrp="1"/>
          </p:cNvSpPr>
          <p:nvPr/>
        </p:nvSpPr>
        <p:spPr>
          <a:xfrm>
            <a:off x="800100" y="2714625"/>
            <a:ext cx="5905500" cy="342900"/>
          </a:xfrm>
          <a:prstGeom prst="rect">
            <a:avLst/>
          </a:prstGeom>
          <a:noFill/>
          <a:ln w="0">
            <a:noFill/>
          </a:ln>
        </p:spPr>
        <p:txBody>
          <a:bodyPr>
            <a:noAutofit/>
          </a:bodyPr>
          <a:lstStyle/>
          <a:p>
            <a:pPr>
              <a:defRPr sz="2025" b="1">
                <a:solidFill>
                  <a:srgbClr val="172033"/>
                </a:solidFill>
                <a:latin typeface="DejaVu Sans"/>
                <a:ea typeface="DejaVu Sans"/>
                <a:cs typeface="DejaVu Sans"/>
              </a:defRPr>
            </a:pPr>
            <a:r>
              <a:rPr sz="2025" b="1">
                <a:solidFill>
                  <a:srgbClr val="172033"/>
                </a:solidFill>
                <a:latin typeface="DejaVu Sans"/>
                <a:ea typeface="DejaVu Sans"/>
                <a:cs typeface="DejaVu Sans"/>
              </a:rPr>
              <a:t>Frontend</a:t>
            </a:r>
          </a:p>
        </p:txBody>
      </p:sp>
      <p:sp>
        <p:nvSpPr>
          <p:cNvPr id="7" name="Rectangle 6">
            <a:extLst>
              <a:ext uri="{FF2B5EF4-FFF2-40B4-BE49-F238E27FC236}">
                <a16:creationId xmlns:a16="http://schemas.microsoft.com/office/drawing/2014/main" id="{00000004-0007-4000-8000-000000000000}"/>
              </a:ext>
            </a:extLst>
          </p:cNvPr>
          <p:cNvSpPr>
            <a:spLocks noGrp="1"/>
          </p:cNvSpPr>
          <p:nvPr/>
        </p:nvSpPr>
        <p:spPr>
          <a:xfrm>
            <a:off x="800100" y="3086100"/>
            <a:ext cx="6619875" cy="495300"/>
          </a:xfrm>
          <a:prstGeom prst="rect">
            <a:avLst/>
          </a:prstGeom>
          <a:noFill/>
          <a:ln w="0">
            <a:noFill/>
          </a:ln>
        </p:spPr>
        <p:txBody>
          <a:bodyPr>
            <a:noAutofit/>
          </a:bodyPr>
          <a:lstStyle/>
          <a:p>
            <a:pPr>
              <a:defRPr sz="1875" b="0">
                <a:solidFill>
                  <a:srgbClr val="596579"/>
                </a:solidFill>
                <a:latin typeface="DejaVu Sans"/>
                <a:ea typeface="DejaVu Sans"/>
                <a:cs typeface="DejaVu Sans"/>
              </a:defRPr>
            </a:pPr>
            <a:r>
              <a:rPr sz="1875" b="0">
                <a:solidFill>
                  <a:srgbClr val="596579"/>
                </a:solidFill>
                <a:latin typeface="DejaVu Sans"/>
                <a:ea typeface="DejaVu Sans"/>
                <a:cs typeface="DejaVu Sans"/>
              </a:rPr>
              <a:t>Next.js 16 App Router, React 19, TypeScript</a:t>
            </a:r>
          </a:p>
        </p:txBody>
      </p:sp>
      <p:sp>
        <p:nvSpPr>
          <p:cNvPr id="8" name="Rectangle 7">
            <a:extLst>
              <a:ext uri="{FF2B5EF4-FFF2-40B4-BE49-F238E27FC236}">
                <a16:creationId xmlns:a16="http://schemas.microsoft.com/office/drawing/2014/main" id="{00000004-0008-4000-8000-000000000000}"/>
              </a:ext>
            </a:extLst>
          </p:cNvPr>
          <p:cNvSpPr>
            <a:spLocks noGrp="1"/>
          </p:cNvSpPr>
          <p:nvPr/>
        </p:nvSpPr>
        <p:spPr>
          <a:xfrm>
            <a:off x="800100" y="3609975"/>
            <a:ext cx="5905500" cy="342900"/>
          </a:xfrm>
          <a:prstGeom prst="rect">
            <a:avLst/>
          </a:prstGeom>
          <a:noFill/>
          <a:ln w="0">
            <a:noFill/>
          </a:ln>
        </p:spPr>
        <p:txBody>
          <a:bodyPr>
            <a:noAutofit/>
          </a:bodyPr>
          <a:lstStyle/>
          <a:p>
            <a:pPr>
              <a:defRPr sz="2025" b="1">
                <a:solidFill>
                  <a:srgbClr val="172033"/>
                </a:solidFill>
                <a:latin typeface="DejaVu Sans"/>
                <a:ea typeface="DejaVu Sans"/>
                <a:cs typeface="DejaVu Sans"/>
              </a:defRPr>
            </a:pPr>
            <a:r>
              <a:rPr sz="2025" b="1">
                <a:solidFill>
                  <a:srgbClr val="172033"/>
                </a:solidFill>
                <a:latin typeface="DejaVu Sans"/>
                <a:ea typeface="DejaVu Sans"/>
                <a:cs typeface="DejaVu Sans"/>
              </a:rPr>
              <a:t>State &amp; UI</a:t>
            </a:r>
          </a:p>
        </p:txBody>
      </p:sp>
      <p:sp>
        <p:nvSpPr>
          <p:cNvPr id="9" name="Rectangle 8">
            <a:extLst>
              <a:ext uri="{FF2B5EF4-FFF2-40B4-BE49-F238E27FC236}">
                <a16:creationId xmlns:a16="http://schemas.microsoft.com/office/drawing/2014/main" id="{00000004-0009-4000-8000-000000000000}"/>
              </a:ext>
            </a:extLst>
          </p:cNvPr>
          <p:cNvSpPr>
            <a:spLocks noGrp="1"/>
          </p:cNvSpPr>
          <p:nvPr/>
        </p:nvSpPr>
        <p:spPr>
          <a:xfrm>
            <a:off x="800100" y="3981450"/>
            <a:ext cx="6619875" cy="495300"/>
          </a:xfrm>
          <a:prstGeom prst="rect">
            <a:avLst/>
          </a:prstGeom>
          <a:noFill/>
          <a:ln w="0">
            <a:noFill/>
          </a:ln>
        </p:spPr>
        <p:txBody>
          <a:bodyPr>
            <a:noAutofit/>
          </a:bodyPr>
          <a:lstStyle/>
          <a:p>
            <a:pPr>
              <a:defRPr sz="1875" b="0">
                <a:solidFill>
                  <a:srgbClr val="596579"/>
                </a:solidFill>
                <a:latin typeface="DejaVu Sans"/>
                <a:ea typeface="DejaVu Sans"/>
                <a:cs typeface="DejaVu Sans"/>
              </a:defRPr>
            </a:pPr>
            <a:r>
              <a:rPr sz="1875" b="0">
                <a:solidFill>
                  <a:srgbClr val="596579"/>
                </a:solidFill>
                <a:latin typeface="DejaVu Sans"/>
                <a:ea typeface="DejaVu Sans"/>
                <a:cs typeface="DejaVu Sans"/>
              </a:rPr>
              <a:t>Redux Toolkit, Tailwind CSS 4, Radix UI</a:t>
            </a:r>
          </a:p>
        </p:txBody>
      </p:sp>
      <p:sp>
        <p:nvSpPr>
          <p:cNvPr id="10" name="Rectangle 9">
            <a:extLst>
              <a:ext uri="{FF2B5EF4-FFF2-40B4-BE49-F238E27FC236}">
                <a16:creationId xmlns:a16="http://schemas.microsoft.com/office/drawing/2014/main" id="{00000004-000A-4000-8000-000000000000}"/>
              </a:ext>
            </a:extLst>
          </p:cNvPr>
          <p:cNvSpPr>
            <a:spLocks noGrp="1"/>
          </p:cNvSpPr>
          <p:nvPr/>
        </p:nvSpPr>
        <p:spPr>
          <a:xfrm>
            <a:off x="800100" y="4505325"/>
            <a:ext cx="5905500" cy="342900"/>
          </a:xfrm>
          <a:prstGeom prst="rect">
            <a:avLst/>
          </a:prstGeom>
          <a:noFill/>
          <a:ln w="0">
            <a:noFill/>
          </a:ln>
        </p:spPr>
        <p:txBody>
          <a:bodyPr>
            <a:noAutofit/>
          </a:bodyPr>
          <a:lstStyle/>
          <a:p>
            <a:pPr>
              <a:defRPr sz="2025" b="1">
                <a:solidFill>
                  <a:srgbClr val="172033"/>
                </a:solidFill>
                <a:latin typeface="DejaVu Sans"/>
                <a:ea typeface="DejaVu Sans"/>
                <a:cs typeface="DejaVu Sans"/>
              </a:defRPr>
            </a:pPr>
            <a:r>
              <a:rPr sz="2025" b="1">
                <a:solidFill>
                  <a:srgbClr val="172033"/>
                </a:solidFill>
                <a:latin typeface="DejaVu Sans"/>
                <a:ea typeface="DejaVu Sans"/>
                <a:cs typeface="DejaVu Sans"/>
              </a:rPr>
              <a:t>Analytics</a:t>
            </a:r>
          </a:p>
        </p:txBody>
      </p:sp>
      <p:sp>
        <p:nvSpPr>
          <p:cNvPr id="11" name="Rectangle 10">
            <a:extLst>
              <a:ext uri="{FF2B5EF4-FFF2-40B4-BE49-F238E27FC236}">
                <a16:creationId xmlns:a16="http://schemas.microsoft.com/office/drawing/2014/main" id="{00000004-000B-4000-8000-000000000000}"/>
              </a:ext>
            </a:extLst>
          </p:cNvPr>
          <p:cNvSpPr>
            <a:spLocks noGrp="1"/>
          </p:cNvSpPr>
          <p:nvPr/>
        </p:nvSpPr>
        <p:spPr>
          <a:xfrm>
            <a:off x="800100" y="4876800"/>
            <a:ext cx="6619875" cy="495300"/>
          </a:xfrm>
          <a:prstGeom prst="rect">
            <a:avLst/>
          </a:prstGeom>
          <a:noFill/>
          <a:ln w="0">
            <a:noFill/>
          </a:ln>
        </p:spPr>
        <p:txBody>
          <a:bodyPr>
            <a:noAutofit/>
          </a:bodyPr>
          <a:lstStyle/>
          <a:p>
            <a:pPr>
              <a:defRPr sz="1875" b="0">
                <a:solidFill>
                  <a:srgbClr val="596579"/>
                </a:solidFill>
                <a:latin typeface="DejaVu Sans"/>
                <a:ea typeface="DejaVu Sans"/>
                <a:cs typeface="DejaVu Sans"/>
              </a:defRPr>
            </a:pPr>
            <a:r>
              <a:rPr sz="1875" b="0">
                <a:solidFill>
                  <a:srgbClr val="596579"/>
                </a:solidFill>
                <a:latin typeface="DejaVu Sans"/>
                <a:ea typeface="DejaVu Sans"/>
                <a:cs typeface="DejaVu Sans"/>
              </a:rPr>
              <a:t>Recharts and an OLS regression engine</a:t>
            </a:r>
          </a:p>
        </p:txBody>
      </p:sp>
      <p:sp>
        <p:nvSpPr>
          <p:cNvPr id="12" name="Rectangle 11">
            <a:extLst>
              <a:ext uri="{FF2B5EF4-FFF2-40B4-BE49-F238E27FC236}">
                <a16:creationId xmlns:a16="http://schemas.microsoft.com/office/drawing/2014/main" id="{00000004-000C-4000-8000-000000000000}"/>
              </a:ext>
            </a:extLst>
          </p:cNvPr>
          <p:cNvSpPr>
            <a:spLocks noGrp="1"/>
          </p:cNvSpPr>
          <p:nvPr/>
        </p:nvSpPr>
        <p:spPr>
          <a:xfrm>
            <a:off x="800100" y="5400675"/>
            <a:ext cx="5905500" cy="342900"/>
          </a:xfrm>
          <a:prstGeom prst="rect">
            <a:avLst/>
          </a:prstGeom>
          <a:noFill/>
          <a:ln w="0">
            <a:noFill/>
          </a:ln>
        </p:spPr>
        <p:txBody>
          <a:bodyPr>
            <a:noAutofit/>
          </a:bodyPr>
          <a:lstStyle/>
          <a:p>
            <a:pPr>
              <a:defRPr sz="2025" b="1">
                <a:solidFill>
                  <a:srgbClr val="172033"/>
                </a:solidFill>
                <a:latin typeface="DejaVu Sans"/>
                <a:ea typeface="DejaVu Sans"/>
                <a:cs typeface="DejaVu Sans"/>
              </a:defRPr>
            </a:pPr>
            <a:r>
              <a:rPr sz="2025" b="1">
                <a:solidFill>
                  <a:srgbClr val="172033"/>
                </a:solidFill>
                <a:latin typeface="DejaVu Sans"/>
                <a:ea typeface="DejaVu Sans"/>
                <a:cs typeface="DejaVu Sans"/>
              </a:rPr>
              <a:t>Ingestion</a:t>
            </a:r>
          </a:p>
        </p:txBody>
      </p:sp>
      <p:sp>
        <p:nvSpPr>
          <p:cNvPr id="13" name="Rectangle 12">
            <a:extLst>
              <a:ext uri="{FF2B5EF4-FFF2-40B4-BE49-F238E27FC236}">
                <a16:creationId xmlns:a16="http://schemas.microsoft.com/office/drawing/2014/main" id="{00000004-000D-4000-8000-000000000000}"/>
              </a:ext>
            </a:extLst>
          </p:cNvPr>
          <p:cNvSpPr>
            <a:spLocks noGrp="1"/>
          </p:cNvSpPr>
          <p:nvPr/>
        </p:nvSpPr>
        <p:spPr>
          <a:xfrm>
            <a:off x="800100" y="5772150"/>
            <a:ext cx="6619875" cy="495300"/>
          </a:xfrm>
          <a:prstGeom prst="rect">
            <a:avLst/>
          </a:prstGeom>
          <a:noFill/>
          <a:ln w="0">
            <a:noFill/>
          </a:ln>
        </p:spPr>
        <p:txBody>
          <a:bodyPr>
            <a:noAutofit/>
          </a:bodyPr>
          <a:lstStyle/>
          <a:p>
            <a:pPr>
              <a:defRPr sz="1875" b="0">
                <a:solidFill>
                  <a:srgbClr val="596579"/>
                </a:solidFill>
                <a:latin typeface="DejaVu Sans"/>
                <a:ea typeface="DejaVu Sans"/>
                <a:cs typeface="DejaVu Sans"/>
              </a:defRPr>
            </a:pPr>
            <a:r>
              <a:rPr sz="1875" b="0">
                <a:solidFill>
                  <a:srgbClr val="596579"/>
                </a:solidFill>
                <a:latin typeface="DejaVu Sans"/>
                <a:ea typeface="DejaVu Sans"/>
                <a:cs typeface="DejaVu Sans"/>
              </a:rPr>
              <a:t>ExcelJS parsing of .xlsx / .xls uploads</a:t>
            </a:r>
          </a:p>
        </p:txBody>
      </p:sp>
      <p:sp>
        <p:nvSpPr>
          <p:cNvPr id="14" name="Rectangle 13">
            <a:extLst>
              <a:ext uri="{FF2B5EF4-FFF2-40B4-BE49-F238E27FC236}">
                <a16:creationId xmlns:a16="http://schemas.microsoft.com/office/drawing/2014/main" id="{00000004-000E-4000-8000-000000000000}"/>
              </a:ext>
            </a:extLst>
          </p:cNvPr>
          <p:cNvSpPr>
            <a:spLocks noGrp="1"/>
          </p:cNvSpPr>
          <p:nvPr/>
        </p:nvSpPr>
        <p:spPr>
          <a:xfrm>
            <a:off x="800100" y="6296025"/>
            <a:ext cx="5905500" cy="342900"/>
          </a:xfrm>
          <a:prstGeom prst="rect">
            <a:avLst/>
          </a:prstGeom>
          <a:noFill/>
          <a:ln w="0">
            <a:noFill/>
          </a:ln>
        </p:spPr>
        <p:txBody>
          <a:bodyPr>
            <a:noAutofit/>
          </a:bodyPr>
          <a:lstStyle/>
          <a:p>
            <a:pPr>
              <a:defRPr sz="2025" b="1">
                <a:solidFill>
                  <a:srgbClr val="172033"/>
                </a:solidFill>
                <a:latin typeface="DejaVu Sans"/>
                <a:ea typeface="DejaVu Sans"/>
                <a:cs typeface="DejaVu Sans"/>
              </a:defRPr>
            </a:pPr>
            <a:r>
              <a:rPr sz="2025" b="1">
                <a:solidFill>
                  <a:srgbClr val="172033"/>
                </a:solidFill>
                <a:latin typeface="DejaVu Sans"/>
                <a:ea typeface="DejaVu Sans"/>
                <a:cs typeface="DejaVu Sans"/>
              </a:rPr>
              <a:t>Authentication</a:t>
            </a:r>
          </a:p>
        </p:txBody>
      </p:sp>
      <p:sp>
        <p:nvSpPr>
          <p:cNvPr id="15" name="Rectangle 14">
            <a:extLst>
              <a:ext uri="{FF2B5EF4-FFF2-40B4-BE49-F238E27FC236}">
                <a16:creationId xmlns:a16="http://schemas.microsoft.com/office/drawing/2014/main" id="{00000004-000F-4000-8000-000000000000}"/>
              </a:ext>
            </a:extLst>
          </p:cNvPr>
          <p:cNvSpPr>
            <a:spLocks noGrp="1"/>
          </p:cNvSpPr>
          <p:nvPr/>
        </p:nvSpPr>
        <p:spPr>
          <a:xfrm>
            <a:off x="800100" y="6667500"/>
            <a:ext cx="6619875" cy="495300"/>
          </a:xfrm>
          <a:prstGeom prst="rect">
            <a:avLst/>
          </a:prstGeom>
          <a:noFill/>
          <a:ln w="0">
            <a:noFill/>
          </a:ln>
        </p:spPr>
        <p:txBody>
          <a:bodyPr>
            <a:noAutofit/>
          </a:bodyPr>
          <a:lstStyle/>
          <a:p>
            <a:pPr>
              <a:defRPr sz="1875" b="0">
                <a:solidFill>
                  <a:srgbClr val="596579"/>
                </a:solidFill>
                <a:latin typeface="DejaVu Sans"/>
                <a:ea typeface="DejaVu Sans"/>
                <a:cs typeface="DejaVu Sans"/>
              </a:defRPr>
            </a:pPr>
            <a:r>
              <a:rPr sz="1875" b="0">
                <a:solidFill>
                  <a:srgbClr val="596579"/>
                </a:solidFill>
                <a:latin typeface="DejaVu Sans"/>
                <a:ea typeface="DejaVu Sans"/>
                <a:cs typeface="DejaVu Sans"/>
              </a:rPr>
              <a:t>Session-based login and protected routes</a:t>
            </a:r>
          </a:p>
        </p:txBody>
      </p:sp>
      <p:sp>
        <p:nvSpPr>
          <p:cNvPr id="16" name="Rectangle 15">
            <a:extLst>
              <a:ext uri="{FF2B5EF4-FFF2-40B4-BE49-F238E27FC236}">
                <a16:creationId xmlns:a16="http://schemas.microsoft.com/office/drawing/2014/main" id="{00000004-0010-4000-8000-000000000000}"/>
              </a:ext>
            </a:extLst>
          </p:cNvPr>
          <p:cNvSpPr>
            <a:spLocks noGrp="1"/>
          </p:cNvSpPr>
          <p:nvPr/>
        </p:nvSpPr>
        <p:spPr>
          <a:xfrm>
            <a:off x="8058150" y="2066925"/>
            <a:ext cx="6429375" cy="428625"/>
          </a:xfrm>
          <a:prstGeom prst="rect">
            <a:avLst/>
          </a:prstGeom>
          <a:noFill/>
          <a:ln w="0">
            <a:noFill/>
          </a:ln>
        </p:spPr>
        <p:txBody>
          <a:bodyPr>
            <a:noAutofit/>
          </a:bodyPr>
          <a:lstStyle/>
          <a:p>
            <a:pPr>
              <a:defRPr sz="1800" b="1">
                <a:solidFill>
                  <a:srgbClr val="2454D6"/>
                </a:solidFill>
                <a:latin typeface="DejaVu Sans"/>
                <a:ea typeface="DejaVu Sans"/>
                <a:cs typeface="DejaVu Sans"/>
              </a:defRPr>
            </a:pPr>
            <a:r>
              <a:rPr sz="1800" b="1">
                <a:solidFill>
                  <a:srgbClr val="2454D6"/>
                </a:solidFill>
                <a:latin typeface="DejaVu Sans"/>
                <a:ea typeface="DejaVu Sans"/>
                <a:cs typeface="DejaVu Sans"/>
              </a:rPr>
              <a:t>DECOUPLED CLIENT &amp; SERVICES</a:t>
            </a:r>
          </a:p>
        </p:txBody>
      </p:sp>
      <p:sp>
        <p:nvSpPr>
          <p:cNvPr id="17" name="Rectangle 16">
            <a:extLst>
              <a:ext uri="{FF2B5EF4-FFF2-40B4-BE49-F238E27FC236}">
                <a16:creationId xmlns:a16="http://schemas.microsoft.com/office/drawing/2014/main" id="{00000004-0011-4000-8000-000000000000}"/>
              </a:ext>
            </a:extLst>
          </p:cNvPr>
          <p:cNvSpPr>
            <a:spLocks noGrp="1"/>
          </p:cNvSpPr>
          <p:nvPr/>
        </p:nvSpPr>
        <p:spPr>
          <a:xfrm>
            <a:off x="8058150" y="2686050"/>
            <a:ext cx="6381750" cy="3286125"/>
          </a:xfrm>
          <a:prstGeom prst="rect">
            <a:avLst/>
          </a:prstGeom>
          <a:solidFill>
            <a:srgbClr val="EAF0FC"/>
          </a:solidFill>
          <a:ln w="0">
            <a:noFill/>
          </a:ln>
        </p:spPr>
        <p:txBody>
          <a:bodyPr/>
          <a:lstStyle/>
          <a:p>
            <a:endParaRPr lang="en-US"/>
          </a:p>
        </p:txBody>
      </p:sp>
      <p:sp>
        <p:nvSpPr>
          <p:cNvPr id="18" name="Rectangle 17">
            <a:extLst>
              <a:ext uri="{FF2B5EF4-FFF2-40B4-BE49-F238E27FC236}">
                <a16:creationId xmlns:a16="http://schemas.microsoft.com/office/drawing/2014/main" id="{00000004-0012-4000-8000-000000000000}"/>
              </a:ext>
            </a:extLst>
          </p:cNvPr>
          <p:cNvSpPr>
            <a:spLocks noGrp="1"/>
          </p:cNvSpPr>
          <p:nvPr/>
        </p:nvSpPr>
        <p:spPr>
          <a:xfrm>
            <a:off x="8305800" y="2847975"/>
            <a:ext cx="5715000" cy="381000"/>
          </a:xfrm>
          <a:prstGeom prst="rect">
            <a:avLst/>
          </a:prstGeom>
          <a:noFill/>
          <a:ln w="0">
            <a:noFill/>
          </a:ln>
        </p:spPr>
        <p:txBody>
          <a:bodyPr>
            <a:noAutofit/>
          </a:bodyPr>
          <a:lstStyle/>
          <a:p>
            <a:pPr>
              <a:defRPr sz="2025" b="1">
                <a:solidFill>
                  <a:srgbClr val="2454D6"/>
                </a:solidFill>
                <a:latin typeface="DejaVu Sans"/>
                <a:ea typeface="DejaVu Sans"/>
                <a:cs typeface="DejaVu Sans"/>
              </a:defRPr>
            </a:pPr>
            <a:r>
              <a:rPr sz="2025" b="1">
                <a:solidFill>
                  <a:srgbClr val="2454D6"/>
                </a:solidFill>
                <a:latin typeface="DejaVu Sans"/>
                <a:ea typeface="DejaVu Sans"/>
                <a:cs typeface="DejaVu Sans"/>
              </a:rPr>
              <a:t>Next.js App</a:t>
            </a:r>
          </a:p>
        </p:txBody>
      </p:sp>
      <p:sp>
        <p:nvSpPr>
          <p:cNvPr id="19" name="Rectangle 18">
            <a:extLst>
              <a:ext uri="{FF2B5EF4-FFF2-40B4-BE49-F238E27FC236}">
                <a16:creationId xmlns:a16="http://schemas.microsoft.com/office/drawing/2014/main" id="{00000004-0013-4000-8000-000000000000}"/>
              </a:ext>
            </a:extLst>
          </p:cNvPr>
          <p:cNvSpPr>
            <a:spLocks noGrp="1"/>
          </p:cNvSpPr>
          <p:nvPr/>
        </p:nvSpPr>
        <p:spPr>
          <a:xfrm>
            <a:off x="8305800" y="3400425"/>
            <a:ext cx="3238500" cy="2076450"/>
          </a:xfrm>
          <a:prstGeom prst="rect">
            <a:avLst/>
          </a:prstGeom>
          <a:solidFill>
            <a:srgbClr val="EAF0FC"/>
          </a:solidFill>
          <a:ln w="0">
            <a:noFill/>
          </a:ln>
        </p:spPr>
        <p:txBody>
          <a:bodyPr/>
          <a:lstStyle/>
          <a:p>
            <a:endParaRPr lang="en-US"/>
          </a:p>
        </p:txBody>
      </p:sp>
      <p:sp>
        <p:nvSpPr>
          <p:cNvPr id="20" name="Rectangle 19">
            <a:extLst>
              <a:ext uri="{FF2B5EF4-FFF2-40B4-BE49-F238E27FC236}">
                <a16:creationId xmlns:a16="http://schemas.microsoft.com/office/drawing/2014/main" id="{00000004-0014-4000-8000-000000000000}"/>
              </a:ext>
            </a:extLst>
          </p:cNvPr>
          <p:cNvSpPr>
            <a:spLocks noGrp="1"/>
          </p:cNvSpPr>
          <p:nvPr/>
        </p:nvSpPr>
        <p:spPr>
          <a:xfrm>
            <a:off x="8496300" y="3543300"/>
            <a:ext cx="2857500" cy="1885950"/>
          </a:xfrm>
          <a:prstGeom prst="rect">
            <a:avLst/>
          </a:prstGeom>
          <a:noFill/>
          <a:ln w="0">
            <a:noFill/>
          </a:ln>
        </p:spPr>
        <p:txBody>
          <a:bodyPr>
            <a:noAutofit/>
          </a:bodyPr>
          <a:lstStyle/>
          <a:p>
            <a:pPr>
              <a:defRPr sz="1875" b="0">
                <a:solidFill>
                  <a:srgbClr val="172033"/>
                </a:solidFill>
                <a:latin typeface="DejaVu Sans"/>
                <a:ea typeface="DejaVu Sans"/>
                <a:cs typeface="DejaVu Sans"/>
              </a:defRPr>
            </a:pPr>
            <a:r>
              <a:rPr lang="en-US" sz="1875" b="0">
                <a:solidFill>
                  <a:srgbClr val="172033"/>
                </a:solidFill>
                <a:latin typeface="DejaVu Sans"/>
                <a:ea typeface="DejaVu Sans"/>
                <a:cs typeface="DejaVu Sans"/>
              </a:rPr>
              <a:t>Protected Pages</a:t>
            </a:r>
          </a:p>
          <a:p>
            <a:pPr>
              <a:defRPr sz="1875" b="0">
                <a:solidFill>
                  <a:srgbClr val="172033"/>
                </a:solidFill>
                <a:latin typeface="DejaVu Sans"/>
                <a:ea typeface="DejaVu Sans"/>
                <a:cs typeface="DejaVu Sans"/>
              </a:defRPr>
            </a:pPr>
            <a:r>
              <a:rPr lang="en-US" sz="1875" b="0">
                <a:solidFill>
                  <a:srgbClr val="172033"/>
                </a:solidFill>
                <a:latin typeface="DejaVu Sans"/>
                <a:ea typeface="DejaVu Sans"/>
                <a:cs typeface="DejaVu Sans"/>
              </a:rPr>
              <a:t>Dashboard, Dealers, Sales,</a:t>
            </a:r>
          </a:p>
          <a:p>
            <a:pPr>
              <a:defRPr sz="1875" b="0">
                <a:solidFill>
                  <a:srgbClr val="172033"/>
                </a:solidFill>
                <a:latin typeface="DejaVu Sans"/>
                <a:ea typeface="DejaVu Sans"/>
                <a:cs typeface="DejaVu Sans"/>
              </a:defRPr>
            </a:pPr>
            <a:r>
              <a:rPr lang="en-US" sz="1875" b="0">
                <a:solidFill>
                  <a:srgbClr val="172033"/>
                </a:solidFill>
                <a:latin typeface="DejaVu Sans"/>
                <a:ea typeface="DejaVu Sans"/>
                <a:cs typeface="DejaVu Sans"/>
              </a:rPr>
              <a:t>Communications, Company</a:t>
            </a:r>
          </a:p>
        </p:txBody>
      </p:sp>
      <p:sp>
        <p:nvSpPr>
          <p:cNvPr id="21" name="Rectangle 20">
            <a:extLst>
              <a:ext uri="{FF2B5EF4-FFF2-40B4-BE49-F238E27FC236}">
                <a16:creationId xmlns:a16="http://schemas.microsoft.com/office/drawing/2014/main" id="{00000004-0015-4000-8000-000000000000}"/>
              </a:ext>
            </a:extLst>
          </p:cNvPr>
          <p:cNvSpPr>
            <a:spLocks noGrp="1"/>
          </p:cNvSpPr>
          <p:nvPr/>
        </p:nvSpPr>
        <p:spPr>
          <a:xfrm>
            <a:off x="11906250" y="3467100"/>
            <a:ext cx="2257425" cy="819150"/>
          </a:xfrm>
          <a:prstGeom prst="rect">
            <a:avLst/>
          </a:prstGeom>
          <a:solidFill>
            <a:srgbClr val="EAF0FC"/>
          </a:solidFill>
          <a:ln w="0">
            <a:noFill/>
          </a:ln>
        </p:spPr>
        <p:txBody>
          <a:bodyPr/>
          <a:lstStyle/>
          <a:p>
            <a:endParaRPr lang="en-US"/>
          </a:p>
        </p:txBody>
      </p:sp>
      <p:sp>
        <p:nvSpPr>
          <p:cNvPr id="22" name="Rectangle 21">
            <a:extLst>
              <a:ext uri="{FF2B5EF4-FFF2-40B4-BE49-F238E27FC236}">
                <a16:creationId xmlns:a16="http://schemas.microsoft.com/office/drawing/2014/main" id="{00000004-0016-4000-8000-000000000000}"/>
              </a:ext>
            </a:extLst>
          </p:cNvPr>
          <p:cNvSpPr>
            <a:spLocks noGrp="1"/>
          </p:cNvSpPr>
          <p:nvPr/>
        </p:nvSpPr>
        <p:spPr>
          <a:xfrm>
            <a:off x="12096750" y="3609975"/>
            <a:ext cx="1876425" cy="628650"/>
          </a:xfrm>
          <a:prstGeom prst="rect">
            <a:avLst/>
          </a:prstGeom>
          <a:noFill/>
          <a:ln w="0">
            <a:noFill/>
          </a:ln>
        </p:spPr>
        <p:txBody>
          <a:bodyPr>
            <a:noAutofit/>
          </a:bodyPr>
          <a:lstStyle/>
          <a:p>
            <a:pPr>
              <a:defRPr sz="1875" b="0">
                <a:solidFill>
                  <a:srgbClr val="172033"/>
                </a:solidFill>
                <a:latin typeface="DejaVu Sans"/>
                <a:ea typeface="DejaVu Sans"/>
                <a:cs typeface="DejaVu Sans"/>
              </a:defRPr>
            </a:pPr>
            <a:r>
              <a:rPr lang="en-US" sz="1875" b="0">
                <a:solidFill>
                  <a:srgbClr val="172033"/>
                </a:solidFill>
                <a:latin typeface="DejaVu Sans"/>
                <a:ea typeface="DejaVu Sans"/>
                <a:cs typeface="DejaVu Sans"/>
              </a:rPr>
              <a:t>Redux Store</a:t>
            </a:r>
          </a:p>
        </p:txBody>
      </p:sp>
      <p:sp>
        <p:nvSpPr>
          <p:cNvPr id="23" name="Rectangle 22">
            <a:extLst>
              <a:ext uri="{FF2B5EF4-FFF2-40B4-BE49-F238E27FC236}">
                <a16:creationId xmlns:a16="http://schemas.microsoft.com/office/drawing/2014/main" id="{00000004-0017-4000-8000-000000000000}"/>
              </a:ext>
            </a:extLst>
          </p:cNvPr>
          <p:cNvSpPr>
            <a:spLocks noGrp="1"/>
          </p:cNvSpPr>
          <p:nvPr/>
        </p:nvSpPr>
        <p:spPr>
          <a:xfrm>
            <a:off x="11906250" y="4810125"/>
            <a:ext cx="2257425" cy="819150"/>
          </a:xfrm>
          <a:prstGeom prst="rect">
            <a:avLst/>
          </a:prstGeom>
          <a:solidFill>
            <a:srgbClr val="2454D6"/>
          </a:solidFill>
          <a:ln w="0">
            <a:noFill/>
          </a:ln>
        </p:spPr>
        <p:txBody>
          <a:bodyPr/>
          <a:lstStyle/>
          <a:p>
            <a:endParaRPr lang="en-US"/>
          </a:p>
        </p:txBody>
      </p:sp>
      <p:sp>
        <p:nvSpPr>
          <p:cNvPr id="24" name="Rectangle 23">
            <a:extLst>
              <a:ext uri="{FF2B5EF4-FFF2-40B4-BE49-F238E27FC236}">
                <a16:creationId xmlns:a16="http://schemas.microsoft.com/office/drawing/2014/main" id="{00000004-0018-4000-8000-000000000000}"/>
              </a:ext>
            </a:extLst>
          </p:cNvPr>
          <p:cNvSpPr>
            <a:spLocks noGrp="1"/>
          </p:cNvSpPr>
          <p:nvPr/>
        </p:nvSpPr>
        <p:spPr>
          <a:xfrm>
            <a:off x="12096750" y="4953000"/>
            <a:ext cx="1876425" cy="628650"/>
          </a:xfrm>
          <a:prstGeom prst="rect">
            <a:avLst/>
          </a:prstGeom>
          <a:noFill/>
          <a:ln w="0">
            <a:noFill/>
          </a:ln>
        </p:spPr>
        <p:txBody>
          <a:bodyPr>
            <a:noAutofit/>
          </a:bodyPr>
          <a:lstStyle/>
          <a:p>
            <a:pPr>
              <a:defRPr sz="1875" b="1">
                <a:solidFill>
                  <a:srgbClr val="FFFFFF"/>
                </a:solidFill>
                <a:latin typeface="DejaVu Sans"/>
                <a:ea typeface="DejaVu Sans"/>
                <a:cs typeface="DejaVu Sans"/>
              </a:defRPr>
            </a:pPr>
            <a:r>
              <a:rPr lang="en-US" sz="1875" b="1">
                <a:solidFill>
                  <a:srgbClr val="FFFFFF"/>
                </a:solidFill>
                <a:latin typeface="DejaVu Sans"/>
                <a:ea typeface="DejaVu Sans"/>
                <a:cs typeface="DejaVu Sans"/>
              </a:rPr>
              <a:t>Service Layer</a:t>
            </a:r>
          </a:p>
        </p:txBody>
      </p:sp>
      <p:sp>
        <p:nvSpPr>
          <p:cNvPr id="25" name="Straight Connector 24">
            <a:extLst>
              <a:ext uri="{FF2B5EF4-FFF2-40B4-BE49-F238E27FC236}">
                <a16:creationId xmlns:a16="http://schemas.microsoft.com/office/drawing/2014/main" id="{00000004-0019-4000-8000-000000000000}"/>
              </a:ext>
            </a:extLst>
          </p:cNvPr>
          <p:cNvSpPr>
            <a:spLocks noGrp="1"/>
          </p:cNvSpPr>
          <p:nvPr/>
        </p:nvSpPr>
        <p:spPr>
          <a:xfrm>
            <a:off x="11544300" y="3914775"/>
            <a:ext cx="361950" cy="0"/>
          </a:xfrm>
          <a:prstGeom prst="line">
            <a:avLst/>
          </a:prstGeom>
          <a:noFill/>
          <a:ln w="19050">
            <a:solidFill>
              <a:srgbClr val="2454D6"/>
            </a:solidFill>
          </a:ln>
        </p:spPr>
        <p:txBody>
          <a:bodyPr/>
          <a:lstStyle/>
          <a:p>
            <a:endParaRPr lang="en-US"/>
          </a:p>
        </p:txBody>
      </p:sp>
      <p:sp>
        <p:nvSpPr>
          <p:cNvPr id="26" name="Straight Connector 25">
            <a:extLst>
              <a:ext uri="{FF2B5EF4-FFF2-40B4-BE49-F238E27FC236}">
                <a16:creationId xmlns:a16="http://schemas.microsoft.com/office/drawing/2014/main" id="{00000004-001A-4000-8000-000000000000}"/>
              </a:ext>
            </a:extLst>
          </p:cNvPr>
          <p:cNvSpPr>
            <a:spLocks noGrp="1"/>
          </p:cNvSpPr>
          <p:nvPr/>
        </p:nvSpPr>
        <p:spPr>
          <a:xfrm>
            <a:off x="11544300" y="5219700"/>
            <a:ext cx="361950" cy="0"/>
          </a:xfrm>
          <a:prstGeom prst="line">
            <a:avLst/>
          </a:prstGeom>
          <a:noFill/>
          <a:ln w="19050">
            <a:solidFill>
              <a:srgbClr val="2454D6"/>
            </a:solidFill>
          </a:ln>
        </p:spPr>
        <p:txBody>
          <a:bodyPr/>
          <a:lstStyle/>
          <a:p>
            <a:endParaRPr lang="en-US"/>
          </a:p>
        </p:txBody>
      </p:sp>
      <p:sp>
        <p:nvSpPr>
          <p:cNvPr id="27" name="Straight Connector 26">
            <a:extLst>
              <a:ext uri="{FF2B5EF4-FFF2-40B4-BE49-F238E27FC236}">
                <a16:creationId xmlns:a16="http://schemas.microsoft.com/office/drawing/2014/main" id="{00000004-001B-4000-8000-000000000000}"/>
              </a:ext>
            </a:extLst>
          </p:cNvPr>
          <p:cNvSpPr>
            <a:spLocks noGrp="1"/>
          </p:cNvSpPr>
          <p:nvPr/>
        </p:nvSpPr>
        <p:spPr>
          <a:xfrm>
            <a:off x="13030200" y="5629275"/>
            <a:ext cx="0" cy="885825"/>
          </a:xfrm>
          <a:prstGeom prst="line">
            <a:avLst/>
          </a:prstGeom>
          <a:noFill/>
          <a:ln w="19050">
            <a:solidFill>
              <a:srgbClr val="2454D6"/>
            </a:solidFill>
          </a:ln>
        </p:spPr>
        <p:txBody>
          <a:bodyPr/>
          <a:lstStyle/>
          <a:p>
            <a:endParaRPr lang="en-US"/>
          </a:p>
        </p:txBody>
      </p:sp>
      <p:sp>
        <p:nvSpPr>
          <p:cNvPr id="28" name="Rectangle 27">
            <a:extLst>
              <a:ext uri="{FF2B5EF4-FFF2-40B4-BE49-F238E27FC236}">
                <a16:creationId xmlns:a16="http://schemas.microsoft.com/office/drawing/2014/main" id="{00000004-001C-4000-8000-000000000000}"/>
              </a:ext>
            </a:extLst>
          </p:cNvPr>
          <p:cNvSpPr>
            <a:spLocks noGrp="1"/>
          </p:cNvSpPr>
          <p:nvPr/>
        </p:nvSpPr>
        <p:spPr>
          <a:xfrm>
            <a:off x="9172575" y="6515100"/>
            <a:ext cx="5267325" cy="1000125"/>
          </a:xfrm>
          <a:prstGeom prst="rect">
            <a:avLst/>
          </a:prstGeom>
          <a:solidFill>
            <a:srgbClr val="EAF0FC"/>
          </a:solidFill>
          <a:ln w="0">
            <a:noFill/>
          </a:ln>
        </p:spPr>
        <p:txBody>
          <a:bodyPr/>
          <a:lstStyle/>
          <a:p>
            <a:endParaRPr lang="en-US"/>
          </a:p>
        </p:txBody>
      </p:sp>
      <p:sp>
        <p:nvSpPr>
          <p:cNvPr id="29" name="Rectangle 28">
            <a:extLst>
              <a:ext uri="{FF2B5EF4-FFF2-40B4-BE49-F238E27FC236}">
                <a16:creationId xmlns:a16="http://schemas.microsoft.com/office/drawing/2014/main" id="{00000004-001D-4000-8000-000000000000}"/>
              </a:ext>
            </a:extLst>
          </p:cNvPr>
          <p:cNvSpPr>
            <a:spLocks noGrp="1"/>
          </p:cNvSpPr>
          <p:nvPr/>
        </p:nvSpPr>
        <p:spPr>
          <a:xfrm>
            <a:off x="9363075" y="6657975"/>
            <a:ext cx="4886325" cy="809625"/>
          </a:xfrm>
          <a:prstGeom prst="rect">
            <a:avLst/>
          </a:prstGeom>
          <a:noFill/>
          <a:ln w="0">
            <a:noFill/>
          </a:ln>
        </p:spPr>
        <p:txBody>
          <a:bodyPr>
            <a:noAutofit/>
          </a:bodyPr>
          <a:lstStyle/>
          <a:p>
            <a:pPr>
              <a:defRPr sz="1875" b="0">
                <a:solidFill>
                  <a:srgbClr val="172033"/>
                </a:solidFill>
                <a:latin typeface="DejaVu Sans"/>
                <a:ea typeface="DejaVu Sans"/>
                <a:cs typeface="DejaVu Sans"/>
              </a:defRPr>
            </a:pPr>
            <a:r>
              <a:rPr lang="en-US" sz="1875" b="0">
                <a:solidFill>
                  <a:srgbClr val="172033"/>
                </a:solidFill>
                <a:latin typeface="DejaVu Sans"/>
                <a:ea typeface="DejaVu Sans"/>
                <a:cs typeface="DejaVu Sans"/>
              </a:rPr>
              <a:t>Backend API / ML Services</a:t>
            </a:r>
          </a:p>
          <a:p>
            <a:pPr>
              <a:defRPr sz="1875" b="0">
                <a:solidFill>
                  <a:srgbClr val="172033"/>
                </a:solidFill>
                <a:latin typeface="DejaVu Sans"/>
                <a:ea typeface="DejaVu Sans"/>
                <a:cs typeface="DejaVu Sans"/>
              </a:defRPr>
            </a:pPr>
            <a:r>
              <a:rPr lang="en-US" sz="1875" b="0">
                <a:solidFill>
                  <a:srgbClr val="172033"/>
                </a:solidFill>
                <a:latin typeface="DejaVu Sans"/>
                <a:ea typeface="DejaVu Sans"/>
                <a:cs typeface="DejaVu Sans"/>
              </a:rPr>
              <a:t>Future integration</a:t>
            </a:r>
          </a:p>
        </p:txBody>
      </p:sp>
      <p:sp>
        <p:nvSpPr>
          <p:cNvPr id="30" name="Rectangle 29">
            <a:extLst>
              <a:ext uri="{FF2B5EF4-FFF2-40B4-BE49-F238E27FC236}">
                <a16:creationId xmlns:a16="http://schemas.microsoft.com/office/drawing/2014/main" id="{00000004-001E-4000-8000-000000000000}"/>
              </a:ext>
            </a:extLst>
          </p:cNvPr>
          <p:cNvSpPr>
            <a:spLocks noGrp="1"/>
          </p:cNvSpPr>
          <p:nvPr/>
        </p:nvSpPr>
        <p:spPr>
          <a:xfrm>
            <a:off x="8058150" y="7572375"/>
            <a:ext cx="6381750" cy="419100"/>
          </a:xfrm>
          <a:prstGeom prst="rect">
            <a:avLst/>
          </a:prstGeom>
          <a:noFill/>
          <a:ln w="0">
            <a:noFill/>
          </a:ln>
        </p:spPr>
        <p:txBody>
          <a:bodyPr>
            <a:noAutofit/>
          </a:bodyPr>
          <a:lstStyle/>
          <a:p>
            <a:pPr>
              <a:defRPr sz="1500" b="0">
                <a:solidFill>
                  <a:srgbClr val="596579"/>
                </a:solidFill>
                <a:latin typeface="DejaVu Sans"/>
                <a:ea typeface="DejaVu Sans"/>
                <a:cs typeface="DejaVu Sans"/>
              </a:defRPr>
            </a:pPr>
            <a:r>
              <a:rPr sz="1500" b="0">
                <a:solidFill>
                  <a:srgbClr val="596579"/>
                </a:solidFill>
                <a:latin typeface="DejaVu Sans"/>
                <a:ea typeface="DejaVu Sans"/>
                <a:cs typeface="DejaVu Sans"/>
              </a:rPr>
              <a:t>Dealer, sales, communication and company services can move from mock data to live APIs.</a:t>
            </a:r>
          </a:p>
        </p:txBody>
      </p:sp>
    </p:spTree>
    <p:extLst>
      <p:ext uri="{BB962C8B-B14F-4D97-AF65-F5344CB8AC3E}">
        <p14:creationId xmlns:p14="http://schemas.microsoft.com/office/powerpoint/2010/main" val="40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000005-0001-4000-8000-000000000000}"/>
              </a:ext>
            </a:extLst>
          </p:cNvPr>
          <p:cNvSpPr>
            <a:spLocks noGrp="1"/>
          </p:cNvSpPr>
          <p:nvPr/>
        </p:nvSpPr>
        <p:spPr>
          <a:xfrm>
            <a:off x="800100" y="628650"/>
            <a:ext cx="13620750" cy="819150"/>
          </a:xfrm>
          <a:prstGeom prst="rect">
            <a:avLst/>
          </a:prstGeom>
          <a:noFill/>
          <a:ln w="0">
            <a:noFill/>
          </a:ln>
        </p:spPr>
        <p:txBody>
          <a:bodyPr>
            <a:noAutofit/>
          </a:bodyPr>
          <a:lstStyle/>
          <a:p>
            <a:pPr>
              <a:defRPr sz="4050" b="1">
                <a:solidFill>
                  <a:srgbClr val="172033"/>
                </a:solidFill>
                <a:latin typeface="DejaVu Sans"/>
                <a:ea typeface="DejaVu Sans"/>
                <a:cs typeface="DejaVu Sans"/>
              </a:defRPr>
            </a:pPr>
            <a:r>
              <a:rPr sz="4050" b="1">
                <a:solidFill>
                  <a:srgbClr val="172033"/>
                </a:solidFill>
                <a:latin typeface="DejaVu Sans"/>
                <a:ea typeface="DejaVu Sans"/>
                <a:cs typeface="DejaVu Sans"/>
              </a:rPr>
              <a:t>Core modules delivered today</a:t>
            </a:r>
          </a:p>
        </p:txBody>
      </p:sp>
      <p:sp>
        <p:nvSpPr>
          <p:cNvPr id="2" name="Rectangle 1">
            <a:extLst>
              <a:ext uri="{FF2B5EF4-FFF2-40B4-BE49-F238E27FC236}">
                <a16:creationId xmlns:a16="http://schemas.microsoft.com/office/drawing/2014/main" id="{00000005-0002-4000-8000-000000000000}"/>
              </a:ext>
            </a:extLst>
          </p:cNvPr>
          <p:cNvSpPr>
            <a:spLocks noGrp="1"/>
          </p:cNvSpPr>
          <p:nvPr/>
        </p:nvSpPr>
        <p:spPr>
          <a:xfrm>
            <a:off x="800100" y="1647825"/>
            <a:ext cx="13639800" cy="19050"/>
          </a:xfrm>
          <a:prstGeom prst="rect">
            <a:avLst/>
          </a:prstGeom>
          <a:solidFill>
            <a:srgbClr val="D7DFEC"/>
          </a:solidFill>
          <a:ln w="0">
            <a:noFill/>
          </a:ln>
        </p:spPr>
        <p:txBody>
          <a:bodyPr/>
          <a:lstStyle/>
          <a:p>
            <a:endParaRPr lang="en-US"/>
          </a:p>
        </p:txBody>
      </p:sp>
      <p:sp>
        <p:nvSpPr>
          <p:cNvPr id="3" name="Rectangle 2">
            <a:extLst>
              <a:ext uri="{FF2B5EF4-FFF2-40B4-BE49-F238E27FC236}">
                <a16:creationId xmlns:a16="http://schemas.microsoft.com/office/drawing/2014/main" id="{00000005-0003-4000-8000-000000000000}"/>
              </a:ext>
            </a:extLst>
          </p:cNvPr>
          <p:cNvSpPr>
            <a:spLocks noGrp="1"/>
          </p:cNvSpPr>
          <p:nvPr/>
        </p:nvSpPr>
        <p:spPr>
          <a:xfrm>
            <a:off x="800100" y="8039100"/>
            <a:ext cx="5715000" cy="285750"/>
          </a:xfrm>
          <a:prstGeom prst="rect">
            <a:avLst/>
          </a:prstGeom>
          <a:noFill/>
          <a:ln w="0">
            <a:noFill/>
          </a:ln>
        </p:spPr>
        <p:txBody>
          <a:bodyPr>
            <a:noAutofit/>
          </a:bodyPr>
          <a:lstStyle/>
          <a:p>
            <a:pPr>
              <a:defRPr sz="1350" b="1">
                <a:solidFill>
                  <a:srgbClr val="596579"/>
                </a:solidFill>
                <a:latin typeface="DejaVu Sans"/>
                <a:ea typeface="DejaVu Sans"/>
                <a:cs typeface="DejaVu Sans"/>
              </a:defRPr>
            </a:pPr>
            <a:r>
              <a:rPr sz="1350" b="1">
                <a:solidFill>
                  <a:srgbClr val="596579"/>
                </a:solidFill>
                <a:latin typeface="DejaVu Sans"/>
                <a:ea typeface="DejaVu Sans"/>
                <a:cs typeface="DejaVu Sans"/>
              </a:rPr>
              <a:t>LEDORA AI</a:t>
            </a:r>
          </a:p>
        </p:txBody>
      </p:sp>
      <p:sp>
        <p:nvSpPr>
          <p:cNvPr id="4" name="Rectangle 3">
            <a:extLst>
              <a:ext uri="{FF2B5EF4-FFF2-40B4-BE49-F238E27FC236}">
                <a16:creationId xmlns:a16="http://schemas.microsoft.com/office/drawing/2014/main" id="{00000005-0004-4000-8000-000000000000}"/>
              </a:ext>
            </a:extLst>
          </p:cNvPr>
          <p:cNvSpPr>
            <a:spLocks noGrp="1"/>
          </p:cNvSpPr>
          <p:nvPr/>
        </p:nvSpPr>
        <p:spPr>
          <a:xfrm>
            <a:off x="13811250" y="8010525"/>
            <a:ext cx="619125" cy="304800"/>
          </a:xfrm>
          <a:prstGeom prst="rect">
            <a:avLst/>
          </a:prstGeom>
          <a:noFill/>
          <a:ln w="0">
            <a:noFill/>
          </a:ln>
        </p:spPr>
        <p:txBody>
          <a:bodyPr>
            <a:noAutofit/>
          </a:bodyPr>
          <a:lstStyle/>
          <a:p>
            <a:pPr>
              <a:defRPr sz="1500" b="0">
                <a:solidFill>
                  <a:srgbClr val="596579"/>
                </a:solidFill>
                <a:latin typeface="DejaVu Sans"/>
                <a:ea typeface="DejaVu Sans"/>
                <a:cs typeface="DejaVu Sans"/>
              </a:defRPr>
            </a:pPr>
            <a:r>
              <a:rPr sz="1500" b="0">
                <a:solidFill>
                  <a:srgbClr val="596579"/>
                </a:solidFill>
                <a:latin typeface="DejaVu Sans"/>
                <a:ea typeface="DejaVu Sans"/>
                <a:cs typeface="DejaVu Sans"/>
              </a:rPr>
              <a:t>05</a:t>
            </a:r>
          </a:p>
        </p:txBody>
      </p:sp>
      <p:sp>
        <p:nvSpPr>
          <p:cNvPr id="5" name="Rectangle 4">
            <a:extLst>
              <a:ext uri="{FF2B5EF4-FFF2-40B4-BE49-F238E27FC236}">
                <a16:creationId xmlns:a16="http://schemas.microsoft.com/office/drawing/2014/main" id="{00000005-0005-4000-8000-000000000000}"/>
              </a:ext>
            </a:extLst>
          </p:cNvPr>
          <p:cNvSpPr>
            <a:spLocks noGrp="1"/>
          </p:cNvSpPr>
          <p:nvPr/>
        </p:nvSpPr>
        <p:spPr>
          <a:xfrm>
            <a:off x="800100" y="1990725"/>
            <a:ext cx="13639800" cy="590550"/>
          </a:xfrm>
          <a:prstGeom prst="rect">
            <a:avLst/>
          </a:prstGeom>
          <a:noFill/>
          <a:ln w="0">
            <a:noFill/>
          </a:ln>
        </p:spPr>
        <p:txBody>
          <a:bodyPr>
            <a:noAutofit/>
          </a:bodyPr>
          <a:lstStyle/>
          <a:p>
            <a:pPr>
              <a:defRPr sz="2400" b="0">
                <a:solidFill>
                  <a:srgbClr val="596579"/>
                </a:solidFill>
                <a:latin typeface="DejaVu Sans"/>
                <a:ea typeface="DejaVu Sans"/>
                <a:cs typeface="DejaVu Sans"/>
              </a:defRPr>
            </a:pPr>
            <a:r>
              <a:rPr sz="2400" b="0">
                <a:solidFill>
                  <a:srgbClr val="596579"/>
                </a:solidFill>
                <a:latin typeface="DejaVu Sans"/>
                <a:ea typeface="DejaVu Sans"/>
                <a:cs typeface="DejaVu Sans"/>
              </a:rPr>
              <a:t>Six modules connect lead discovery, sales analysis and outreach.</a:t>
            </a:r>
          </a:p>
        </p:txBody>
      </p:sp>
      <p:graphicFrame>
        <p:nvGraphicFramePr>
          <p:cNvPr id="6" name="Table 5"/>
          <p:cNvGraphicFramePr/>
          <p:nvPr/>
        </p:nvGraphicFramePr>
        <p:xfrm>
          <a:off x="800100" y="2952750"/>
          <a:ext cx="13639800" cy="4688840"/>
        </p:xfrm>
        <a:graphic>
          <a:graphicData uri="http://schemas.openxmlformats.org/drawingml/2006/table">
            <a:tbl>
              <a:tblPr/>
              <a:tblGrid>
                <a:gridCol w="3143250">
                  <a:extLst>
                    <a:ext uri="{9D8B030D-6E8A-4147-A177-3AD203B41FA5}">
                      <a16:colId xmlns:a16="http://schemas.microsoft.com/office/drawing/2014/main" val="20000"/>
                    </a:ext>
                  </a:extLst>
                </a:gridCol>
                <a:gridCol w="10496550">
                  <a:extLst>
                    <a:ext uri="{9D8B030D-6E8A-4147-A177-3AD203B41FA5}">
                      <a16:colId xmlns:a16="http://schemas.microsoft.com/office/drawing/2014/main" val="20001"/>
                    </a:ext>
                  </a:extLst>
                </a:gridCol>
              </a:tblGrid>
              <a:tr h="514350">
                <a:tc>
                  <a:txBody>
                    <a:bodyPr/>
                    <a:lstStyle/>
                    <a:p>
                      <a:r>
                        <a:rPr sz="2025" b="1">
                          <a:solidFill>
                            <a:srgbClr val="FFFFFF"/>
                          </a:solidFill>
                          <a:latin typeface="DejaVu Sans"/>
                          <a:ea typeface="DejaVu Sans"/>
                          <a:cs typeface="DejaVu Sans"/>
                        </a:rPr>
                        <a:t>Module</a:t>
                      </a:r>
                    </a:p>
                  </a:txBody>
                  <a:tcPr>
                    <a:solidFill>
                      <a:srgbClr val="2454D6"/>
                    </a:solidFill>
                  </a:tcPr>
                </a:tc>
                <a:tc>
                  <a:txBody>
                    <a:bodyPr/>
                    <a:lstStyle/>
                    <a:p>
                      <a:r>
                        <a:rPr sz="2025" b="1">
                          <a:solidFill>
                            <a:srgbClr val="FFFFFF"/>
                          </a:solidFill>
                          <a:latin typeface="DejaVu Sans"/>
                          <a:ea typeface="DejaVu Sans"/>
                          <a:cs typeface="DejaVu Sans"/>
                        </a:rPr>
                        <a:t>What it does</a:t>
                      </a:r>
                    </a:p>
                  </a:txBody>
                  <a:tcPr>
                    <a:solidFill>
                      <a:srgbClr val="2454D6"/>
                    </a:solidFill>
                  </a:tcPr>
                </a:tc>
                <a:extLst>
                  <a:ext uri="{0D108BD9-81ED-4DB2-BD59-A6C34878D82A}">
                    <a16:rowId xmlns:a16="http://schemas.microsoft.com/office/drawing/2014/main" val="10000"/>
                  </a:ext>
                </a:extLst>
              </a:tr>
              <a:tr h="669925">
                <a:tc>
                  <a:txBody>
                    <a:bodyPr/>
                    <a:lstStyle/>
                    <a:p>
                      <a:r>
                        <a:rPr sz="2025" b="1">
                          <a:solidFill>
                            <a:srgbClr val="172033"/>
                          </a:solidFill>
                          <a:latin typeface="DejaVu Sans"/>
                          <a:ea typeface="DejaVu Sans"/>
                          <a:cs typeface="DejaVu Sans"/>
                        </a:rPr>
                        <a:t>Dashboard</a:t>
                      </a:r>
                    </a:p>
                  </a:txBody>
                  <a:tcPr>
                    <a:solidFill>
                      <a:srgbClr val="FFFFFF"/>
                    </a:solidFill>
                  </a:tcPr>
                </a:tc>
                <a:tc>
                  <a:txBody>
                    <a:bodyPr/>
                    <a:lstStyle/>
                    <a:p>
                      <a:r>
                        <a:rPr sz="2025" b="0">
                          <a:solidFill>
                            <a:srgbClr val="172033"/>
                          </a:solidFill>
                          <a:latin typeface="DejaVu Sans"/>
                          <a:ea typeface="DejaVu Sans"/>
                          <a:cs typeface="DejaVu Sans"/>
                        </a:rPr>
                        <a:t>KPIs for total / active dealers, countries, regions and messages, plus recent activity</a:t>
                      </a:r>
                    </a:p>
                  </a:txBody>
                  <a:tcPr>
                    <a:solidFill>
                      <a:srgbClr val="FFFFFF"/>
                    </a:solidFill>
                  </a:tcPr>
                </a:tc>
                <a:extLst>
                  <a:ext uri="{0D108BD9-81ED-4DB2-BD59-A6C34878D82A}">
                    <a16:rowId xmlns:a16="http://schemas.microsoft.com/office/drawing/2014/main" val="10001"/>
                  </a:ext>
                </a:extLst>
              </a:tr>
              <a:tr h="669925">
                <a:tc>
                  <a:txBody>
                    <a:bodyPr/>
                    <a:lstStyle/>
                    <a:p>
                      <a:r>
                        <a:rPr sz="2025" b="1">
                          <a:solidFill>
                            <a:srgbClr val="172033"/>
                          </a:solidFill>
                          <a:latin typeface="DejaVu Sans"/>
                          <a:ea typeface="DejaVu Sans"/>
                          <a:cs typeface="DejaVu Sans"/>
                        </a:rPr>
                        <a:t>Leads / Dealers</a:t>
                      </a:r>
                    </a:p>
                  </a:txBody>
                  <a:tcPr>
                    <a:solidFill>
                      <a:srgbClr val="F5F7FC"/>
                    </a:solidFill>
                  </a:tcPr>
                </a:tc>
                <a:tc>
                  <a:txBody>
                    <a:bodyPr/>
                    <a:lstStyle/>
                    <a:p>
                      <a:r>
                        <a:rPr sz="2025" b="0">
                          <a:solidFill>
                            <a:srgbClr val="172033"/>
                          </a:solidFill>
                          <a:latin typeface="DejaVu Sans"/>
                          <a:ea typeface="DejaVu Sans"/>
                          <a:cs typeface="DejaVu Sans"/>
                        </a:rPr>
                        <a:t>Search and filter dealers, open detailed profiles, and review contact history and activity</a:t>
                      </a:r>
                    </a:p>
                  </a:txBody>
                  <a:tcPr>
                    <a:solidFill>
                      <a:srgbClr val="F5F7FC"/>
                    </a:solidFill>
                  </a:tcPr>
                </a:tc>
                <a:extLst>
                  <a:ext uri="{0D108BD9-81ED-4DB2-BD59-A6C34878D82A}">
                    <a16:rowId xmlns:a16="http://schemas.microsoft.com/office/drawing/2014/main" val="10002"/>
                  </a:ext>
                </a:extLst>
              </a:tr>
              <a:tr h="669925">
                <a:tc>
                  <a:txBody>
                    <a:bodyPr/>
                    <a:lstStyle/>
                    <a:p>
                      <a:r>
                        <a:rPr sz="2025" b="1">
                          <a:solidFill>
                            <a:srgbClr val="172033"/>
                          </a:solidFill>
                          <a:latin typeface="DejaVu Sans"/>
                          <a:ea typeface="DejaVu Sans"/>
                          <a:cs typeface="DejaVu Sans"/>
                        </a:rPr>
                        <a:t>Sales Analytics</a:t>
                      </a:r>
                    </a:p>
                  </a:txBody>
                  <a:tcPr>
                    <a:solidFill>
                      <a:srgbClr val="FFFFFF"/>
                    </a:solidFill>
                  </a:tcPr>
                </a:tc>
                <a:tc>
                  <a:txBody>
                    <a:bodyPr/>
                    <a:lstStyle/>
                    <a:p>
                      <a:r>
                        <a:rPr sz="2025" b="0">
                          <a:solidFill>
                            <a:srgbClr val="172033"/>
                          </a:solidFill>
                          <a:latin typeface="DejaVu Sans"/>
                          <a:ea typeface="DejaVu Sans"/>
                          <a:cs typeface="DejaVu Sans"/>
                        </a:rPr>
                        <a:t>Upload sales data and view totals and trends by country, product and month</a:t>
                      </a:r>
                    </a:p>
                  </a:txBody>
                  <a:tcPr>
                    <a:solidFill>
                      <a:srgbClr val="FFFFFF"/>
                    </a:solidFill>
                  </a:tcPr>
                </a:tc>
                <a:extLst>
                  <a:ext uri="{0D108BD9-81ED-4DB2-BD59-A6C34878D82A}">
                    <a16:rowId xmlns:a16="http://schemas.microsoft.com/office/drawing/2014/main" val="10003"/>
                  </a:ext>
                </a:extLst>
              </a:tr>
              <a:tr h="669925">
                <a:tc>
                  <a:txBody>
                    <a:bodyPr/>
                    <a:lstStyle/>
                    <a:p>
                      <a:r>
                        <a:rPr sz="2025" b="1">
                          <a:solidFill>
                            <a:srgbClr val="172033"/>
                          </a:solidFill>
                          <a:latin typeface="DejaVu Sans"/>
                          <a:ea typeface="DejaVu Sans"/>
                          <a:cs typeface="DejaVu Sans"/>
                        </a:rPr>
                        <a:t>AI Sales Forecast</a:t>
                      </a:r>
                    </a:p>
                  </a:txBody>
                  <a:tcPr>
                    <a:solidFill>
                      <a:srgbClr val="F5F7FC"/>
                    </a:solidFill>
                  </a:tcPr>
                </a:tc>
                <a:tc>
                  <a:txBody>
                    <a:bodyPr/>
                    <a:lstStyle/>
                    <a:p>
                      <a:r>
                        <a:rPr sz="2025" b="0">
                          <a:solidFill>
                            <a:srgbClr val="172033"/>
                          </a:solidFill>
                          <a:latin typeface="DejaVu Sans"/>
                          <a:ea typeface="DejaVu Sans"/>
                          <a:cs typeface="DejaVu Sans"/>
                        </a:rPr>
                        <a:t>Project revenue and quantity for the next 3 months using historical-trend regression</a:t>
                      </a:r>
                    </a:p>
                  </a:txBody>
                  <a:tcPr>
                    <a:solidFill>
                      <a:srgbClr val="F5F7FC"/>
                    </a:solidFill>
                  </a:tcPr>
                </a:tc>
                <a:extLst>
                  <a:ext uri="{0D108BD9-81ED-4DB2-BD59-A6C34878D82A}">
                    <a16:rowId xmlns:a16="http://schemas.microsoft.com/office/drawing/2014/main" val="10004"/>
                  </a:ext>
                </a:extLst>
              </a:tr>
              <a:tr h="669925">
                <a:tc>
                  <a:txBody>
                    <a:bodyPr/>
                    <a:lstStyle/>
                    <a:p>
                      <a:r>
                        <a:rPr sz="2025" b="1">
                          <a:solidFill>
                            <a:srgbClr val="172033"/>
                          </a:solidFill>
                          <a:latin typeface="DejaVu Sans"/>
                          <a:ea typeface="DejaVu Sans"/>
                          <a:cs typeface="DejaVu Sans"/>
                        </a:rPr>
                        <a:t>Communications</a:t>
                      </a:r>
                    </a:p>
                  </a:txBody>
                  <a:tcPr>
                    <a:solidFill>
                      <a:srgbClr val="FFFFFF"/>
                    </a:solidFill>
                  </a:tcPr>
                </a:tc>
                <a:tc>
                  <a:txBody>
                    <a:bodyPr/>
                    <a:lstStyle/>
                    <a:p>
                      <a:r>
                        <a:rPr sz="2025" b="0">
                          <a:solidFill>
                            <a:srgbClr val="172033"/>
                          </a:solidFill>
                          <a:latin typeface="DejaVu Sans"/>
                          <a:ea typeface="DejaVu Sans"/>
                          <a:cs typeface="DejaVu Sans"/>
                        </a:rPr>
                        <a:t>Log Email / Message / Call / Meeting activity per dealer with a send-and-track workflow</a:t>
                      </a:r>
                    </a:p>
                  </a:txBody>
                  <a:tcPr>
                    <a:solidFill>
                      <a:srgbClr val="FFFFFF"/>
                    </a:solidFill>
                  </a:tcPr>
                </a:tc>
                <a:extLst>
                  <a:ext uri="{0D108BD9-81ED-4DB2-BD59-A6C34878D82A}">
                    <a16:rowId xmlns:a16="http://schemas.microsoft.com/office/drawing/2014/main" val="10005"/>
                  </a:ext>
                </a:extLst>
              </a:tr>
              <a:tr h="669925">
                <a:tc>
                  <a:txBody>
                    <a:bodyPr/>
                    <a:lstStyle/>
                    <a:p>
                      <a:r>
                        <a:rPr sz="2025" b="1">
                          <a:solidFill>
                            <a:srgbClr val="172033"/>
                          </a:solidFill>
                          <a:latin typeface="DejaVu Sans"/>
                          <a:ea typeface="DejaVu Sans"/>
                          <a:cs typeface="DejaVu Sans"/>
                        </a:rPr>
                        <a:t>Company Profile</a:t>
                      </a:r>
                    </a:p>
                  </a:txBody>
                  <a:tcPr>
                    <a:solidFill>
                      <a:srgbClr val="F5F7FC"/>
                    </a:solidFill>
                  </a:tcPr>
                </a:tc>
                <a:tc>
                  <a:txBody>
                    <a:bodyPr/>
                    <a:lstStyle/>
                    <a:p>
                      <a:r>
                        <a:rPr sz="2025" b="0">
                          <a:solidFill>
                            <a:srgbClr val="172033"/>
                          </a:solidFill>
                          <a:latin typeface="DejaVu Sans"/>
                          <a:ea typeface="DejaVu Sans"/>
                          <a:cs typeface="DejaVu Sans"/>
                        </a:rPr>
                        <a:t>Centralize organization details and sector / sub-sector reference data</a:t>
                      </a:r>
                    </a:p>
                  </a:txBody>
                  <a:tcPr>
                    <a:solidFill>
                      <a:srgbClr val="F5F7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00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0000006-0001-4000-8000-000000000000}"/>
              </a:ext>
            </a:extLst>
          </p:cNvPr>
          <p:cNvSpPr>
            <a:spLocks noGrp="1"/>
          </p:cNvSpPr>
          <p:nvPr/>
        </p:nvSpPr>
        <p:spPr>
          <a:xfrm>
            <a:off x="800100" y="628650"/>
            <a:ext cx="13620750" cy="819150"/>
          </a:xfrm>
          <a:prstGeom prst="rect">
            <a:avLst/>
          </a:prstGeom>
          <a:noFill/>
          <a:ln w="0">
            <a:noFill/>
          </a:ln>
        </p:spPr>
        <p:txBody>
          <a:bodyPr>
            <a:noAutofit/>
          </a:bodyPr>
          <a:lstStyle/>
          <a:p>
            <a:pPr>
              <a:defRPr sz="4050" b="1">
                <a:solidFill>
                  <a:srgbClr val="172033"/>
                </a:solidFill>
                <a:latin typeface="DejaVu Sans"/>
                <a:ea typeface="DejaVu Sans"/>
                <a:cs typeface="DejaVu Sans"/>
              </a:defRPr>
            </a:pPr>
            <a:r>
              <a:rPr sz="4050" b="1">
                <a:solidFill>
                  <a:srgbClr val="172033"/>
                </a:solidFill>
                <a:latin typeface="DejaVu Sans"/>
                <a:ea typeface="DejaVu Sans"/>
                <a:cs typeface="DejaVu Sans"/>
              </a:rPr>
              <a:t>Lead targeting &amp; segmentation</a:t>
            </a:r>
          </a:p>
        </p:txBody>
      </p:sp>
      <p:sp>
        <p:nvSpPr>
          <p:cNvPr id="2" name="Rectangle 1">
            <a:extLst>
              <a:ext uri="{FF2B5EF4-FFF2-40B4-BE49-F238E27FC236}">
                <a16:creationId xmlns:a16="http://schemas.microsoft.com/office/drawing/2014/main" id="{00000006-0002-4000-8000-000000000000}"/>
              </a:ext>
            </a:extLst>
          </p:cNvPr>
          <p:cNvSpPr>
            <a:spLocks noGrp="1"/>
          </p:cNvSpPr>
          <p:nvPr/>
        </p:nvSpPr>
        <p:spPr>
          <a:xfrm>
            <a:off x="800100" y="1647825"/>
            <a:ext cx="13639800" cy="19050"/>
          </a:xfrm>
          <a:prstGeom prst="rect">
            <a:avLst/>
          </a:prstGeom>
          <a:solidFill>
            <a:srgbClr val="D7DFEC"/>
          </a:solidFill>
          <a:ln w="0">
            <a:noFill/>
          </a:ln>
        </p:spPr>
        <p:txBody>
          <a:bodyPr/>
          <a:lstStyle/>
          <a:p>
            <a:endParaRPr lang="en-US"/>
          </a:p>
        </p:txBody>
      </p:sp>
      <p:sp>
        <p:nvSpPr>
          <p:cNvPr id="3" name="Rectangle 2">
            <a:extLst>
              <a:ext uri="{FF2B5EF4-FFF2-40B4-BE49-F238E27FC236}">
                <a16:creationId xmlns:a16="http://schemas.microsoft.com/office/drawing/2014/main" id="{00000006-0003-4000-8000-000000000000}"/>
              </a:ext>
            </a:extLst>
          </p:cNvPr>
          <p:cNvSpPr>
            <a:spLocks noGrp="1"/>
          </p:cNvSpPr>
          <p:nvPr/>
        </p:nvSpPr>
        <p:spPr>
          <a:xfrm>
            <a:off x="800100" y="8039100"/>
            <a:ext cx="5715000" cy="285750"/>
          </a:xfrm>
          <a:prstGeom prst="rect">
            <a:avLst/>
          </a:prstGeom>
          <a:noFill/>
          <a:ln w="0">
            <a:noFill/>
          </a:ln>
        </p:spPr>
        <p:txBody>
          <a:bodyPr>
            <a:noAutofit/>
          </a:bodyPr>
          <a:lstStyle/>
          <a:p>
            <a:pPr>
              <a:defRPr sz="1350" b="1">
                <a:solidFill>
                  <a:srgbClr val="596579"/>
                </a:solidFill>
                <a:latin typeface="DejaVu Sans"/>
                <a:ea typeface="DejaVu Sans"/>
                <a:cs typeface="DejaVu Sans"/>
              </a:defRPr>
            </a:pPr>
            <a:r>
              <a:rPr sz="1350" b="1">
                <a:solidFill>
                  <a:srgbClr val="596579"/>
                </a:solidFill>
                <a:latin typeface="DejaVu Sans"/>
                <a:ea typeface="DejaVu Sans"/>
                <a:cs typeface="DejaVu Sans"/>
              </a:rPr>
              <a:t>LEDORA AI</a:t>
            </a:r>
          </a:p>
        </p:txBody>
      </p:sp>
      <p:sp>
        <p:nvSpPr>
          <p:cNvPr id="4" name="Rectangle 3">
            <a:extLst>
              <a:ext uri="{FF2B5EF4-FFF2-40B4-BE49-F238E27FC236}">
                <a16:creationId xmlns:a16="http://schemas.microsoft.com/office/drawing/2014/main" id="{00000006-0004-4000-8000-000000000000}"/>
              </a:ext>
            </a:extLst>
          </p:cNvPr>
          <p:cNvSpPr>
            <a:spLocks noGrp="1"/>
          </p:cNvSpPr>
          <p:nvPr/>
        </p:nvSpPr>
        <p:spPr>
          <a:xfrm>
            <a:off x="13811250" y="8010525"/>
            <a:ext cx="619125" cy="304800"/>
          </a:xfrm>
          <a:prstGeom prst="rect">
            <a:avLst/>
          </a:prstGeom>
          <a:noFill/>
          <a:ln w="0">
            <a:noFill/>
          </a:ln>
        </p:spPr>
        <p:txBody>
          <a:bodyPr>
            <a:noAutofit/>
          </a:bodyPr>
          <a:lstStyle/>
          <a:p>
            <a:pPr>
              <a:defRPr sz="1500" b="0">
                <a:solidFill>
                  <a:srgbClr val="596579"/>
                </a:solidFill>
                <a:latin typeface="DejaVu Sans"/>
                <a:ea typeface="DejaVu Sans"/>
                <a:cs typeface="DejaVu Sans"/>
              </a:defRPr>
            </a:pPr>
            <a:r>
              <a:rPr sz="1500" b="0">
                <a:solidFill>
                  <a:srgbClr val="596579"/>
                </a:solidFill>
                <a:latin typeface="DejaVu Sans"/>
                <a:ea typeface="DejaVu Sans"/>
                <a:cs typeface="DejaVu Sans"/>
              </a:rPr>
              <a:t>06</a:t>
            </a:r>
          </a:p>
        </p:txBody>
      </p:sp>
      <p:sp>
        <p:nvSpPr>
          <p:cNvPr id="5" name="Rectangle 4">
            <a:extLst>
              <a:ext uri="{FF2B5EF4-FFF2-40B4-BE49-F238E27FC236}">
                <a16:creationId xmlns:a16="http://schemas.microsoft.com/office/drawing/2014/main" id="{00000006-0005-4000-8000-000000000000}"/>
              </a:ext>
            </a:extLst>
          </p:cNvPr>
          <p:cNvSpPr>
            <a:spLocks noGrp="1"/>
          </p:cNvSpPr>
          <p:nvPr/>
        </p:nvSpPr>
        <p:spPr>
          <a:xfrm>
            <a:off x="800100" y="1990725"/>
            <a:ext cx="13639800" cy="647700"/>
          </a:xfrm>
          <a:prstGeom prst="rect">
            <a:avLst/>
          </a:prstGeom>
          <a:noFill/>
          <a:ln w="0">
            <a:noFill/>
          </a:ln>
        </p:spPr>
        <p:txBody>
          <a:bodyPr>
            <a:noAutofit/>
          </a:bodyPr>
          <a:lstStyle/>
          <a:p>
            <a:pPr>
              <a:defRPr sz="2400" b="0">
                <a:solidFill>
                  <a:srgbClr val="596579"/>
                </a:solidFill>
                <a:latin typeface="DejaVu Sans"/>
                <a:ea typeface="DejaVu Sans"/>
                <a:cs typeface="DejaVu Sans"/>
              </a:defRPr>
            </a:pPr>
            <a:r>
              <a:rPr sz="2400" b="0">
                <a:solidFill>
                  <a:srgbClr val="596579"/>
                </a:solidFill>
                <a:latin typeface="DejaVu Sans"/>
                <a:ea typeface="DejaVu Sans"/>
                <a:cs typeface="DejaVu Sans"/>
              </a:rPr>
              <a:t>The Dealers module gives sales teams a clear path from search to outreach.</a:t>
            </a:r>
          </a:p>
        </p:txBody>
      </p:sp>
      <p:sp>
        <p:nvSpPr>
          <p:cNvPr id="6" name="Rectangle 5">
            <a:extLst>
              <a:ext uri="{FF2B5EF4-FFF2-40B4-BE49-F238E27FC236}">
                <a16:creationId xmlns:a16="http://schemas.microsoft.com/office/drawing/2014/main" id="{00000006-0006-4000-8000-000000000000}"/>
              </a:ext>
            </a:extLst>
          </p:cNvPr>
          <p:cNvSpPr>
            <a:spLocks noGrp="1"/>
          </p:cNvSpPr>
          <p:nvPr/>
        </p:nvSpPr>
        <p:spPr>
          <a:xfrm>
            <a:off x="800100" y="3086100"/>
            <a:ext cx="838200" cy="533400"/>
          </a:xfrm>
          <a:prstGeom prst="rect">
            <a:avLst/>
          </a:prstGeom>
          <a:noFill/>
          <a:ln w="0">
            <a:noFill/>
          </a:ln>
        </p:spPr>
        <p:txBody>
          <a:bodyPr>
            <a:noAutofit/>
          </a:bodyPr>
          <a:lstStyle/>
          <a:p>
            <a:pPr>
              <a:defRPr sz="2850" b="1">
                <a:solidFill>
                  <a:srgbClr val="2454D6"/>
                </a:solidFill>
                <a:latin typeface="DejaVu Sans"/>
                <a:ea typeface="DejaVu Sans"/>
                <a:cs typeface="DejaVu Sans"/>
              </a:defRPr>
            </a:pPr>
            <a:r>
              <a:rPr sz="2850" b="1">
                <a:solidFill>
                  <a:srgbClr val="2454D6"/>
                </a:solidFill>
                <a:latin typeface="DejaVu Sans"/>
                <a:ea typeface="DejaVu Sans"/>
                <a:cs typeface="DejaVu Sans"/>
              </a:rPr>
              <a:t>01</a:t>
            </a:r>
          </a:p>
        </p:txBody>
      </p:sp>
      <p:sp>
        <p:nvSpPr>
          <p:cNvPr id="7" name="Rectangle 6">
            <a:extLst>
              <a:ext uri="{FF2B5EF4-FFF2-40B4-BE49-F238E27FC236}">
                <a16:creationId xmlns:a16="http://schemas.microsoft.com/office/drawing/2014/main" id="{00000006-0007-4000-8000-000000000000}"/>
              </a:ext>
            </a:extLst>
          </p:cNvPr>
          <p:cNvSpPr>
            <a:spLocks noGrp="1"/>
          </p:cNvSpPr>
          <p:nvPr/>
        </p:nvSpPr>
        <p:spPr>
          <a:xfrm>
            <a:off x="1866900" y="3086100"/>
            <a:ext cx="2238375" cy="533400"/>
          </a:xfrm>
          <a:prstGeom prst="rect">
            <a:avLst/>
          </a:prstGeom>
          <a:noFill/>
          <a:ln w="0">
            <a:noFill/>
          </a:ln>
        </p:spPr>
        <p:txBody>
          <a:bodyPr>
            <a:noAutofit/>
          </a:bodyPr>
          <a:lstStyle/>
          <a:p>
            <a:pPr>
              <a:defRPr sz="2475" b="1">
                <a:solidFill>
                  <a:srgbClr val="172033"/>
                </a:solidFill>
                <a:latin typeface="DejaVu Sans"/>
                <a:ea typeface="DejaVu Sans"/>
                <a:cs typeface="DejaVu Sans"/>
              </a:defRPr>
            </a:pPr>
            <a:r>
              <a:rPr sz="2475" b="1">
                <a:solidFill>
                  <a:srgbClr val="172033"/>
                </a:solidFill>
                <a:latin typeface="DejaVu Sans"/>
                <a:ea typeface="DejaVu Sans"/>
                <a:cs typeface="DejaVu Sans"/>
              </a:rPr>
              <a:t>Search</a:t>
            </a:r>
          </a:p>
        </p:txBody>
      </p:sp>
      <p:sp>
        <p:nvSpPr>
          <p:cNvPr id="8" name="Rectangle 7">
            <a:extLst>
              <a:ext uri="{FF2B5EF4-FFF2-40B4-BE49-F238E27FC236}">
                <a16:creationId xmlns:a16="http://schemas.microsoft.com/office/drawing/2014/main" id="{00000006-0008-4000-8000-000000000000}"/>
              </a:ext>
            </a:extLst>
          </p:cNvPr>
          <p:cNvSpPr>
            <a:spLocks noGrp="1"/>
          </p:cNvSpPr>
          <p:nvPr/>
        </p:nvSpPr>
        <p:spPr>
          <a:xfrm>
            <a:off x="4629150" y="3086100"/>
            <a:ext cx="9620250" cy="771525"/>
          </a:xfrm>
          <a:prstGeom prst="rect">
            <a:avLst/>
          </a:prstGeom>
          <a:noFill/>
          <a:ln w="0">
            <a:noFill/>
          </a:ln>
        </p:spPr>
        <p:txBody>
          <a:bodyPr>
            <a:noAutofit/>
          </a:bodyPr>
          <a:lstStyle/>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Full-text search across dealer, company, city, contact and email</a:t>
            </a:r>
          </a:p>
        </p:txBody>
      </p:sp>
      <p:sp>
        <p:nvSpPr>
          <p:cNvPr id="9" name="Straight Connector 8">
            <a:extLst>
              <a:ext uri="{FF2B5EF4-FFF2-40B4-BE49-F238E27FC236}">
                <a16:creationId xmlns:a16="http://schemas.microsoft.com/office/drawing/2014/main" id="{00000006-0009-4000-8000-000000000000}"/>
              </a:ext>
            </a:extLst>
          </p:cNvPr>
          <p:cNvSpPr>
            <a:spLocks noGrp="1"/>
          </p:cNvSpPr>
          <p:nvPr/>
        </p:nvSpPr>
        <p:spPr>
          <a:xfrm>
            <a:off x="1866900" y="3962400"/>
            <a:ext cx="12382500" cy="0"/>
          </a:xfrm>
          <a:prstGeom prst="line">
            <a:avLst/>
          </a:prstGeom>
          <a:noFill/>
          <a:ln w="19050">
            <a:solidFill>
              <a:srgbClr val="D7DFEC"/>
            </a:solidFill>
          </a:ln>
        </p:spPr>
        <p:txBody>
          <a:bodyPr/>
          <a:lstStyle/>
          <a:p>
            <a:endParaRPr lang="en-US"/>
          </a:p>
        </p:txBody>
      </p:sp>
      <p:sp>
        <p:nvSpPr>
          <p:cNvPr id="10" name="Rectangle 9">
            <a:extLst>
              <a:ext uri="{FF2B5EF4-FFF2-40B4-BE49-F238E27FC236}">
                <a16:creationId xmlns:a16="http://schemas.microsoft.com/office/drawing/2014/main" id="{00000006-000A-4000-8000-000000000000}"/>
              </a:ext>
            </a:extLst>
          </p:cNvPr>
          <p:cNvSpPr>
            <a:spLocks noGrp="1"/>
          </p:cNvSpPr>
          <p:nvPr/>
        </p:nvSpPr>
        <p:spPr>
          <a:xfrm>
            <a:off x="800100" y="4124325"/>
            <a:ext cx="838200" cy="533400"/>
          </a:xfrm>
          <a:prstGeom prst="rect">
            <a:avLst/>
          </a:prstGeom>
          <a:noFill/>
          <a:ln w="0">
            <a:noFill/>
          </a:ln>
        </p:spPr>
        <p:txBody>
          <a:bodyPr>
            <a:noAutofit/>
          </a:bodyPr>
          <a:lstStyle/>
          <a:p>
            <a:pPr>
              <a:defRPr sz="2850" b="1">
                <a:solidFill>
                  <a:srgbClr val="2454D6"/>
                </a:solidFill>
                <a:latin typeface="DejaVu Sans"/>
                <a:ea typeface="DejaVu Sans"/>
                <a:cs typeface="DejaVu Sans"/>
              </a:defRPr>
            </a:pPr>
            <a:r>
              <a:rPr sz="2850" b="1">
                <a:solidFill>
                  <a:srgbClr val="2454D6"/>
                </a:solidFill>
                <a:latin typeface="DejaVu Sans"/>
                <a:ea typeface="DejaVu Sans"/>
                <a:cs typeface="DejaVu Sans"/>
              </a:rPr>
              <a:t>02</a:t>
            </a:r>
          </a:p>
        </p:txBody>
      </p:sp>
      <p:sp>
        <p:nvSpPr>
          <p:cNvPr id="11" name="Rectangle 10">
            <a:extLst>
              <a:ext uri="{FF2B5EF4-FFF2-40B4-BE49-F238E27FC236}">
                <a16:creationId xmlns:a16="http://schemas.microsoft.com/office/drawing/2014/main" id="{00000006-000B-4000-8000-000000000000}"/>
              </a:ext>
            </a:extLst>
          </p:cNvPr>
          <p:cNvSpPr>
            <a:spLocks noGrp="1"/>
          </p:cNvSpPr>
          <p:nvPr/>
        </p:nvSpPr>
        <p:spPr>
          <a:xfrm>
            <a:off x="1866900" y="4124325"/>
            <a:ext cx="2238375" cy="533400"/>
          </a:xfrm>
          <a:prstGeom prst="rect">
            <a:avLst/>
          </a:prstGeom>
          <a:noFill/>
          <a:ln w="0">
            <a:noFill/>
          </a:ln>
        </p:spPr>
        <p:txBody>
          <a:bodyPr>
            <a:noAutofit/>
          </a:bodyPr>
          <a:lstStyle/>
          <a:p>
            <a:pPr>
              <a:defRPr sz="2475" b="1">
                <a:solidFill>
                  <a:srgbClr val="172033"/>
                </a:solidFill>
                <a:latin typeface="DejaVu Sans"/>
                <a:ea typeface="DejaVu Sans"/>
                <a:cs typeface="DejaVu Sans"/>
              </a:defRPr>
            </a:pPr>
            <a:r>
              <a:rPr sz="2475" b="1">
                <a:solidFill>
                  <a:srgbClr val="172033"/>
                </a:solidFill>
                <a:latin typeface="DejaVu Sans"/>
                <a:ea typeface="DejaVu Sans"/>
                <a:cs typeface="DejaVu Sans"/>
              </a:rPr>
              <a:t>Segment</a:t>
            </a:r>
          </a:p>
        </p:txBody>
      </p:sp>
      <p:sp>
        <p:nvSpPr>
          <p:cNvPr id="12" name="Rectangle 11">
            <a:extLst>
              <a:ext uri="{FF2B5EF4-FFF2-40B4-BE49-F238E27FC236}">
                <a16:creationId xmlns:a16="http://schemas.microsoft.com/office/drawing/2014/main" id="{00000006-000C-4000-8000-000000000000}"/>
              </a:ext>
            </a:extLst>
          </p:cNvPr>
          <p:cNvSpPr>
            <a:spLocks noGrp="1"/>
          </p:cNvSpPr>
          <p:nvPr/>
        </p:nvSpPr>
        <p:spPr>
          <a:xfrm>
            <a:off x="4629150" y="4124325"/>
            <a:ext cx="9620250" cy="771525"/>
          </a:xfrm>
          <a:prstGeom prst="rect">
            <a:avLst/>
          </a:prstGeom>
          <a:noFill/>
          <a:ln w="0">
            <a:noFill/>
          </a:ln>
        </p:spPr>
        <p:txBody>
          <a:bodyPr>
            <a:noAutofit/>
          </a:bodyPr>
          <a:lstStyle/>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Multi-select Country / Region, Sector / Sub-sector, Status and Dealer Type</a:t>
            </a:r>
          </a:p>
        </p:txBody>
      </p:sp>
      <p:sp>
        <p:nvSpPr>
          <p:cNvPr id="13" name="Straight Connector 12">
            <a:extLst>
              <a:ext uri="{FF2B5EF4-FFF2-40B4-BE49-F238E27FC236}">
                <a16:creationId xmlns:a16="http://schemas.microsoft.com/office/drawing/2014/main" id="{00000006-000D-4000-8000-000000000000}"/>
              </a:ext>
            </a:extLst>
          </p:cNvPr>
          <p:cNvSpPr>
            <a:spLocks noGrp="1"/>
          </p:cNvSpPr>
          <p:nvPr/>
        </p:nvSpPr>
        <p:spPr>
          <a:xfrm>
            <a:off x="1866900" y="5000625"/>
            <a:ext cx="12382500" cy="0"/>
          </a:xfrm>
          <a:prstGeom prst="line">
            <a:avLst/>
          </a:prstGeom>
          <a:noFill/>
          <a:ln w="19050">
            <a:solidFill>
              <a:srgbClr val="D7DFEC"/>
            </a:solidFill>
          </a:ln>
        </p:spPr>
        <p:txBody>
          <a:bodyPr/>
          <a:lstStyle/>
          <a:p>
            <a:endParaRPr lang="en-US"/>
          </a:p>
        </p:txBody>
      </p:sp>
      <p:sp>
        <p:nvSpPr>
          <p:cNvPr id="14" name="Rectangle 13">
            <a:extLst>
              <a:ext uri="{FF2B5EF4-FFF2-40B4-BE49-F238E27FC236}">
                <a16:creationId xmlns:a16="http://schemas.microsoft.com/office/drawing/2014/main" id="{00000006-000E-4000-8000-000000000000}"/>
              </a:ext>
            </a:extLst>
          </p:cNvPr>
          <p:cNvSpPr>
            <a:spLocks noGrp="1"/>
          </p:cNvSpPr>
          <p:nvPr/>
        </p:nvSpPr>
        <p:spPr>
          <a:xfrm>
            <a:off x="800100" y="5162550"/>
            <a:ext cx="838200" cy="533400"/>
          </a:xfrm>
          <a:prstGeom prst="rect">
            <a:avLst/>
          </a:prstGeom>
          <a:noFill/>
          <a:ln w="0">
            <a:noFill/>
          </a:ln>
        </p:spPr>
        <p:txBody>
          <a:bodyPr>
            <a:noAutofit/>
          </a:bodyPr>
          <a:lstStyle/>
          <a:p>
            <a:pPr>
              <a:defRPr sz="2850" b="1">
                <a:solidFill>
                  <a:srgbClr val="2454D6"/>
                </a:solidFill>
                <a:latin typeface="DejaVu Sans"/>
                <a:ea typeface="DejaVu Sans"/>
                <a:cs typeface="DejaVu Sans"/>
              </a:defRPr>
            </a:pPr>
            <a:r>
              <a:rPr sz="2850" b="1">
                <a:solidFill>
                  <a:srgbClr val="2454D6"/>
                </a:solidFill>
                <a:latin typeface="DejaVu Sans"/>
                <a:ea typeface="DejaVu Sans"/>
                <a:cs typeface="DejaVu Sans"/>
              </a:rPr>
              <a:t>03</a:t>
            </a:r>
          </a:p>
        </p:txBody>
      </p:sp>
      <p:sp>
        <p:nvSpPr>
          <p:cNvPr id="15" name="Rectangle 14">
            <a:extLst>
              <a:ext uri="{FF2B5EF4-FFF2-40B4-BE49-F238E27FC236}">
                <a16:creationId xmlns:a16="http://schemas.microsoft.com/office/drawing/2014/main" id="{00000006-000F-4000-8000-000000000000}"/>
              </a:ext>
            </a:extLst>
          </p:cNvPr>
          <p:cNvSpPr>
            <a:spLocks noGrp="1"/>
          </p:cNvSpPr>
          <p:nvPr/>
        </p:nvSpPr>
        <p:spPr>
          <a:xfrm>
            <a:off x="1866900" y="5162550"/>
            <a:ext cx="2238375" cy="533400"/>
          </a:xfrm>
          <a:prstGeom prst="rect">
            <a:avLst/>
          </a:prstGeom>
          <a:noFill/>
          <a:ln w="0">
            <a:noFill/>
          </a:ln>
        </p:spPr>
        <p:txBody>
          <a:bodyPr>
            <a:noAutofit/>
          </a:bodyPr>
          <a:lstStyle/>
          <a:p>
            <a:pPr>
              <a:defRPr sz="2475" b="1">
                <a:solidFill>
                  <a:srgbClr val="172033"/>
                </a:solidFill>
                <a:latin typeface="DejaVu Sans"/>
                <a:ea typeface="DejaVu Sans"/>
                <a:cs typeface="DejaVu Sans"/>
              </a:defRPr>
            </a:pPr>
            <a:r>
              <a:rPr sz="2475" b="1">
                <a:solidFill>
                  <a:srgbClr val="172033"/>
                </a:solidFill>
                <a:latin typeface="DejaVu Sans"/>
                <a:ea typeface="DejaVu Sans"/>
                <a:cs typeface="DejaVu Sans"/>
              </a:rPr>
              <a:t>Review</a:t>
            </a:r>
          </a:p>
        </p:txBody>
      </p:sp>
      <p:sp>
        <p:nvSpPr>
          <p:cNvPr id="16" name="Rectangle 15">
            <a:extLst>
              <a:ext uri="{FF2B5EF4-FFF2-40B4-BE49-F238E27FC236}">
                <a16:creationId xmlns:a16="http://schemas.microsoft.com/office/drawing/2014/main" id="{00000006-0010-4000-8000-000000000000}"/>
              </a:ext>
            </a:extLst>
          </p:cNvPr>
          <p:cNvSpPr>
            <a:spLocks noGrp="1"/>
          </p:cNvSpPr>
          <p:nvPr/>
        </p:nvSpPr>
        <p:spPr>
          <a:xfrm>
            <a:off x="4629150" y="5162550"/>
            <a:ext cx="9620250" cy="771525"/>
          </a:xfrm>
          <a:prstGeom prst="rect">
            <a:avLst/>
          </a:prstGeom>
          <a:noFill/>
          <a:ln w="0">
            <a:noFill/>
          </a:ln>
        </p:spPr>
        <p:txBody>
          <a:bodyPr>
            <a:noAutofit/>
          </a:bodyPr>
          <a:lstStyle/>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Contact details, products, verification date and full communication / activity history</a:t>
            </a:r>
          </a:p>
        </p:txBody>
      </p:sp>
      <p:sp>
        <p:nvSpPr>
          <p:cNvPr id="17" name="Straight Connector 16">
            <a:extLst>
              <a:ext uri="{FF2B5EF4-FFF2-40B4-BE49-F238E27FC236}">
                <a16:creationId xmlns:a16="http://schemas.microsoft.com/office/drawing/2014/main" id="{00000006-0011-4000-8000-000000000000}"/>
              </a:ext>
            </a:extLst>
          </p:cNvPr>
          <p:cNvSpPr>
            <a:spLocks noGrp="1"/>
          </p:cNvSpPr>
          <p:nvPr/>
        </p:nvSpPr>
        <p:spPr>
          <a:xfrm>
            <a:off x="1866900" y="6038850"/>
            <a:ext cx="12382500" cy="0"/>
          </a:xfrm>
          <a:prstGeom prst="line">
            <a:avLst/>
          </a:prstGeom>
          <a:noFill/>
          <a:ln w="19050">
            <a:solidFill>
              <a:srgbClr val="D7DFEC"/>
            </a:solidFill>
          </a:ln>
        </p:spPr>
        <p:txBody>
          <a:bodyPr/>
          <a:lstStyle/>
          <a:p>
            <a:endParaRPr lang="en-US"/>
          </a:p>
        </p:txBody>
      </p:sp>
      <p:sp>
        <p:nvSpPr>
          <p:cNvPr id="18" name="Rectangle 17">
            <a:extLst>
              <a:ext uri="{FF2B5EF4-FFF2-40B4-BE49-F238E27FC236}">
                <a16:creationId xmlns:a16="http://schemas.microsoft.com/office/drawing/2014/main" id="{00000006-0012-4000-8000-000000000000}"/>
              </a:ext>
            </a:extLst>
          </p:cNvPr>
          <p:cNvSpPr>
            <a:spLocks noGrp="1"/>
          </p:cNvSpPr>
          <p:nvPr/>
        </p:nvSpPr>
        <p:spPr>
          <a:xfrm>
            <a:off x="800100" y="6200775"/>
            <a:ext cx="838200" cy="533400"/>
          </a:xfrm>
          <a:prstGeom prst="rect">
            <a:avLst/>
          </a:prstGeom>
          <a:noFill/>
          <a:ln w="0">
            <a:noFill/>
          </a:ln>
        </p:spPr>
        <p:txBody>
          <a:bodyPr>
            <a:noAutofit/>
          </a:bodyPr>
          <a:lstStyle/>
          <a:p>
            <a:pPr>
              <a:defRPr sz="2850" b="1">
                <a:solidFill>
                  <a:srgbClr val="2454D6"/>
                </a:solidFill>
                <a:latin typeface="DejaVu Sans"/>
                <a:ea typeface="DejaVu Sans"/>
                <a:cs typeface="DejaVu Sans"/>
              </a:defRPr>
            </a:pPr>
            <a:r>
              <a:rPr sz="2850" b="1">
                <a:solidFill>
                  <a:srgbClr val="2454D6"/>
                </a:solidFill>
                <a:latin typeface="DejaVu Sans"/>
                <a:ea typeface="DejaVu Sans"/>
                <a:cs typeface="DejaVu Sans"/>
              </a:rPr>
              <a:t>04</a:t>
            </a:r>
          </a:p>
        </p:txBody>
      </p:sp>
      <p:sp>
        <p:nvSpPr>
          <p:cNvPr id="19" name="Rectangle 18">
            <a:extLst>
              <a:ext uri="{FF2B5EF4-FFF2-40B4-BE49-F238E27FC236}">
                <a16:creationId xmlns:a16="http://schemas.microsoft.com/office/drawing/2014/main" id="{00000006-0013-4000-8000-000000000000}"/>
              </a:ext>
            </a:extLst>
          </p:cNvPr>
          <p:cNvSpPr>
            <a:spLocks noGrp="1"/>
          </p:cNvSpPr>
          <p:nvPr/>
        </p:nvSpPr>
        <p:spPr>
          <a:xfrm>
            <a:off x="1866900" y="6200775"/>
            <a:ext cx="2238375" cy="533400"/>
          </a:xfrm>
          <a:prstGeom prst="rect">
            <a:avLst/>
          </a:prstGeom>
          <a:noFill/>
          <a:ln w="0">
            <a:noFill/>
          </a:ln>
        </p:spPr>
        <p:txBody>
          <a:bodyPr>
            <a:noAutofit/>
          </a:bodyPr>
          <a:lstStyle/>
          <a:p>
            <a:pPr>
              <a:defRPr sz="2475" b="1">
                <a:solidFill>
                  <a:srgbClr val="172033"/>
                </a:solidFill>
                <a:latin typeface="DejaVu Sans"/>
                <a:ea typeface="DejaVu Sans"/>
                <a:cs typeface="DejaVu Sans"/>
              </a:defRPr>
            </a:pPr>
            <a:r>
              <a:rPr sz="2475" b="1">
                <a:solidFill>
                  <a:srgbClr val="172033"/>
                </a:solidFill>
                <a:latin typeface="DejaVu Sans"/>
                <a:ea typeface="DejaVu Sans"/>
                <a:cs typeface="DejaVu Sans"/>
              </a:rPr>
              <a:t>Reach out</a:t>
            </a:r>
          </a:p>
        </p:txBody>
      </p:sp>
      <p:sp>
        <p:nvSpPr>
          <p:cNvPr id="20" name="Rectangle 19">
            <a:extLst>
              <a:ext uri="{FF2B5EF4-FFF2-40B4-BE49-F238E27FC236}">
                <a16:creationId xmlns:a16="http://schemas.microsoft.com/office/drawing/2014/main" id="{00000006-0014-4000-8000-000000000000}"/>
              </a:ext>
            </a:extLst>
          </p:cNvPr>
          <p:cNvSpPr>
            <a:spLocks noGrp="1"/>
          </p:cNvSpPr>
          <p:nvPr/>
        </p:nvSpPr>
        <p:spPr>
          <a:xfrm>
            <a:off x="4629150" y="6200775"/>
            <a:ext cx="9620250" cy="771525"/>
          </a:xfrm>
          <a:prstGeom prst="rect">
            <a:avLst/>
          </a:prstGeom>
          <a:noFill/>
          <a:ln w="0">
            <a:noFill/>
          </a:ln>
        </p:spPr>
        <p:txBody>
          <a:bodyPr>
            <a:noAutofit/>
          </a:bodyPr>
          <a:lstStyle/>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One-click Email, Message or Call from the dealer profile or list</a:t>
            </a:r>
          </a:p>
        </p:txBody>
      </p:sp>
      <p:sp>
        <p:nvSpPr>
          <p:cNvPr id="21" name="Rectangle 20">
            <a:extLst>
              <a:ext uri="{FF2B5EF4-FFF2-40B4-BE49-F238E27FC236}">
                <a16:creationId xmlns:a16="http://schemas.microsoft.com/office/drawing/2014/main" id="{00000006-0015-4000-8000-000000000000}"/>
              </a:ext>
            </a:extLst>
          </p:cNvPr>
          <p:cNvSpPr>
            <a:spLocks noGrp="1"/>
          </p:cNvSpPr>
          <p:nvPr/>
        </p:nvSpPr>
        <p:spPr>
          <a:xfrm>
            <a:off x="800100" y="7515225"/>
            <a:ext cx="13639800" cy="38100"/>
          </a:xfrm>
          <a:prstGeom prst="rect">
            <a:avLst/>
          </a:prstGeom>
          <a:solidFill>
            <a:srgbClr val="2454D6"/>
          </a:solidFill>
          <a:ln w="0">
            <a:noFill/>
          </a:ln>
        </p:spPr>
        <p:txBody>
          <a:bodyPr/>
          <a:lstStyle/>
          <a:p>
            <a:endParaRPr lang="en-US"/>
          </a:p>
        </p:txBody>
      </p:sp>
      <p:sp>
        <p:nvSpPr>
          <p:cNvPr id="22" name="Rectangle 21">
            <a:extLst>
              <a:ext uri="{FF2B5EF4-FFF2-40B4-BE49-F238E27FC236}">
                <a16:creationId xmlns:a16="http://schemas.microsoft.com/office/drawing/2014/main" id="{00000006-0016-4000-8000-000000000000}"/>
              </a:ext>
            </a:extLst>
          </p:cNvPr>
          <p:cNvSpPr>
            <a:spLocks noGrp="1"/>
          </p:cNvSpPr>
          <p:nvPr/>
        </p:nvSpPr>
        <p:spPr>
          <a:xfrm>
            <a:off x="800100" y="7000875"/>
            <a:ext cx="13639800" cy="447675"/>
          </a:xfrm>
          <a:prstGeom prst="rect">
            <a:avLst/>
          </a:prstGeom>
          <a:noFill/>
          <a:ln w="0">
            <a:noFill/>
          </a:ln>
        </p:spPr>
        <p:txBody>
          <a:bodyPr>
            <a:noAutofit/>
          </a:bodyPr>
          <a:lstStyle/>
          <a:p>
            <a:pPr>
              <a:defRPr sz="2100" b="1">
                <a:solidFill>
                  <a:srgbClr val="2454D6"/>
                </a:solidFill>
                <a:latin typeface="DejaVu Sans"/>
                <a:ea typeface="DejaVu Sans"/>
                <a:cs typeface="DejaVu Sans"/>
              </a:defRPr>
            </a:pPr>
            <a:r>
              <a:rPr sz="2100" b="1">
                <a:solidFill>
                  <a:srgbClr val="2454D6"/>
                </a:solidFill>
                <a:latin typeface="DejaVu Sans"/>
                <a:ea typeface="DejaVu Sans"/>
                <a:cs typeface="DejaVu Sans"/>
              </a:rPr>
              <a:t>Faceted counts show each segment’s size before the team acts.</a:t>
            </a:r>
          </a:p>
        </p:txBody>
      </p:sp>
    </p:spTree>
    <p:extLst>
      <p:ext uri="{BB962C8B-B14F-4D97-AF65-F5344CB8AC3E}">
        <p14:creationId xmlns:p14="http://schemas.microsoft.com/office/powerpoint/2010/main" val="600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0000007-0001-4000-8000-000000000000}"/>
              </a:ext>
            </a:extLst>
          </p:cNvPr>
          <p:cNvSpPr>
            <a:spLocks noGrp="1"/>
          </p:cNvSpPr>
          <p:nvPr/>
        </p:nvSpPr>
        <p:spPr>
          <a:xfrm>
            <a:off x="800100" y="628650"/>
            <a:ext cx="13620750" cy="819150"/>
          </a:xfrm>
          <a:prstGeom prst="rect">
            <a:avLst/>
          </a:prstGeom>
          <a:noFill/>
          <a:ln w="0">
            <a:noFill/>
          </a:ln>
        </p:spPr>
        <p:txBody>
          <a:bodyPr>
            <a:noAutofit/>
          </a:bodyPr>
          <a:lstStyle/>
          <a:p>
            <a:pPr>
              <a:defRPr sz="4050" b="1">
                <a:solidFill>
                  <a:srgbClr val="172033"/>
                </a:solidFill>
                <a:latin typeface="DejaVu Sans"/>
                <a:ea typeface="DejaVu Sans"/>
                <a:cs typeface="DejaVu Sans"/>
              </a:defRPr>
            </a:pPr>
            <a:r>
              <a:rPr sz="4050" b="1">
                <a:solidFill>
                  <a:srgbClr val="172033"/>
                </a:solidFill>
                <a:latin typeface="DejaVu Sans"/>
                <a:ea typeface="DejaVu Sans"/>
                <a:cs typeface="DejaVu Sans"/>
              </a:rPr>
              <a:t>Sales trends &amp; forecasting</a:t>
            </a:r>
          </a:p>
        </p:txBody>
      </p:sp>
      <p:sp>
        <p:nvSpPr>
          <p:cNvPr id="2" name="Rectangle 1">
            <a:extLst>
              <a:ext uri="{FF2B5EF4-FFF2-40B4-BE49-F238E27FC236}">
                <a16:creationId xmlns:a16="http://schemas.microsoft.com/office/drawing/2014/main" id="{00000007-0002-4000-8000-000000000000}"/>
              </a:ext>
            </a:extLst>
          </p:cNvPr>
          <p:cNvSpPr>
            <a:spLocks noGrp="1"/>
          </p:cNvSpPr>
          <p:nvPr/>
        </p:nvSpPr>
        <p:spPr>
          <a:xfrm>
            <a:off x="800100" y="1647825"/>
            <a:ext cx="13639800" cy="19050"/>
          </a:xfrm>
          <a:prstGeom prst="rect">
            <a:avLst/>
          </a:prstGeom>
          <a:solidFill>
            <a:srgbClr val="D7DFEC"/>
          </a:solidFill>
          <a:ln w="0">
            <a:noFill/>
          </a:ln>
        </p:spPr>
        <p:txBody>
          <a:bodyPr/>
          <a:lstStyle/>
          <a:p>
            <a:endParaRPr lang="en-US"/>
          </a:p>
        </p:txBody>
      </p:sp>
      <p:sp>
        <p:nvSpPr>
          <p:cNvPr id="3" name="Rectangle 2">
            <a:extLst>
              <a:ext uri="{FF2B5EF4-FFF2-40B4-BE49-F238E27FC236}">
                <a16:creationId xmlns:a16="http://schemas.microsoft.com/office/drawing/2014/main" id="{00000007-0003-4000-8000-000000000000}"/>
              </a:ext>
            </a:extLst>
          </p:cNvPr>
          <p:cNvSpPr>
            <a:spLocks noGrp="1"/>
          </p:cNvSpPr>
          <p:nvPr/>
        </p:nvSpPr>
        <p:spPr>
          <a:xfrm>
            <a:off x="800100" y="8039100"/>
            <a:ext cx="5715000" cy="285750"/>
          </a:xfrm>
          <a:prstGeom prst="rect">
            <a:avLst/>
          </a:prstGeom>
          <a:noFill/>
          <a:ln w="0">
            <a:noFill/>
          </a:ln>
        </p:spPr>
        <p:txBody>
          <a:bodyPr>
            <a:noAutofit/>
          </a:bodyPr>
          <a:lstStyle/>
          <a:p>
            <a:pPr>
              <a:defRPr sz="1350" b="1">
                <a:solidFill>
                  <a:srgbClr val="596579"/>
                </a:solidFill>
                <a:latin typeface="DejaVu Sans"/>
                <a:ea typeface="DejaVu Sans"/>
                <a:cs typeface="DejaVu Sans"/>
              </a:defRPr>
            </a:pPr>
            <a:r>
              <a:rPr sz="1350" b="1">
                <a:solidFill>
                  <a:srgbClr val="596579"/>
                </a:solidFill>
                <a:latin typeface="DejaVu Sans"/>
                <a:ea typeface="DejaVu Sans"/>
                <a:cs typeface="DejaVu Sans"/>
              </a:rPr>
              <a:t>LEDORA AI</a:t>
            </a:r>
          </a:p>
        </p:txBody>
      </p:sp>
      <p:sp>
        <p:nvSpPr>
          <p:cNvPr id="4" name="Rectangle 3">
            <a:extLst>
              <a:ext uri="{FF2B5EF4-FFF2-40B4-BE49-F238E27FC236}">
                <a16:creationId xmlns:a16="http://schemas.microsoft.com/office/drawing/2014/main" id="{00000007-0004-4000-8000-000000000000}"/>
              </a:ext>
            </a:extLst>
          </p:cNvPr>
          <p:cNvSpPr>
            <a:spLocks noGrp="1"/>
          </p:cNvSpPr>
          <p:nvPr/>
        </p:nvSpPr>
        <p:spPr>
          <a:xfrm>
            <a:off x="13811250" y="8010525"/>
            <a:ext cx="619125" cy="304800"/>
          </a:xfrm>
          <a:prstGeom prst="rect">
            <a:avLst/>
          </a:prstGeom>
          <a:noFill/>
          <a:ln w="0">
            <a:noFill/>
          </a:ln>
        </p:spPr>
        <p:txBody>
          <a:bodyPr>
            <a:noAutofit/>
          </a:bodyPr>
          <a:lstStyle/>
          <a:p>
            <a:pPr>
              <a:defRPr sz="1500" b="0">
                <a:solidFill>
                  <a:srgbClr val="596579"/>
                </a:solidFill>
                <a:latin typeface="DejaVu Sans"/>
                <a:ea typeface="DejaVu Sans"/>
                <a:cs typeface="DejaVu Sans"/>
              </a:defRPr>
            </a:pPr>
            <a:r>
              <a:rPr sz="1500" b="0">
                <a:solidFill>
                  <a:srgbClr val="596579"/>
                </a:solidFill>
                <a:latin typeface="DejaVu Sans"/>
                <a:ea typeface="DejaVu Sans"/>
                <a:cs typeface="DejaVu Sans"/>
              </a:rPr>
              <a:t>07</a:t>
            </a:r>
          </a:p>
        </p:txBody>
      </p:sp>
      <p:sp>
        <p:nvSpPr>
          <p:cNvPr id="5" name="Rectangle 4">
            <a:extLst>
              <a:ext uri="{FF2B5EF4-FFF2-40B4-BE49-F238E27FC236}">
                <a16:creationId xmlns:a16="http://schemas.microsoft.com/office/drawing/2014/main" id="{00000007-0005-4000-8000-000000000000}"/>
              </a:ext>
            </a:extLst>
          </p:cNvPr>
          <p:cNvSpPr>
            <a:spLocks noGrp="1"/>
          </p:cNvSpPr>
          <p:nvPr/>
        </p:nvSpPr>
        <p:spPr>
          <a:xfrm>
            <a:off x="800100" y="2276475"/>
            <a:ext cx="6191250" cy="638175"/>
          </a:xfrm>
          <a:prstGeom prst="rect">
            <a:avLst/>
          </a:prstGeom>
          <a:noFill/>
          <a:ln w="0">
            <a:noFill/>
          </a:ln>
        </p:spPr>
        <p:txBody>
          <a:bodyPr>
            <a:noAutofit/>
          </a:bodyPr>
          <a:lstStyle/>
          <a:p>
            <a:pPr>
              <a:defRPr sz="3225" b="1">
                <a:solidFill>
                  <a:srgbClr val="172033"/>
                </a:solidFill>
                <a:latin typeface="DejaVu Sans"/>
                <a:ea typeface="DejaVu Sans"/>
                <a:cs typeface="DejaVu Sans"/>
              </a:defRPr>
            </a:pPr>
            <a:r>
              <a:rPr sz="3225" b="1">
                <a:solidFill>
                  <a:srgbClr val="172033"/>
                </a:solidFill>
                <a:latin typeface="DejaVu Sans"/>
                <a:ea typeface="DejaVu Sans"/>
                <a:cs typeface="DejaVu Sans"/>
              </a:rPr>
              <a:t>Sales Overview</a:t>
            </a:r>
          </a:p>
        </p:txBody>
      </p:sp>
      <p:sp>
        <p:nvSpPr>
          <p:cNvPr id="6" name="Rectangle 5">
            <a:extLst>
              <a:ext uri="{FF2B5EF4-FFF2-40B4-BE49-F238E27FC236}">
                <a16:creationId xmlns:a16="http://schemas.microsoft.com/office/drawing/2014/main" id="{00000007-0006-4000-8000-000000000000}"/>
              </a:ext>
            </a:extLst>
          </p:cNvPr>
          <p:cNvSpPr>
            <a:spLocks noGrp="1"/>
          </p:cNvSpPr>
          <p:nvPr/>
        </p:nvSpPr>
        <p:spPr>
          <a:xfrm>
            <a:off x="800100" y="2971800"/>
            <a:ext cx="6191250" cy="428625"/>
          </a:xfrm>
          <a:prstGeom prst="rect">
            <a:avLst/>
          </a:prstGeom>
          <a:noFill/>
          <a:ln w="0">
            <a:noFill/>
          </a:ln>
        </p:spPr>
        <p:txBody>
          <a:bodyPr>
            <a:noAutofit/>
          </a:bodyPr>
          <a:lstStyle/>
          <a:p>
            <a:pPr>
              <a:defRPr sz="2100" b="0">
                <a:solidFill>
                  <a:srgbClr val="2454D6"/>
                </a:solidFill>
                <a:latin typeface="DejaVu Sans"/>
                <a:ea typeface="DejaVu Sans"/>
                <a:cs typeface="DejaVu Sans"/>
              </a:defRPr>
            </a:pPr>
            <a:r>
              <a:rPr sz="2100" b="0">
                <a:solidFill>
                  <a:srgbClr val="2454D6"/>
                </a:solidFill>
                <a:latin typeface="DejaVu Sans"/>
                <a:ea typeface="DejaVu Sans"/>
                <a:cs typeface="DejaVu Sans"/>
              </a:rPr>
              <a:t>Historical performance</a:t>
            </a:r>
          </a:p>
        </p:txBody>
      </p:sp>
      <p:sp>
        <p:nvSpPr>
          <p:cNvPr id="7" name="Rectangle 6">
            <a:extLst>
              <a:ext uri="{FF2B5EF4-FFF2-40B4-BE49-F238E27FC236}">
                <a16:creationId xmlns:a16="http://schemas.microsoft.com/office/drawing/2014/main" id="{00000007-0007-4000-8000-000000000000}"/>
              </a:ext>
            </a:extLst>
          </p:cNvPr>
          <p:cNvSpPr>
            <a:spLocks noGrp="1"/>
          </p:cNvSpPr>
          <p:nvPr/>
        </p:nvSpPr>
        <p:spPr>
          <a:xfrm>
            <a:off x="800100" y="3771900"/>
            <a:ext cx="6191250" cy="400050"/>
          </a:xfrm>
          <a:prstGeom prst="rect">
            <a:avLst/>
          </a:prstGeom>
          <a:noFill/>
          <a:ln w="0">
            <a:noFill/>
          </a:ln>
        </p:spPr>
        <p:txBody>
          <a:bodyPr>
            <a:noAutofit/>
          </a:bodyPr>
          <a:lstStyle/>
          <a:p>
            <a:pPr>
              <a:defRPr sz="2175" b="1">
                <a:solidFill>
                  <a:srgbClr val="172033"/>
                </a:solidFill>
                <a:latin typeface="DejaVu Sans"/>
                <a:ea typeface="DejaVu Sans"/>
                <a:cs typeface="DejaVu Sans"/>
              </a:defRPr>
            </a:pPr>
            <a:r>
              <a:rPr sz="2175" b="1">
                <a:solidFill>
                  <a:srgbClr val="172033"/>
                </a:solidFill>
                <a:latin typeface="DejaVu Sans"/>
                <a:ea typeface="DejaVu Sans"/>
                <a:cs typeface="DejaVu Sans"/>
              </a:rPr>
              <a:t>Totals</a:t>
            </a:r>
          </a:p>
        </p:txBody>
      </p:sp>
      <p:sp>
        <p:nvSpPr>
          <p:cNvPr id="8" name="Rectangle 7">
            <a:extLst>
              <a:ext uri="{FF2B5EF4-FFF2-40B4-BE49-F238E27FC236}">
                <a16:creationId xmlns:a16="http://schemas.microsoft.com/office/drawing/2014/main" id="{00000007-0008-4000-8000-000000000000}"/>
              </a:ext>
            </a:extLst>
          </p:cNvPr>
          <p:cNvSpPr>
            <a:spLocks noGrp="1"/>
          </p:cNvSpPr>
          <p:nvPr/>
        </p:nvSpPr>
        <p:spPr>
          <a:xfrm>
            <a:off x="800100" y="4257675"/>
            <a:ext cx="6191250" cy="847725"/>
          </a:xfrm>
          <a:prstGeom prst="rect">
            <a:avLst/>
          </a:prstGeom>
          <a:noFill/>
          <a:ln w="0">
            <a:noFill/>
          </a:ln>
        </p:spPr>
        <p:txBody>
          <a:bodyPr>
            <a:noAutofit/>
          </a:bodyPr>
          <a:lstStyle/>
          <a:p>
            <a:pPr>
              <a:defRPr sz="2175" b="0">
                <a:solidFill>
                  <a:srgbClr val="172033"/>
                </a:solidFill>
                <a:latin typeface="DejaVu Sans"/>
                <a:ea typeface="DejaVu Sans"/>
                <a:cs typeface="DejaVu Sans"/>
              </a:defRPr>
            </a:pPr>
            <a:r>
              <a:rPr sz="2175" b="0">
                <a:solidFill>
                  <a:srgbClr val="172033"/>
                </a:solidFill>
                <a:latin typeface="DejaVu Sans"/>
                <a:ea typeface="DejaVu Sans"/>
                <a:cs typeface="DejaVu Sans"/>
              </a:rPr>
              <a:t>Record count, quantity and revenue</a:t>
            </a:r>
          </a:p>
          <a:p>
            <a:pPr>
              <a:defRPr sz="2175" b="0">
                <a:solidFill>
                  <a:srgbClr val="172033"/>
                </a:solidFill>
                <a:latin typeface="DejaVu Sans"/>
                <a:ea typeface="DejaVu Sans"/>
                <a:cs typeface="DejaVu Sans"/>
              </a:defRPr>
            </a:pPr>
            <a:r>
              <a:rPr sz="2175" b="0">
                <a:solidFill>
                  <a:srgbClr val="172033"/>
                </a:solidFill>
                <a:latin typeface="DejaVu Sans"/>
                <a:ea typeface="DejaVu Sans"/>
                <a:cs typeface="DejaVu Sans"/>
              </a:rPr>
              <a:t>with multi-currency records</a:t>
            </a:r>
          </a:p>
        </p:txBody>
      </p:sp>
      <p:sp>
        <p:nvSpPr>
          <p:cNvPr id="9" name="Rectangle 8">
            <a:extLst>
              <a:ext uri="{FF2B5EF4-FFF2-40B4-BE49-F238E27FC236}">
                <a16:creationId xmlns:a16="http://schemas.microsoft.com/office/drawing/2014/main" id="{00000007-0009-4000-8000-000000000000}"/>
              </a:ext>
            </a:extLst>
          </p:cNvPr>
          <p:cNvSpPr>
            <a:spLocks noGrp="1"/>
          </p:cNvSpPr>
          <p:nvPr/>
        </p:nvSpPr>
        <p:spPr>
          <a:xfrm>
            <a:off x="800100" y="5600700"/>
            <a:ext cx="6191250" cy="409575"/>
          </a:xfrm>
          <a:prstGeom prst="rect">
            <a:avLst/>
          </a:prstGeom>
          <a:noFill/>
          <a:ln w="0">
            <a:noFill/>
          </a:ln>
        </p:spPr>
        <p:txBody>
          <a:bodyPr>
            <a:noAutofit/>
          </a:bodyPr>
          <a:lstStyle/>
          <a:p>
            <a:pPr>
              <a:defRPr sz="2175" b="1">
                <a:solidFill>
                  <a:srgbClr val="172033"/>
                </a:solidFill>
                <a:latin typeface="DejaVu Sans"/>
                <a:ea typeface="DejaVu Sans"/>
                <a:cs typeface="DejaVu Sans"/>
              </a:defRPr>
            </a:pPr>
            <a:r>
              <a:rPr sz="2175" b="1">
                <a:solidFill>
                  <a:srgbClr val="172033"/>
                </a:solidFill>
                <a:latin typeface="DejaVu Sans"/>
                <a:ea typeface="DejaVu Sans"/>
                <a:cs typeface="DejaVu Sans"/>
              </a:rPr>
              <a:t>Views</a:t>
            </a:r>
          </a:p>
        </p:txBody>
      </p:sp>
      <p:sp>
        <p:nvSpPr>
          <p:cNvPr id="10" name="Rectangle 9">
            <a:extLst>
              <a:ext uri="{FF2B5EF4-FFF2-40B4-BE49-F238E27FC236}">
                <a16:creationId xmlns:a16="http://schemas.microsoft.com/office/drawing/2014/main" id="{00000007-000A-4000-8000-000000000000}"/>
              </a:ext>
            </a:extLst>
          </p:cNvPr>
          <p:cNvSpPr>
            <a:spLocks noGrp="1"/>
          </p:cNvSpPr>
          <p:nvPr/>
        </p:nvSpPr>
        <p:spPr>
          <a:xfrm>
            <a:off x="800100" y="6096000"/>
            <a:ext cx="6191250" cy="933450"/>
          </a:xfrm>
          <a:prstGeom prst="rect">
            <a:avLst/>
          </a:prstGeom>
          <a:noFill/>
          <a:ln w="0">
            <a:noFill/>
          </a:ln>
        </p:spPr>
        <p:txBody>
          <a:bodyPr>
            <a:noAutofit/>
          </a:bodyPr>
          <a:lstStyle/>
          <a:p>
            <a:pPr>
              <a:defRPr sz="2175" b="0">
                <a:solidFill>
                  <a:srgbClr val="172033"/>
                </a:solidFill>
                <a:latin typeface="DejaVu Sans"/>
                <a:ea typeface="DejaVu Sans"/>
                <a:cs typeface="DejaVu Sans"/>
              </a:defRPr>
            </a:pPr>
            <a:r>
              <a:rPr sz="2175" b="0">
                <a:solidFill>
                  <a:srgbClr val="172033"/>
                </a:solidFill>
                <a:latin typeface="DejaVu Sans"/>
                <a:ea typeface="DejaVu Sans"/>
                <a:cs typeface="DejaVu Sans"/>
              </a:rPr>
              <a:t>Sales by country and product</a:t>
            </a:r>
          </a:p>
          <a:p>
            <a:pPr>
              <a:defRPr sz="2175" b="0">
                <a:solidFill>
                  <a:srgbClr val="172033"/>
                </a:solidFill>
                <a:latin typeface="DejaVu Sans"/>
                <a:ea typeface="DejaVu Sans"/>
                <a:cs typeface="DejaVu Sans"/>
              </a:defRPr>
            </a:pPr>
            <a:r>
              <a:rPr sz="2175" b="0">
                <a:solidFill>
                  <a:srgbClr val="172033"/>
                </a:solidFill>
                <a:latin typeface="DejaVu Sans"/>
                <a:ea typeface="DejaVu Sans"/>
                <a:cs typeface="DejaVu Sans"/>
              </a:rPr>
              <a:t>Monthly sales trend</a:t>
            </a:r>
          </a:p>
        </p:txBody>
      </p:sp>
      <p:sp>
        <p:nvSpPr>
          <p:cNvPr id="11" name="Straight Connector 10">
            <a:extLst>
              <a:ext uri="{FF2B5EF4-FFF2-40B4-BE49-F238E27FC236}">
                <a16:creationId xmlns:a16="http://schemas.microsoft.com/office/drawing/2014/main" id="{00000007-000B-4000-8000-000000000000}"/>
              </a:ext>
            </a:extLst>
          </p:cNvPr>
          <p:cNvSpPr>
            <a:spLocks noGrp="1"/>
          </p:cNvSpPr>
          <p:nvPr/>
        </p:nvSpPr>
        <p:spPr>
          <a:xfrm>
            <a:off x="7620000" y="2247900"/>
            <a:ext cx="0" cy="5076825"/>
          </a:xfrm>
          <a:prstGeom prst="line">
            <a:avLst/>
          </a:prstGeom>
          <a:noFill/>
          <a:ln w="19050">
            <a:solidFill>
              <a:srgbClr val="D7DFEC"/>
            </a:solidFill>
          </a:ln>
        </p:spPr>
        <p:txBody>
          <a:bodyPr/>
          <a:lstStyle/>
          <a:p>
            <a:endParaRPr lang="en-US"/>
          </a:p>
        </p:txBody>
      </p:sp>
      <p:sp>
        <p:nvSpPr>
          <p:cNvPr id="12" name="Rectangle 11">
            <a:extLst>
              <a:ext uri="{FF2B5EF4-FFF2-40B4-BE49-F238E27FC236}">
                <a16:creationId xmlns:a16="http://schemas.microsoft.com/office/drawing/2014/main" id="{00000007-000C-4000-8000-000000000000}"/>
              </a:ext>
            </a:extLst>
          </p:cNvPr>
          <p:cNvSpPr>
            <a:spLocks noGrp="1"/>
          </p:cNvSpPr>
          <p:nvPr/>
        </p:nvSpPr>
        <p:spPr>
          <a:xfrm>
            <a:off x="8334375" y="2276475"/>
            <a:ext cx="6096000" cy="638175"/>
          </a:xfrm>
          <a:prstGeom prst="rect">
            <a:avLst/>
          </a:prstGeom>
          <a:noFill/>
          <a:ln w="0">
            <a:noFill/>
          </a:ln>
        </p:spPr>
        <p:txBody>
          <a:bodyPr>
            <a:noAutofit/>
          </a:bodyPr>
          <a:lstStyle/>
          <a:p>
            <a:pPr>
              <a:defRPr sz="3225" b="1">
                <a:solidFill>
                  <a:srgbClr val="172033"/>
                </a:solidFill>
                <a:latin typeface="DejaVu Sans"/>
                <a:ea typeface="DejaVu Sans"/>
                <a:cs typeface="DejaVu Sans"/>
              </a:defRPr>
            </a:pPr>
            <a:r>
              <a:rPr sz="3225" b="1">
                <a:solidFill>
                  <a:srgbClr val="172033"/>
                </a:solidFill>
                <a:latin typeface="DejaVu Sans"/>
                <a:ea typeface="DejaVu Sans"/>
                <a:cs typeface="DejaVu Sans"/>
              </a:rPr>
              <a:t>AI Sales Forecast</a:t>
            </a:r>
          </a:p>
        </p:txBody>
      </p:sp>
      <p:sp>
        <p:nvSpPr>
          <p:cNvPr id="13" name="Rectangle 12">
            <a:extLst>
              <a:ext uri="{FF2B5EF4-FFF2-40B4-BE49-F238E27FC236}">
                <a16:creationId xmlns:a16="http://schemas.microsoft.com/office/drawing/2014/main" id="{00000007-000D-4000-8000-000000000000}"/>
              </a:ext>
            </a:extLst>
          </p:cNvPr>
          <p:cNvSpPr>
            <a:spLocks noGrp="1"/>
          </p:cNvSpPr>
          <p:nvPr/>
        </p:nvSpPr>
        <p:spPr>
          <a:xfrm>
            <a:off x="8334375" y="2971800"/>
            <a:ext cx="6096000" cy="428625"/>
          </a:xfrm>
          <a:prstGeom prst="rect">
            <a:avLst/>
          </a:prstGeom>
          <a:noFill/>
          <a:ln w="0">
            <a:noFill/>
          </a:ln>
        </p:spPr>
        <p:txBody>
          <a:bodyPr>
            <a:noAutofit/>
          </a:bodyPr>
          <a:lstStyle/>
          <a:p>
            <a:pPr>
              <a:defRPr sz="2100" b="0">
                <a:solidFill>
                  <a:srgbClr val="2454D6"/>
                </a:solidFill>
                <a:latin typeface="DejaVu Sans"/>
                <a:ea typeface="DejaVu Sans"/>
                <a:cs typeface="DejaVu Sans"/>
              </a:defRPr>
            </a:pPr>
            <a:r>
              <a:rPr sz="2100" b="0">
                <a:solidFill>
                  <a:srgbClr val="2454D6"/>
                </a:solidFill>
                <a:latin typeface="DejaVu Sans"/>
                <a:ea typeface="DejaVu Sans"/>
                <a:cs typeface="DejaVu Sans"/>
              </a:rPr>
              <a:t>3-month projection</a:t>
            </a:r>
          </a:p>
        </p:txBody>
      </p:sp>
      <p:sp>
        <p:nvSpPr>
          <p:cNvPr id="14" name="Rectangle 13">
            <a:extLst>
              <a:ext uri="{FF2B5EF4-FFF2-40B4-BE49-F238E27FC236}">
                <a16:creationId xmlns:a16="http://schemas.microsoft.com/office/drawing/2014/main" id="{00000007-000E-4000-8000-000000000000}"/>
              </a:ext>
            </a:extLst>
          </p:cNvPr>
          <p:cNvSpPr>
            <a:spLocks noGrp="1"/>
          </p:cNvSpPr>
          <p:nvPr/>
        </p:nvSpPr>
        <p:spPr>
          <a:xfrm>
            <a:off x="8334375" y="3771900"/>
            <a:ext cx="6096000" cy="400050"/>
          </a:xfrm>
          <a:prstGeom prst="rect">
            <a:avLst/>
          </a:prstGeom>
          <a:noFill/>
          <a:ln w="0">
            <a:noFill/>
          </a:ln>
        </p:spPr>
        <p:txBody>
          <a:bodyPr>
            <a:noAutofit/>
          </a:bodyPr>
          <a:lstStyle/>
          <a:p>
            <a:pPr>
              <a:defRPr sz="2175" b="1">
                <a:solidFill>
                  <a:srgbClr val="172033"/>
                </a:solidFill>
                <a:latin typeface="DejaVu Sans"/>
                <a:ea typeface="DejaVu Sans"/>
                <a:cs typeface="DejaVu Sans"/>
              </a:defRPr>
            </a:pPr>
            <a:r>
              <a:rPr sz="2175" b="1">
                <a:solidFill>
                  <a:srgbClr val="172033"/>
                </a:solidFill>
                <a:latin typeface="DejaVu Sans"/>
                <a:ea typeface="DejaVu Sans"/>
                <a:cs typeface="DejaVu Sans"/>
              </a:rPr>
              <a:t>Method</a:t>
            </a:r>
          </a:p>
        </p:txBody>
      </p:sp>
      <p:sp>
        <p:nvSpPr>
          <p:cNvPr id="15" name="Rectangle 14">
            <a:extLst>
              <a:ext uri="{FF2B5EF4-FFF2-40B4-BE49-F238E27FC236}">
                <a16:creationId xmlns:a16="http://schemas.microsoft.com/office/drawing/2014/main" id="{00000007-000F-4000-8000-000000000000}"/>
              </a:ext>
            </a:extLst>
          </p:cNvPr>
          <p:cNvSpPr>
            <a:spLocks noGrp="1"/>
          </p:cNvSpPr>
          <p:nvPr/>
        </p:nvSpPr>
        <p:spPr>
          <a:xfrm>
            <a:off x="8334375" y="4257675"/>
            <a:ext cx="6096000" cy="847725"/>
          </a:xfrm>
          <a:prstGeom prst="rect">
            <a:avLst/>
          </a:prstGeom>
          <a:noFill/>
          <a:ln w="0">
            <a:noFill/>
          </a:ln>
        </p:spPr>
        <p:txBody>
          <a:bodyPr>
            <a:noAutofit/>
          </a:bodyPr>
          <a:lstStyle/>
          <a:p>
            <a:pPr>
              <a:defRPr sz="2175" b="0">
                <a:solidFill>
                  <a:srgbClr val="172033"/>
                </a:solidFill>
                <a:latin typeface="DejaVu Sans"/>
                <a:ea typeface="DejaVu Sans"/>
                <a:cs typeface="DejaVu Sans"/>
              </a:defRPr>
            </a:pPr>
            <a:r>
              <a:rPr sz="2175" b="0">
                <a:solidFill>
                  <a:srgbClr val="172033"/>
                </a:solidFill>
                <a:latin typeface="DejaVu Sans"/>
                <a:ea typeface="DejaVu Sans"/>
                <a:cs typeface="DejaVu Sans"/>
              </a:rPr>
              <a:t>Ordinary-least-squares regression</a:t>
            </a:r>
          </a:p>
          <a:p>
            <a:pPr>
              <a:defRPr sz="2175" b="0">
                <a:solidFill>
                  <a:srgbClr val="172033"/>
                </a:solidFill>
                <a:latin typeface="DejaVu Sans"/>
                <a:ea typeface="DejaVu Sans"/>
                <a:cs typeface="DejaVu Sans"/>
              </a:defRPr>
            </a:pPr>
            <a:r>
              <a:rPr sz="2175" b="0">
                <a:solidFill>
                  <a:srgbClr val="172033"/>
                </a:solidFill>
                <a:latin typeface="DejaVu Sans"/>
                <a:ea typeface="DejaVu Sans"/>
                <a:cs typeface="DejaVu Sans"/>
              </a:rPr>
              <a:t>on monthly aggregates</a:t>
            </a:r>
          </a:p>
        </p:txBody>
      </p:sp>
      <p:sp>
        <p:nvSpPr>
          <p:cNvPr id="16" name="Rectangle 15">
            <a:extLst>
              <a:ext uri="{FF2B5EF4-FFF2-40B4-BE49-F238E27FC236}">
                <a16:creationId xmlns:a16="http://schemas.microsoft.com/office/drawing/2014/main" id="{00000007-0010-4000-8000-000000000000}"/>
              </a:ext>
            </a:extLst>
          </p:cNvPr>
          <p:cNvSpPr>
            <a:spLocks noGrp="1"/>
          </p:cNvSpPr>
          <p:nvPr/>
        </p:nvSpPr>
        <p:spPr>
          <a:xfrm>
            <a:off x="8334375" y="5600700"/>
            <a:ext cx="6096000" cy="409575"/>
          </a:xfrm>
          <a:prstGeom prst="rect">
            <a:avLst/>
          </a:prstGeom>
          <a:noFill/>
          <a:ln w="0">
            <a:noFill/>
          </a:ln>
        </p:spPr>
        <p:txBody>
          <a:bodyPr>
            <a:noAutofit/>
          </a:bodyPr>
          <a:lstStyle/>
          <a:p>
            <a:pPr>
              <a:defRPr sz="2175" b="1">
                <a:solidFill>
                  <a:srgbClr val="172033"/>
                </a:solidFill>
                <a:latin typeface="DejaVu Sans"/>
                <a:ea typeface="DejaVu Sans"/>
                <a:cs typeface="DejaVu Sans"/>
              </a:defRPr>
            </a:pPr>
            <a:r>
              <a:rPr sz="2175" b="1">
                <a:solidFill>
                  <a:srgbClr val="172033"/>
                </a:solidFill>
                <a:latin typeface="DejaVu Sans"/>
                <a:ea typeface="DejaVu Sans"/>
                <a:cs typeface="DejaVu Sans"/>
              </a:rPr>
              <a:t>Outputs</a:t>
            </a:r>
          </a:p>
        </p:txBody>
      </p:sp>
      <p:sp>
        <p:nvSpPr>
          <p:cNvPr id="17" name="Rectangle 16">
            <a:extLst>
              <a:ext uri="{FF2B5EF4-FFF2-40B4-BE49-F238E27FC236}">
                <a16:creationId xmlns:a16="http://schemas.microsoft.com/office/drawing/2014/main" id="{00000007-0011-4000-8000-000000000000}"/>
              </a:ext>
            </a:extLst>
          </p:cNvPr>
          <p:cNvSpPr>
            <a:spLocks noGrp="1"/>
          </p:cNvSpPr>
          <p:nvPr/>
        </p:nvSpPr>
        <p:spPr>
          <a:xfrm>
            <a:off x="8334375" y="6096000"/>
            <a:ext cx="6096000" cy="1190625"/>
          </a:xfrm>
          <a:prstGeom prst="rect">
            <a:avLst/>
          </a:prstGeom>
          <a:noFill/>
          <a:ln w="0">
            <a:noFill/>
          </a:ln>
        </p:spPr>
        <p:txBody>
          <a:bodyPr>
            <a:noAutofit/>
          </a:bodyPr>
          <a:lstStyle/>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Revenue and quantity demand</a:t>
            </a:r>
          </a:p>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Trend direction and percentage change</a:t>
            </a:r>
          </a:p>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Actual-vs-forecast visualization</a:t>
            </a:r>
          </a:p>
        </p:txBody>
      </p:sp>
      <p:sp>
        <p:nvSpPr>
          <p:cNvPr id="18" name="Rectangle 17">
            <a:extLst>
              <a:ext uri="{FF2B5EF4-FFF2-40B4-BE49-F238E27FC236}">
                <a16:creationId xmlns:a16="http://schemas.microsoft.com/office/drawing/2014/main" id="{00000007-0012-4000-8000-000000000000}"/>
              </a:ext>
            </a:extLst>
          </p:cNvPr>
          <p:cNvSpPr>
            <a:spLocks noGrp="1"/>
          </p:cNvSpPr>
          <p:nvPr/>
        </p:nvSpPr>
        <p:spPr>
          <a:xfrm>
            <a:off x="800100" y="7515225"/>
            <a:ext cx="13639800" cy="381000"/>
          </a:xfrm>
          <a:prstGeom prst="rect">
            <a:avLst/>
          </a:prstGeom>
          <a:noFill/>
          <a:ln w="0">
            <a:noFill/>
          </a:ln>
        </p:spPr>
        <p:txBody>
          <a:bodyPr>
            <a:noAutofit/>
          </a:bodyPr>
          <a:lstStyle/>
          <a:p>
            <a:pPr>
              <a:defRPr sz="1725" b="0">
                <a:solidFill>
                  <a:srgbClr val="596579"/>
                </a:solidFill>
                <a:latin typeface="DejaVu Sans"/>
                <a:ea typeface="DejaVu Sans"/>
                <a:cs typeface="DejaVu Sans"/>
              </a:defRPr>
            </a:pPr>
            <a:r>
              <a:rPr sz="1725" b="0">
                <a:solidFill>
                  <a:srgbClr val="596579"/>
                </a:solidFill>
                <a:latin typeface="DejaVu Sans"/>
                <a:ea typeface="DejaVu Sans"/>
                <a:cs typeface="DejaVu Sans"/>
              </a:rPr>
              <a:t>Daily / weekly projections and seasonal ML models remain on the roadmap.</a:t>
            </a:r>
          </a:p>
        </p:txBody>
      </p:sp>
    </p:spTree>
    <p:extLst>
      <p:ext uri="{BB962C8B-B14F-4D97-AF65-F5344CB8AC3E}">
        <p14:creationId xmlns:p14="http://schemas.microsoft.com/office/powerpoint/2010/main" val="700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00008-0001-4000-8000-000000000000}"/>
              </a:ext>
            </a:extLst>
          </p:cNvPr>
          <p:cNvSpPr>
            <a:spLocks noGrp="1"/>
          </p:cNvSpPr>
          <p:nvPr/>
        </p:nvSpPr>
        <p:spPr>
          <a:xfrm>
            <a:off x="800100" y="628650"/>
            <a:ext cx="13620750" cy="819150"/>
          </a:xfrm>
          <a:prstGeom prst="rect">
            <a:avLst/>
          </a:prstGeom>
          <a:noFill/>
          <a:ln w="0">
            <a:noFill/>
          </a:ln>
        </p:spPr>
        <p:txBody>
          <a:bodyPr>
            <a:noAutofit/>
          </a:bodyPr>
          <a:lstStyle/>
          <a:p>
            <a:pPr>
              <a:defRPr sz="4050" b="1">
                <a:solidFill>
                  <a:srgbClr val="172033"/>
                </a:solidFill>
                <a:latin typeface="DejaVu Sans"/>
                <a:ea typeface="DejaVu Sans"/>
                <a:cs typeface="DejaVu Sans"/>
              </a:defRPr>
            </a:pPr>
            <a:r>
              <a:rPr sz="4050" b="1">
                <a:solidFill>
                  <a:srgbClr val="172033"/>
                </a:solidFill>
                <a:latin typeface="DejaVu Sans"/>
                <a:ea typeface="DejaVu Sans"/>
                <a:cs typeface="DejaVu Sans"/>
              </a:rPr>
              <a:t>Business questions &amp; capability coverage</a:t>
            </a:r>
          </a:p>
        </p:txBody>
      </p:sp>
      <p:sp>
        <p:nvSpPr>
          <p:cNvPr id="2" name="Rectangle 1">
            <a:extLst>
              <a:ext uri="{FF2B5EF4-FFF2-40B4-BE49-F238E27FC236}">
                <a16:creationId xmlns:a16="http://schemas.microsoft.com/office/drawing/2014/main" id="{00000008-0002-4000-8000-000000000000}"/>
              </a:ext>
            </a:extLst>
          </p:cNvPr>
          <p:cNvSpPr>
            <a:spLocks noGrp="1"/>
          </p:cNvSpPr>
          <p:nvPr/>
        </p:nvSpPr>
        <p:spPr>
          <a:xfrm>
            <a:off x="800100" y="1647825"/>
            <a:ext cx="13639800" cy="19050"/>
          </a:xfrm>
          <a:prstGeom prst="rect">
            <a:avLst/>
          </a:prstGeom>
          <a:solidFill>
            <a:srgbClr val="D7DFEC"/>
          </a:solidFill>
          <a:ln w="0">
            <a:noFill/>
          </a:ln>
        </p:spPr>
        <p:txBody>
          <a:bodyPr/>
          <a:lstStyle/>
          <a:p>
            <a:endParaRPr lang="en-US"/>
          </a:p>
        </p:txBody>
      </p:sp>
      <p:sp>
        <p:nvSpPr>
          <p:cNvPr id="3" name="Rectangle 2">
            <a:extLst>
              <a:ext uri="{FF2B5EF4-FFF2-40B4-BE49-F238E27FC236}">
                <a16:creationId xmlns:a16="http://schemas.microsoft.com/office/drawing/2014/main" id="{00000008-0003-4000-8000-000000000000}"/>
              </a:ext>
            </a:extLst>
          </p:cNvPr>
          <p:cNvSpPr>
            <a:spLocks noGrp="1"/>
          </p:cNvSpPr>
          <p:nvPr/>
        </p:nvSpPr>
        <p:spPr>
          <a:xfrm>
            <a:off x="800100" y="8039100"/>
            <a:ext cx="5715000" cy="285750"/>
          </a:xfrm>
          <a:prstGeom prst="rect">
            <a:avLst/>
          </a:prstGeom>
          <a:noFill/>
          <a:ln w="0">
            <a:noFill/>
          </a:ln>
        </p:spPr>
        <p:txBody>
          <a:bodyPr>
            <a:noAutofit/>
          </a:bodyPr>
          <a:lstStyle/>
          <a:p>
            <a:pPr>
              <a:defRPr sz="1350" b="1">
                <a:solidFill>
                  <a:srgbClr val="596579"/>
                </a:solidFill>
                <a:latin typeface="DejaVu Sans"/>
                <a:ea typeface="DejaVu Sans"/>
                <a:cs typeface="DejaVu Sans"/>
              </a:defRPr>
            </a:pPr>
            <a:r>
              <a:rPr sz="1350" b="1">
                <a:solidFill>
                  <a:srgbClr val="596579"/>
                </a:solidFill>
                <a:latin typeface="DejaVu Sans"/>
                <a:ea typeface="DejaVu Sans"/>
                <a:cs typeface="DejaVu Sans"/>
              </a:rPr>
              <a:t>LEDORA AI</a:t>
            </a:r>
          </a:p>
        </p:txBody>
      </p:sp>
      <p:sp>
        <p:nvSpPr>
          <p:cNvPr id="4" name="Rectangle 3">
            <a:extLst>
              <a:ext uri="{FF2B5EF4-FFF2-40B4-BE49-F238E27FC236}">
                <a16:creationId xmlns:a16="http://schemas.microsoft.com/office/drawing/2014/main" id="{00000008-0004-4000-8000-000000000000}"/>
              </a:ext>
            </a:extLst>
          </p:cNvPr>
          <p:cNvSpPr>
            <a:spLocks noGrp="1"/>
          </p:cNvSpPr>
          <p:nvPr/>
        </p:nvSpPr>
        <p:spPr>
          <a:xfrm>
            <a:off x="13811250" y="8010525"/>
            <a:ext cx="619125" cy="304800"/>
          </a:xfrm>
          <a:prstGeom prst="rect">
            <a:avLst/>
          </a:prstGeom>
          <a:noFill/>
          <a:ln w="0">
            <a:noFill/>
          </a:ln>
        </p:spPr>
        <p:txBody>
          <a:bodyPr>
            <a:noAutofit/>
          </a:bodyPr>
          <a:lstStyle/>
          <a:p>
            <a:pPr>
              <a:defRPr sz="1500" b="0">
                <a:solidFill>
                  <a:srgbClr val="596579"/>
                </a:solidFill>
                <a:latin typeface="DejaVu Sans"/>
                <a:ea typeface="DejaVu Sans"/>
                <a:cs typeface="DejaVu Sans"/>
              </a:defRPr>
            </a:pPr>
            <a:r>
              <a:rPr sz="1500" b="0">
                <a:solidFill>
                  <a:srgbClr val="596579"/>
                </a:solidFill>
                <a:latin typeface="DejaVu Sans"/>
                <a:ea typeface="DejaVu Sans"/>
                <a:cs typeface="DejaVu Sans"/>
              </a:rPr>
              <a:t>08</a:t>
            </a:r>
          </a:p>
        </p:txBody>
      </p:sp>
      <p:graphicFrame>
        <p:nvGraphicFramePr>
          <p:cNvPr id="5" name="Table 4"/>
          <p:cNvGraphicFramePr/>
          <p:nvPr>
            <p:extLst>
              <p:ext uri="{D42A27DB-BD31-4B8C-83A1-F6EECF244321}">
                <p14:modId xmlns:p14="http://schemas.microsoft.com/office/powerpoint/2010/main" val="442514691"/>
              </p:ext>
            </p:extLst>
          </p:nvPr>
        </p:nvGraphicFramePr>
        <p:xfrm>
          <a:off x="800100" y="2009775"/>
          <a:ext cx="13639800" cy="5572125"/>
        </p:xfrm>
        <a:graphic>
          <a:graphicData uri="http://schemas.openxmlformats.org/drawingml/2006/table">
            <a:tbl>
              <a:tblPr/>
              <a:tblGrid>
                <a:gridCol w="38100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7734300">
                  <a:extLst>
                    <a:ext uri="{9D8B030D-6E8A-4147-A177-3AD203B41FA5}">
                      <a16:colId xmlns:a16="http://schemas.microsoft.com/office/drawing/2014/main" val="20002"/>
                    </a:ext>
                  </a:extLst>
                </a:gridCol>
              </a:tblGrid>
              <a:tr h="514350">
                <a:tc>
                  <a:txBody>
                    <a:bodyPr/>
                    <a:lstStyle/>
                    <a:p>
                      <a:r>
                        <a:rPr sz="1725" b="1">
                          <a:solidFill>
                            <a:srgbClr val="FFFFFF"/>
                          </a:solidFill>
                          <a:latin typeface="DejaVu Sans"/>
                          <a:ea typeface="DejaVu Sans"/>
                          <a:cs typeface="DejaVu Sans"/>
                        </a:rPr>
                        <a:t>Business question</a:t>
                      </a:r>
                    </a:p>
                  </a:txBody>
                  <a:tcPr>
                    <a:solidFill>
                      <a:srgbClr val="2454D6"/>
                    </a:solidFill>
                  </a:tcPr>
                </a:tc>
                <a:tc>
                  <a:txBody>
                    <a:bodyPr/>
                    <a:lstStyle/>
                    <a:p>
                      <a:r>
                        <a:rPr sz="1725" b="1">
                          <a:solidFill>
                            <a:srgbClr val="FFFFFF"/>
                          </a:solidFill>
                          <a:latin typeface="DejaVu Sans"/>
                          <a:ea typeface="DejaVu Sans"/>
                          <a:cs typeface="DejaVu Sans"/>
                        </a:rPr>
                        <a:t>Status</a:t>
                      </a:r>
                    </a:p>
                  </a:txBody>
                  <a:tcPr>
                    <a:solidFill>
                      <a:srgbClr val="2454D6"/>
                    </a:solidFill>
                  </a:tcPr>
                </a:tc>
                <a:tc>
                  <a:txBody>
                    <a:bodyPr/>
                    <a:lstStyle/>
                    <a:p>
                      <a:r>
                        <a:rPr sz="1725" b="1">
                          <a:solidFill>
                            <a:srgbClr val="FFFFFF"/>
                          </a:solidFill>
                          <a:latin typeface="DejaVu Sans"/>
                          <a:ea typeface="DejaVu Sans"/>
                          <a:cs typeface="DejaVu Sans"/>
                        </a:rPr>
                        <a:t>Current capability / next extension</a:t>
                      </a:r>
                    </a:p>
                  </a:txBody>
                  <a:tcPr>
                    <a:solidFill>
                      <a:srgbClr val="2454D6"/>
                    </a:solidFill>
                  </a:tcPr>
                </a:tc>
                <a:extLst>
                  <a:ext uri="{0D108BD9-81ED-4DB2-BD59-A6C34878D82A}">
                    <a16:rowId xmlns:a16="http://schemas.microsoft.com/office/drawing/2014/main" val="10000"/>
                  </a:ext>
                </a:extLst>
              </a:tr>
              <a:tr h="505778">
                <a:tc>
                  <a:txBody>
                    <a:bodyPr/>
                    <a:lstStyle/>
                    <a:p>
                      <a:r>
                        <a:rPr lang="en-US" sz="1725" b="1">
                          <a:solidFill>
                            <a:srgbClr val="172033"/>
                          </a:solidFill>
                          <a:latin typeface="DejaVu Sans"/>
                          <a:ea typeface="DejaVu Sans"/>
                          <a:cs typeface="DejaVu Sans"/>
                        </a:rPr>
                        <a:t>Historical sales trends</a:t>
                      </a:r>
                    </a:p>
                  </a:txBody>
                  <a:tcPr>
                    <a:solidFill>
                      <a:srgbClr val="FFFFFF"/>
                    </a:solidFill>
                  </a:tcPr>
                </a:tc>
                <a:tc>
                  <a:txBody>
                    <a:bodyPr/>
                    <a:lstStyle/>
                    <a:p>
                      <a:r>
                        <a:rPr sz="1725" b="1">
                          <a:solidFill>
                            <a:srgbClr val="2454D6"/>
                          </a:solidFill>
                          <a:latin typeface="DejaVu Sans"/>
                          <a:ea typeface="DejaVu Sans"/>
                          <a:cs typeface="DejaVu Sans"/>
                        </a:rPr>
                        <a:t>Delivered</a:t>
                      </a:r>
                    </a:p>
                  </a:txBody>
                  <a:tcPr>
                    <a:solidFill>
                      <a:srgbClr val="FFFFFF"/>
                    </a:solidFill>
                  </a:tcPr>
                </a:tc>
                <a:tc>
                  <a:txBody>
                    <a:bodyPr/>
                    <a:lstStyle/>
                    <a:p>
                      <a:r>
                        <a:rPr lang="en-US" sz="1725" b="0">
                          <a:solidFill>
                            <a:srgbClr val="172033"/>
                          </a:solidFill>
                          <a:latin typeface="DejaVu Sans"/>
                          <a:ea typeface="DejaVu Sans"/>
                          <a:cs typeface="DejaVu Sans"/>
                        </a:rPr>
                        <a:t>Monthly trend, country and product sales charts</a:t>
                      </a:r>
                    </a:p>
                  </a:txBody>
                  <a:tcPr>
                    <a:solidFill>
                      <a:srgbClr val="FFFFFF"/>
                    </a:solidFill>
                  </a:tcPr>
                </a:tc>
                <a:extLst>
                  <a:ext uri="{0D108BD9-81ED-4DB2-BD59-A6C34878D82A}">
                    <a16:rowId xmlns:a16="http://schemas.microsoft.com/office/drawing/2014/main" val="10001"/>
                  </a:ext>
                </a:extLst>
              </a:tr>
              <a:tr h="505778">
                <a:tc>
                  <a:txBody>
                    <a:bodyPr/>
                    <a:lstStyle/>
                    <a:p>
                      <a:r>
                        <a:rPr lang="en-US" sz="1725" b="1">
                          <a:solidFill>
                            <a:srgbClr val="172033"/>
                          </a:solidFill>
                          <a:latin typeface="DejaVu Sans"/>
                          <a:ea typeface="DejaVu Sans"/>
                          <a:cs typeface="DejaVu Sans"/>
                        </a:rPr>
                        <a:t>Sales forecast horizons</a:t>
                      </a:r>
                    </a:p>
                  </a:txBody>
                  <a:tcPr>
                    <a:solidFill>
                      <a:srgbClr val="F5F7FC"/>
                    </a:solidFill>
                  </a:tcPr>
                </a:tc>
                <a:tc>
                  <a:txBody>
                    <a:bodyPr/>
                    <a:lstStyle/>
                    <a:p>
                      <a:r>
                        <a:rPr sz="1725" b="1">
                          <a:solidFill>
                            <a:srgbClr val="2454D6"/>
                          </a:solidFill>
                          <a:latin typeface="DejaVu Sans"/>
                          <a:ea typeface="DejaVu Sans"/>
                          <a:cs typeface="DejaVu Sans"/>
                        </a:rPr>
                        <a:t>Delivered v1</a:t>
                      </a:r>
                    </a:p>
                  </a:txBody>
                  <a:tcPr>
                    <a:solidFill>
                      <a:srgbClr val="F5F7FC"/>
                    </a:solidFill>
                  </a:tcPr>
                </a:tc>
                <a:tc>
                  <a:txBody>
                    <a:bodyPr/>
                    <a:lstStyle/>
                    <a:p>
                      <a:r>
                        <a:rPr lang="en-US" sz="1725" b="0">
                          <a:solidFill>
                            <a:srgbClr val="172033"/>
                          </a:solidFill>
                          <a:latin typeface="DejaVu Sans"/>
                          <a:ea typeface="DejaVu Sans"/>
                          <a:cs typeface="DejaVu Sans"/>
                        </a:rPr>
                        <a:t>3-month OLS. Next: daily / weekly and seasonal ML</a:t>
                      </a:r>
                    </a:p>
                  </a:txBody>
                  <a:tcPr>
                    <a:solidFill>
                      <a:srgbClr val="F5F7FC"/>
                    </a:solidFill>
                  </a:tcPr>
                </a:tc>
                <a:extLst>
                  <a:ext uri="{0D108BD9-81ED-4DB2-BD59-A6C34878D82A}">
                    <a16:rowId xmlns:a16="http://schemas.microsoft.com/office/drawing/2014/main" val="10002"/>
                  </a:ext>
                </a:extLst>
              </a:tr>
              <a:tr h="505778">
                <a:tc>
                  <a:txBody>
                    <a:bodyPr/>
                    <a:lstStyle/>
                    <a:p>
                      <a:r>
                        <a:rPr lang="en-US" sz="1725" b="1">
                          <a:solidFill>
                            <a:srgbClr val="172033"/>
                          </a:solidFill>
                          <a:latin typeface="DejaVu Sans"/>
                          <a:ea typeface="DejaVu Sans"/>
                          <a:cs typeface="DejaVu Sans"/>
                        </a:rPr>
                        <a:t>Order status</a:t>
                      </a:r>
                    </a:p>
                  </a:txBody>
                  <a:tcPr>
                    <a:solidFill>
                      <a:srgbClr val="FFFFFF"/>
                    </a:solidFill>
                  </a:tcPr>
                </a:tc>
                <a:tc>
                  <a:txBody>
                    <a:bodyPr/>
                    <a:lstStyle/>
                    <a:p>
                      <a:r>
                        <a:rPr sz="1725" b="1">
                          <a:solidFill>
                            <a:srgbClr val="596579"/>
                          </a:solidFill>
                          <a:latin typeface="DejaVu Sans"/>
                          <a:ea typeface="DejaVu Sans"/>
                          <a:cs typeface="DejaVu Sans"/>
                        </a:rPr>
                        <a:t>Roadmap</a:t>
                      </a:r>
                    </a:p>
                  </a:txBody>
                  <a:tcPr>
                    <a:solidFill>
                      <a:srgbClr val="FFFFFF"/>
                    </a:solidFill>
                  </a:tcPr>
                </a:tc>
                <a:tc>
                  <a:txBody>
                    <a:bodyPr/>
                    <a:lstStyle/>
                    <a:p>
                      <a:r>
                        <a:rPr lang="en-US" sz="1725" b="0">
                          <a:solidFill>
                            <a:srgbClr val="172033"/>
                          </a:solidFill>
                          <a:latin typeface="DejaVu Sans"/>
                          <a:ea typeface="DejaVu Sans"/>
                          <a:cs typeface="DejaVu Sans"/>
                        </a:rPr>
                        <a:t>Order status in sales data, plus an Orders view</a:t>
                      </a:r>
                    </a:p>
                  </a:txBody>
                  <a:tcPr>
                    <a:solidFill>
                      <a:srgbClr val="FFFFFF"/>
                    </a:solidFill>
                  </a:tcPr>
                </a:tc>
                <a:extLst>
                  <a:ext uri="{0D108BD9-81ED-4DB2-BD59-A6C34878D82A}">
                    <a16:rowId xmlns:a16="http://schemas.microsoft.com/office/drawing/2014/main" val="10003"/>
                  </a:ext>
                </a:extLst>
              </a:tr>
              <a:tr h="505778">
                <a:tc>
                  <a:txBody>
                    <a:bodyPr/>
                    <a:lstStyle/>
                    <a:p>
                      <a:r>
                        <a:rPr lang="en-US" sz="1725" b="1">
                          <a:solidFill>
                            <a:srgbClr val="172033"/>
                          </a:solidFill>
                          <a:latin typeface="DejaVu Sans"/>
                          <a:ea typeface="DejaVu Sans"/>
                          <a:cs typeface="DejaVu Sans"/>
                        </a:rPr>
                        <a:t>Customer purchase trends</a:t>
                      </a:r>
                    </a:p>
                  </a:txBody>
                  <a:tcPr>
                    <a:solidFill>
                      <a:srgbClr val="F5F7FC"/>
                    </a:solidFill>
                  </a:tcPr>
                </a:tc>
                <a:tc>
                  <a:txBody>
                    <a:bodyPr/>
                    <a:lstStyle/>
                    <a:p>
                      <a:r>
                        <a:rPr sz="1725" b="1">
                          <a:solidFill>
                            <a:srgbClr val="596579"/>
                          </a:solidFill>
                          <a:latin typeface="DejaVu Sans"/>
                          <a:ea typeface="DejaVu Sans"/>
                          <a:cs typeface="DejaVu Sans"/>
                        </a:rPr>
                        <a:t>Roadmap</a:t>
                      </a:r>
                    </a:p>
                  </a:txBody>
                  <a:tcPr>
                    <a:solidFill>
                      <a:srgbClr val="F5F7FC"/>
                    </a:solidFill>
                  </a:tcPr>
                </a:tc>
                <a:tc>
                  <a:txBody>
                    <a:bodyPr/>
                    <a:lstStyle/>
                    <a:p>
                      <a:r>
                        <a:rPr lang="en-US" sz="1725" b="0">
                          <a:solidFill>
                            <a:srgbClr val="172033"/>
                          </a:solidFill>
                          <a:latin typeface="DejaVu Sans"/>
                          <a:ea typeface="DejaVu Sans"/>
                          <a:cs typeface="DejaVu Sans"/>
                        </a:rPr>
                        <a:t>Period-over-period customer sales comparison</a:t>
                      </a:r>
                    </a:p>
                  </a:txBody>
                  <a:tcPr>
                    <a:solidFill>
                      <a:srgbClr val="F5F7FC"/>
                    </a:solidFill>
                  </a:tcPr>
                </a:tc>
                <a:extLst>
                  <a:ext uri="{0D108BD9-81ED-4DB2-BD59-A6C34878D82A}">
                    <a16:rowId xmlns:a16="http://schemas.microsoft.com/office/drawing/2014/main" val="10004"/>
                  </a:ext>
                </a:extLst>
              </a:tr>
              <a:tr h="505778">
                <a:tc>
                  <a:txBody>
                    <a:bodyPr/>
                    <a:lstStyle/>
                    <a:p>
                      <a:r>
                        <a:rPr lang="en-US" sz="1725" b="1">
                          <a:solidFill>
                            <a:srgbClr val="172033"/>
                          </a:solidFill>
                          <a:latin typeface="DejaVu Sans"/>
                          <a:ea typeface="DejaVu Sans"/>
                          <a:cs typeface="DejaVu Sans"/>
                        </a:rPr>
                        <a:t>Cross-sell potential</a:t>
                      </a:r>
                    </a:p>
                  </a:txBody>
                  <a:tcPr>
                    <a:solidFill>
                      <a:srgbClr val="FFFFFF"/>
                    </a:solidFill>
                  </a:tcPr>
                </a:tc>
                <a:tc>
                  <a:txBody>
                    <a:bodyPr/>
                    <a:lstStyle/>
                    <a:p>
                      <a:r>
                        <a:rPr sz="1725" b="1">
                          <a:solidFill>
                            <a:srgbClr val="596579"/>
                          </a:solidFill>
                          <a:latin typeface="DejaVu Sans"/>
                          <a:ea typeface="DejaVu Sans"/>
                          <a:cs typeface="DejaVu Sans"/>
                        </a:rPr>
                        <a:t>Roadmap</a:t>
                      </a:r>
                    </a:p>
                  </a:txBody>
                  <a:tcPr>
                    <a:solidFill>
                      <a:srgbClr val="FFFFFF"/>
                    </a:solidFill>
                  </a:tcPr>
                </a:tc>
                <a:tc>
                  <a:txBody>
                    <a:bodyPr/>
                    <a:lstStyle/>
                    <a:p>
                      <a:r>
                        <a:rPr lang="en-US" sz="1725" b="0">
                          <a:solidFill>
                            <a:srgbClr val="172033"/>
                          </a:solidFill>
                          <a:latin typeface="DejaVu Sans"/>
                          <a:ea typeface="DejaVu Sans"/>
                          <a:cs typeface="DejaVu Sans"/>
                        </a:rPr>
                        <a:t>Dealer sector / sub-sector and product catalog analysis</a:t>
                      </a:r>
                    </a:p>
                  </a:txBody>
                  <a:tcPr>
                    <a:solidFill>
                      <a:srgbClr val="FFFFFF"/>
                    </a:solidFill>
                  </a:tcPr>
                </a:tc>
                <a:extLst>
                  <a:ext uri="{0D108BD9-81ED-4DB2-BD59-A6C34878D82A}">
                    <a16:rowId xmlns:a16="http://schemas.microsoft.com/office/drawing/2014/main" val="10005"/>
                  </a:ext>
                </a:extLst>
              </a:tr>
              <a:tr h="505778">
                <a:tc>
                  <a:txBody>
                    <a:bodyPr/>
                    <a:lstStyle/>
                    <a:p>
                      <a:r>
                        <a:rPr lang="en-US" sz="1725" b="1">
                          <a:solidFill>
                            <a:srgbClr val="172033"/>
                          </a:solidFill>
                          <a:latin typeface="DejaVu Sans"/>
                          <a:ea typeface="DejaVu Sans"/>
                          <a:cs typeface="DejaVu Sans"/>
                        </a:rPr>
                        <a:t>Regional opportunity</a:t>
                      </a:r>
                    </a:p>
                  </a:txBody>
                  <a:tcPr>
                    <a:solidFill>
                      <a:srgbClr val="F5F7FC"/>
                    </a:solidFill>
                  </a:tcPr>
                </a:tc>
                <a:tc>
                  <a:txBody>
                    <a:bodyPr/>
                    <a:lstStyle/>
                    <a:p>
                      <a:r>
                        <a:rPr sz="1725" b="1">
                          <a:solidFill>
                            <a:srgbClr val="896018"/>
                          </a:solidFill>
                          <a:latin typeface="DejaVu Sans"/>
                          <a:ea typeface="DejaVu Sans"/>
                          <a:cs typeface="DejaVu Sans"/>
                        </a:rPr>
                        <a:t>Partial</a:t>
                      </a:r>
                    </a:p>
                  </a:txBody>
                  <a:tcPr>
                    <a:solidFill>
                      <a:srgbClr val="F5F7FC"/>
                    </a:solidFill>
                  </a:tcPr>
                </a:tc>
                <a:tc>
                  <a:txBody>
                    <a:bodyPr/>
                    <a:lstStyle/>
                    <a:p>
                      <a:r>
                        <a:rPr lang="en-US" sz="1725" b="0">
                          <a:solidFill>
                            <a:srgbClr val="172033"/>
                          </a:solidFill>
                          <a:latin typeface="DejaVu Sans"/>
                          <a:ea typeface="DejaVu Sans"/>
                          <a:cs typeface="DejaVu Sans"/>
                        </a:rPr>
                        <a:t>Country sales + dealer density. Next: growth score</a:t>
                      </a:r>
                    </a:p>
                  </a:txBody>
                  <a:tcPr>
                    <a:solidFill>
                      <a:srgbClr val="F5F7FC"/>
                    </a:solidFill>
                  </a:tcPr>
                </a:tc>
                <a:extLst>
                  <a:ext uri="{0D108BD9-81ED-4DB2-BD59-A6C34878D82A}">
                    <a16:rowId xmlns:a16="http://schemas.microsoft.com/office/drawing/2014/main" val="10006"/>
                  </a:ext>
                </a:extLst>
              </a:tr>
              <a:tr h="505778">
                <a:tc>
                  <a:txBody>
                    <a:bodyPr/>
                    <a:lstStyle/>
                    <a:p>
                      <a:r>
                        <a:rPr lang="en-US" sz="1725" b="1">
                          <a:solidFill>
                            <a:srgbClr val="172033"/>
                          </a:solidFill>
                          <a:latin typeface="DejaVu Sans"/>
                          <a:ea typeface="DejaVu Sans"/>
                          <a:cs typeface="DejaVu Sans"/>
                        </a:rPr>
                        <a:t>Next target customers</a:t>
                      </a:r>
                    </a:p>
                  </a:txBody>
                  <a:tcPr>
                    <a:solidFill>
                      <a:srgbClr val="FFFFFF"/>
                    </a:solidFill>
                  </a:tcPr>
                </a:tc>
                <a:tc>
                  <a:txBody>
                    <a:bodyPr/>
                    <a:lstStyle/>
                    <a:p>
                      <a:r>
                        <a:rPr sz="1725" b="1">
                          <a:solidFill>
                            <a:srgbClr val="896018"/>
                          </a:solidFill>
                          <a:latin typeface="DejaVu Sans"/>
                          <a:ea typeface="DejaVu Sans"/>
                          <a:cs typeface="DejaVu Sans"/>
                        </a:rPr>
                        <a:t>Partial</a:t>
                      </a:r>
                    </a:p>
                  </a:txBody>
                  <a:tcPr>
                    <a:solidFill>
                      <a:srgbClr val="FFFFFF"/>
                    </a:solidFill>
                  </a:tcPr>
                </a:tc>
                <a:tc>
                  <a:txBody>
                    <a:bodyPr/>
                    <a:lstStyle/>
                    <a:p>
                      <a:r>
                        <a:rPr lang="en-US" sz="1725" b="0">
                          <a:solidFill>
                            <a:srgbClr val="172033"/>
                          </a:solidFill>
                          <a:latin typeface="DejaVu Sans"/>
                          <a:ea typeface="DejaVu Sans"/>
                          <a:cs typeface="DejaVu Sans"/>
                        </a:rPr>
                        <a:t>Segmentation + outreach history. Next: lead scoring</a:t>
                      </a:r>
                    </a:p>
                  </a:txBody>
                  <a:tcPr>
                    <a:solidFill>
                      <a:srgbClr val="FFFFFF"/>
                    </a:solidFill>
                  </a:tcPr>
                </a:tc>
                <a:extLst>
                  <a:ext uri="{0D108BD9-81ED-4DB2-BD59-A6C34878D82A}">
                    <a16:rowId xmlns:a16="http://schemas.microsoft.com/office/drawing/2014/main" val="10007"/>
                  </a:ext>
                </a:extLst>
              </a:tr>
              <a:tr h="505778">
                <a:tc>
                  <a:txBody>
                    <a:bodyPr/>
                    <a:lstStyle/>
                    <a:p>
                      <a:r>
                        <a:rPr sz="1725" b="1">
                          <a:solidFill>
                            <a:srgbClr val="172033"/>
                          </a:solidFill>
                          <a:latin typeface="DejaVu Sans"/>
                          <a:ea typeface="DejaVu Sans"/>
                          <a:cs typeface="DejaVu Sans"/>
                        </a:rPr>
                        <a:t>Future product demand</a:t>
                      </a:r>
                    </a:p>
                  </a:txBody>
                  <a:tcPr>
                    <a:solidFill>
                      <a:srgbClr val="F5F7FC"/>
                    </a:solidFill>
                  </a:tcPr>
                </a:tc>
                <a:tc>
                  <a:txBody>
                    <a:bodyPr/>
                    <a:lstStyle/>
                    <a:p>
                      <a:r>
                        <a:rPr sz="1725" b="1">
                          <a:solidFill>
                            <a:srgbClr val="896018"/>
                          </a:solidFill>
                          <a:latin typeface="DejaVu Sans"/>
                          <a:ea typeface="DejaVu Sans"/>
                          <a:cs typeface="DejaVu Sans"/>
                        </a:rPr>
                        <a:t>Partial</a:t>
                      </a:r>
                    </a:p>
                  </a:txBody>
                  <a:tcPr>
                    <a:solidFill>
                      <a:srgbClr val="F5F7FC"/>
                    </a:solidFill>
                  </a:tcPr>
                </a:tc>
                <a:tc>
                  <a:txBody>
                    <a:bodyPr/>
                    <a:lstStyle/>
                    <a:p>
                      <a:r>
                        <a:rPr lang="en-US" sz="1725" b="0">
                          <a:solidFill>
                            <a:srgbClr val="172033"/>
                          </a:solidFill>
                          <a:latin typeface="DejaVu Sans"/>
                          <a:ea typeface="DejaVu Sans"/>
                          <a:cs typeface="DejaVu Sans"/>
                        </a:rPr>
                        <a:t>Historical product sales. Next: product forecasts</a:t>
                      </a:r>
                    </a:p>
                  </a:txBody>
                  <a:tcPr>
                    <a:solidFill>
                      <a:srgbClr val="F5F7FC"/>
                    </a:solidFill>
                  </a:tcPr>
                </a:tc>
                <a:extLst>
                  <a:ext uri="{0D108BD9-81ED-4DB2-BD59-A6C34878D82A}">
                    <a16:rowId xmlns:a16="http://schemas.microsoft.com/office/drawing/2014/main" val="10008"/>
                  </a:ext>
                </a:extLst>
              </a:tr>
              <a:tr h="505778">
                <a:tc>
                  <a:txBody>
                    <a:bodyPr/>
                    <a:lstStyle/>
                    <a:p>
                      <a:r>
                        <a:rPr lang="en-US" sz="1725" b="1">
                          <a:solidFill>
                            <a:srgbClr val="172033"/>
                          </a:solidFill>
                          <a:latin typeface="DejaVu Sans"/>
                          <a:ea typeface="DejaVu Sans"/>
                          <a:cs typeface="DejaVu Sans"/>
                        </a:rPr>
                        <a:t>Lost sales opportunities</a:t>
                      </a:r>
                    </a:p>
                  </a:txBody>
                  <a:tcPr>
                    <a:solidFill>
                      <a:srgbClr val="FFFFFF"/>
                    </a:solidFill>
                  </a:tcPr>
                </a:tc>
                <a:tc>
                  <a:txBody>
                    <a:bodyPr/>
                    <a:lstStyle/>
                    <a:p>
                      <a:r>
                        <a:rPr sz="1725" b="1">
                          <a:solidFill>
                            <a:srgbClr val="596579"/>
                          </a:solidFill>
                          <a:latin typeface="DejaVu Sans"/>
                          <a:ea typeface="DejaVu Sans"/>
                          <a:cs typeface="DejaVu Sans"/>
                        </a:rPr>
                        <a:t>Roadmap</a:t>
                      </a:r>
                    </a:p>
                  </a:txBody>
                  <a:tcPr>
                    <a:solidFill>
                      <a:srgbClr val="FFFFFF"/>
                    </a:solidFill>
                  </a:tcPr>
                </a:tc>
                <a:tc>
                  <a:txBody>
                    <a:bodyPr/>
                    <a:lstStyle/>
                    <a:p>
                      <a:r>
                        <a:rPr lang="en-US" sz="1725" b="0">
                          <a:solidFill>
                            <a:srgbClr val="172033"/>
                          </a:solidFill>
                          <a:latin typeface="DejaVu Sans"/>
                          <a:ea typeface="DejaVu Sans"/>
                          <a:cs typeface="DejaVu Sans"/>
                        </a:rPr>
                        <a:t>Compare communication engagement with sales conversion</a:t>
                      </a:r>
                    </a:p>
                  </a:txBody>
                  <a:tcPr>
                    <a:solidFill>
                      <a:srgbClr val="FFFFFF"/>
                    </a:solidFill>
                  </a:tcPr>
                </a:tc>
                <a:extLst>
                  <a:ext uri="{0D108BD9-81ED-4DB2-BD59-A6C34878D82A}">
                    <a16:rowId xmlns:a16="http://schemas.microsoft.com/office/drawing/2014/main" val="10009"/>
                  </a:ext>
                </a:extLst>
              </a:tr>
              <a:tr h="505778">
                <a:tc>
                  <a:txBody>
                    <a:bodyPr/>
                    <a:lstStyle/>
                    <a:p>
                      <a:r>
                        <a:rPr lang="en-US" sz="1725" b="1">
                          <a:solidFill>
                            <a:srgbClr val="172033"/>
                          </a:solidFill>
                          <a:latin typeface="DejaVu Sans"/>
                          <a:ea typeface="DejaVu Sans"/>
                          <a:cs typeface="DejaVu Sans"/>
                        </a:rPr>
                        <a:t>Lookalike customers</a:t>
                      </a:r>
                    </a:p>
                  </a:txBody>
                  <a:tcPr>
                    <a:solidFill>
                      <a:srgbClr val="F5F7FC"/>
                    </a:solidFill>
                  </a:tcPr>
                </a:tc>
                <a:tc>
                  <a:txBody>
                    <a:bodyPr/>
                    <a:lstStyle/>
                    <a:p>
                      <a:r>
                        <a:rPr sz="1725" b="1">
                          <a:solidFill>
                            <a:srgbClr val="596579"/>
                          </a:solidFill>
                          <a:latin typeface="DejaVu Sans"/>
                          <a:ea typeface="DejaVu Sans"/>
                          <a:cs typeface="DejaVu Sans"/>
                        </a:rPr>
                        <a:t>Roadmap</a:t>
                      </a:r>
                    </a:p>
                  </a:txBody>
                  <a:tcPr>
                    <a:solidFill>
                      <a:srgbClr val="F5F7FC"/>
                    </a:solidFill>
                  </a:tcPr>
                </a:tc>
                <a:tc>
                  <a:txBody>
                    <a:bodyPr/>
                    <a:lstStyle/>
                    <a:p>
                      <a:r>
                        <a:rPr lang="en-US" sz="1725" b="0">
                          <a:solidFill>
                            <a:srgbClr val="172033"/>
                          </a:solidFill>
                          <a:latin typeface="DejaVu Sans"/>
                          <a:ea typeface="DejaVu Sans"/>
                          <a:cs typeface="DejaVu Sans"/>
                        </a:rPr>
                        <a:t>Cluster dealer sector, region and size</a:t>
                      </a:r>
                    </a:p>
                  </a:txBody>
                  <a:tcPr>
                    <a:solidFill>
                      <a:srgbClr val="F5F7FC"/>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800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0000009-0001-4000-8000-000000000000}"/>
              </a:ext>
            </a:extLst>
          </p:cNvPr>
          <p:cNvSpPr>
            <a:spLocks noGrp="1"/>
          </p:cNvSpPr>
          <p:nvPr/>
        </p:nvSpPr>
        <p:spPr>
          <a:xfrm>
            <a:off x="800100" y="628650"/>
            <a:ext cx="13620750" cy="819150"/>
          </a:xfrm>
          <a:prstGeom prst="rect">
            <a:avLst/>
          </a:prstGeom>
          <a:noFill/>
          <a:ln w="0">
            <a:noFill/>
          </a:ln>
        </p:spPr>
        <p:txBody>
          <a:bodyPr>
            <a:noAutofit/>
          </a:bodyPr>
          <a:lstStyle/>
          <a:p>
            <a:pPr>
              <a:defRPr sz="4050" b="1">
                <a:solidFill>
                  <a:srgbClr val="172033"/>
                </a:solidFill>
                <a:latin typeface="DejaVu Sans"/>
                <a:ea typeface="DejaVu Sans"/>
                <a:cs typeface="DejaVu Sans"/>
              </a:defRPr>
            </a:pPr>
            <a:r>
              <a:rPr sz="4050" b="1">
                <a:solidFill>
                  <a:srgbClr val="172033"/>
                </a:solidFill>
                <a:latin typeface="DejaVu Sans"/>
                <a:ea typeface="DejaVu Sans"/>
                <a:cs typeface="DejaVu Sans"/>
              </a:rPr>
              <a:t>The data foundation for analytics</a:t>
            </a:r>
          </a:p>
        </p:txBody>
      </p:sp>
      <p:sp>
        <p:nvSpPr>
          <p:cNvPr id="2" name="Rectangle 1">
            <a:extLst>
              <a:ext uri="{FF2B5EF4-FFF2-40B4-BE49-F238E27FC236}">
                <a16:creationId xmlns:a16="http://schemas.microsoft.com/office/drawing/2014/main" id="{00000009-0002-4000-8000-000000000000}"/>
              </a:ext>
            </a:extLst>
          </p:cNvPr>
          <p:cNvSpPr>
            <a:spLocks noGrp="1"/>
          </p:cNvSpPr>
          <p:nvPr/>
        </p:nvSpPr>
        <p:spPr>
          <a:xfrm>
            <a:off x="800100" y="1647825"/>
            <a:ext cx="13639800" cy="19050"/>
          </a:xfrm>
          <a:prstGeom prst="rect">
            <a:avLst/>
          </a:prstGeom>
          <a:solidFill>
            <a:srgbClr val="D7DFEC"/>
          </a:solidFill>
          <a:ln w="0">
            <a:noFill/>
          </a:ln>
        </p:spPr>
        <p:txBody>
          <a:bodyPr/>
          <a:lstStyle/>
          <a:p>
            <a:endParaRPr lang="en-US"/>
          </a:p>
        </p:txBody>
      </p:sp>
      <p:sp>
        <p:nvSpPr>
          <p:cNvPr id="3" name="Rectangle 2">
            <a:extLst>
              <a:ext uri="{FF2B5EF4-FFF2-40B4-BE49-F238E27FC236}">
                <a16:creationId xmlns:a16="http://schemas.microsoft.com/office/drawing/2014/main" id="{00000009-0003-4000-8000-000000000000}"/>
              </a:ext>
            </a:extLst>
          </p:cNvPr>
          <p:cNvSpPr>
            <a:spLocks noGrp="1"/>
          </p:cNvSpPr>
          <p:nvPr/>
        </p:nvSpPr>
        <p:spPr>
          <a:xfrm>
            <a:off x="800100" y="8039100"/>
            <a:ext cx="5715000" cy="285750"/>
          </a:xfrm>
          <a:prstGeom prst="rect">
            <a:avLst/>
          </a:prstGeom>
          <a:noFill/>
          <a:ln w="0">
            <a:noFill/>
          </a:ln>
        </p:spPr>
        <p:txBody>
          <a:bodyPr>
            <a:noAutofit/>
          </a:bodyPr>
          <a:lstStyle/>
          <a:p>
            <a:pPr>
              <a:defRPr sz="1350" b="1">
                <a:solidFill>
                  <a:srgbClr val="596579"/>
                </a:solidFill>
                <a:latin typeface="DejaVu Sans"/>
                <a:ea typeface="DejaVu Sans"/>
                <a:cs typeface="DejaVu Sans"/>
              </a:defRPr>
            </a:pPr>
            <a:r>
              <a:rPr sz="1350" b="1">
                <a:solidFill>
                  <a:srgbClr val="596579"/>
                </a:solidFill>
                <a:latin typeface="DejaVu Sans"/>
                <a:ea typeface="DejaVu Sans"/>
                <a:cs typeface="DejaVu Sans"/>
              </a:rPr>
              <a:t>LEDORA AI</a:t>
            </a:r>
          </a:p>
        </p:txBody>
      </p:sp>
      <p:sp>
        <p:nvSpPr>
          <p:cNvPr id="4" name="Rectangle 3">
            <a:extLst>
              <a:ext uri="{FF2B5EF4-FFF2-40B4-BE49-F238E27FC236}">
                <a16:creationId xmlns:a16="http://schemas.microsoft.com/office/drawing/2014/main" id="{00000009-0004-4000-8000-000000000000}"/>
              </a:ext>
            </a:extLst>
          </p:cNvPr>
          <p:cNvSpPr>
            <a:spLocks noGrp="1"/>
          </p:cNvSpPr>
          <p:nvPr/>
        </p:nvSpPr>
        <p:spPr>
          <a:xfrm>
            <a:off x="13811250" y="8010525"/>
            <a:ext cx="619125" cy="304800"/>
          </a:xfrm>
          <a:prstGeom prst="rect">
            <a:avLst/>
          </a:prstGeom>
          <a:noFill/>
          <a:ln w="0">
            <a:noFill/>
          </a:ln>
        </p:spPr>
        <p:txBody>
          <a:bodyPr>
            <a:noAutofit/>
          </a:bodyPr>
          <a:lstStyle/>
          <a:p>
            <a:pPr>
              <a:defRPr sz="1500" b="0">
                <a:solidFill>
                  <a:srgbClr val="596579"/>
                </a:solidFill>
                <a:latin typeface="DejaVu Sans"/>
                <a:ea typeface="DejaVu Sans"/>
                <a:cs typeface="DejaVu Sans"/>
              </a:defRPr>
            </a:pPr>
            <a:r>
              <a:rPr sz="1500" b="0">
                <a:solidFill>
                  <a:srgbClr val="596579"/>
                </a:solidFill>
                <a:latin typeface="DejaVu Sans"/>
                <a:ea typeface="DejaVu Sans"/>
                <a:cs typeface="DejaVu Sans"/>
              </a:rPr>
              <a:t>09</a:t>
            </a:r>
          </a:p>
        </p:txBody>
      </p:sp>
      <p:sp>
        <p:nvSpPr>
          <p:cNvPr id="5" name="Rectangle 4">
            <a:extLst>
              <a:ext uri="{FF2B5EF4-FFF2-40B4-BE49-F238E27FC236}">
                <a16:creationId xmlns:a16="http://schemas.microsoft.com/office/drawing/2014/main" id="{00000009-0005-4000-8000-000000000000}"/>
              </a:ext>
            </a:extLst>
          </p:cNvPr>
          <p:cNvSpPr>
            <a:spLocks noGrp="1"/>
          </p:cNvSpPr>
          <p:nvPr/>
        </p:nvSpPr>
        <p:spPr>
          <a:xfrm>
            <a:off x="800100" y="2324100"/>
            <a:ext cx="6286500" cy="514350"/>
          </a:xfrm>
          <a:prstGeom prst="rect">
            <a:avLst/>
          </a:prstGeom>
          <a:noFill/>
          <a:ln w="0">
            <a:noFill/>
          </a:ln>
        </p:spPr>
        <p:txBody>
          <a:bodyPr>
            <a:noAutofit/>
          </a:bodyPr>
          <a:lstStyle/>
          <a:p>
            <a:pPr>
              <a:defRPr sz="2700" b="1">
                <a:solidFill>
                  <a:srgbClr val="2454D6"/>
                </a:solidFill>
                <a:latin typeface="DejaVu Sans"/>
                <a:ea typeface="DejaVu Sans"/>
                <a:cs typeface="DejaVu Sans"/>
              </a:defRPr>
            </a:pPr>
            <a:r>
              <a:rPr sz="2700" b="1">
                <a:solidFill>
                  <a:srgbClr val="2454D6"/>
                </a:solidFill>
                <a:latin typeface="DejaVu Sans"/>
                <a:ea typeface="DejaVu Sans"/>
                <a:cs typeface="DejaVu Sans"/>
              </a:rPr>
              <a:t>Dealer / Lead</a:t>
            </a:r>
          </a:p>
        </p:txBody>
      </p:sp>
      <p:sp>
        <p:nvSpPr>
          <p:cNvPr id="6" name="Rectangle 5">
            <a:extLst>
              <a:ext uri="{FF2B5EF4-FFF2-40B4-BE49-F238E27FC236}">
                <a16:creationId xmlns:a16="http://schemas.microsoft.com/office/drawing/2014/main" id="{00000009-0006-4000-8000-000000000000}"/>
              </a:ext>
            </a:extLst>
          </p:cNvPr>
          <p:cNvSpPr>
            <a:spLocks noGrp="1"/>
          </p:cNvSpPr>
          <p:nvPr/>
        </p:nvSpPr>
        <p:spPr>
          <a:xfrm>
            <a:off x="800100" y="3057525"/>
            <a:ext cx="6286500" cy="1371600"/>
          </a:xfrm>
          <a:prstGeom prst="rect">
            <a:avLst/>
          </a:prstGeom>
          <a:noFill/>
          <a:ln w="0">
            <a:noFill/>
          </a:ln>
        </p:spPr>
        <p:txBody>
          <a:bodyPr>
            <a:noAutofit/>
          </a:bodyPr>
          <a:lstStyle/>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ID, name, company and dealer type</a:t>
            </a:r>
          </a:p>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Country, region, city and contact information</a:t>
            </a:r>
          </a:p>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Status, sector, products and verification date</a:t>
            </a:r>
          </a:p>
        </p:txBody>
      </p:sp>
      <p:sp>
        <p:nvSpPr>
          <p:cNvPr id="7" name="Rectangle 6">
            <a:extLst>
              <a:ext uri="{FF2B5EF4-FFF2-40B4-BE49-F238E27FC236}">
                <a16:creationId xmlns:a16="http://schemas.microsoft.com/office/drawing/2014/main" id="{00000009-0007-4000-8000-000000000000}"/>
              </a:ext>
            </a:extLst>
          </p:cNvPr>
          <p:cNvSpPr>
            <a:spLocks noGrp="1"/>
          </p:cNvSpPr>
          <p:nvPr/>
        </p:nvSpPr>
        <p:spPr>
          <a:xfrm>
            <a:off x="8096250" y="2324100"/>
            <a:ext cx="6286500" cy="514350"/>
          </a:xfrm>
          <a:prstGeom prst="rect">
            <a:avLst/>
          </a:prstGeom>
          <a:noFill/>
          <a:ln w="0">
            <a:noFill/>
          </a:ln>
        </p:spPr>
        <p:txBody>
          <a:bodyPr>
            <a:noAutofit/>
          </a:bodyPr>
          <a:lstStyle/>
          <a:p>
            <a:pPr>
              <a:defRPr sz="2700" b="1">
                <a:solidFill>
                  <a:srgbClr val="2454D6"/>
                </a:solidFill>
                <a:latin typeface="DejaVu Sans"/>
                <a:ea typeface="DejaVu Sans"/>
                <a:cs typeface="DejaVu Sans"/>
              </a:defRPr>
            </a:pPr>
            <a:r>
              <a:rPr sz="2700" b="1">
                <a:solidFill>
                  <a:srgbClr val="2454D6"/>
                </a:solidFill>
                <a:latin typeface="DejaVu Sans"/>
                <a:ea typeface="DejaVu Sans"/>
                <a:cs typeface="DejaVu Sans"/>
              </a:rPr>
              <a:t>Sales Record</a:t>
            </a:r>
          </a:p>
        </p:txBody>
      </p:sp>
      <p:sp>
        <p:nvSpPr>
          <p:cNvPr id="8" name="Rectangle 7">
            <a:extLst>
              <a:ext uri="{FF2B5EF4-FFF2-40B4-BE49-F238E27FC236}">
                <a16:creationId xmlns:a16="http://schemas.microsoft.com/office/drawing/2014/main" id="{00000009-0008-4000-8000-000000000000}"/>
              </a:ext>
            </a:extLst>
          </p:cNvPr>
          <p:cNvSpPr>
            <a:spLocks noGrp="1"/>
          </p:cNvSpPr>
          <p:nvPr/>
        </p:nvSpPr>
        <p:spPr>
          <a:xfrm>
            <a:off x="8096250" y="3057525"/>
            <a:ext cx="6286500" cy="1371600"/>
          </a:xfrm>
          <a:prstGeom prst="rect">
            <a:avLst/>
          </a:prstGeom>
          <a:noFill/>
          <a:ln w="0">
            <a:noFill/>
          </a:ln>
        </p:spPr>
        <p:txBody>
          <a:bodyPr>
            <a:noAutofit/>
          </a:bodyPr>
          <a:lstStyle/>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Customer and country</a:t>
            </a:r>
          </a:p>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Month / year and product</a:t>
            </a:r>
          </a:p>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Quantity, amount and currency</a:t>
            </a:r>
          </a:p>
        </p:txBody>
      </p:sp>
      <p:sp>
        <p:nvSpPr>
          <p:cNvPr id="9" name="Rectangle 8">
            <a:extLst>
              <a:ext uri="{FF2B5EF4-FFF2-40B4-BE49-F238E27FC236}">
                <a16:creationId xmlns:a16="http://schemas.microsoft.com/office/drawing/2014/main" id="{00000009-0009-4000-8000-000000000000}"/>
              </a:ext>
            </a:extLst>
          </p:cNvPr>
          <p:cNvSpPr>
            <a:spLocks noGrp="1"/>
          </p:cNvSpPr>
          <p:nvPr/>
        </p:nvSpPr>
        <p:spPr>
          <a:xfrm>
            <a:off x="800100" y="5000625"/>
            <a:ext cx="6286500" cy="514350"/>
          </a:xfrm>
          <a:prstGeom prst="rect">
            <a:avLst/>
          </a:prstGeom>
          <a:noFill/>
          <a:ln w="0">
            <a:noFill/>
          </a:ln>
        </p:spPr>
        <p:txBody>
          <a:bodyPr>
            <a:noAutofit/>
          </a:bodyPr>
          <a:lstStyle/>
          <a:p>
            <a:pPr>
              <a:defRPr sz="2700" b="1">
                <a:solidFill>
                  <a:srgbClr val="2454D6"/>
                </a:solidFill>
                <a:latin typeface="DejaVu Sans"/>
                <a:ea typeface="DejaVu Sans"/>
                <a:cs typeface="DejaVu Sans"/>
              </a:defRPr>
            </a:pPr>
            <a:r>
              <a:rPr sz="2700" b="1">
                <a:solidFill>
                  <a:srgbClr val="2454D6"/>
                </a:solidFill>
                <a:latin typeface="DejaVu Sans"/>
                <a:ea typeface="DejaVu Sans"/>
                <a:cs typeface="DejaVu Sans"/>
              </a:rPr>
              <a:t>Communication</a:t>
            </a:r>
          </a:p>
        </p:txBody>
      </p:sp>
      <p:sp>
        <p:nvSpPr>
          <p:cNvPr id="10" name="Rectangle 9">
            <a:extLst>
              <a:ext uri="{FF2B5EF4-FFF2-40B4-BE49-F238E27FC236}">
                <a16:creationId xmlns:a16="http://schemas.microsoft.com/office/drawing/2014/main" id="{00000009-000A-4000-8000-000000000000}"/>
              </a:ext>
            </a:extLst>
          </p:cNvPr>
          <p:cNvSpPr>
            <a:spLocks noGrp="1"/>
          </p:cNvSpPr>
          <p:nvPr/>
        </p:nvSpPr>
        <p:spPr>
          <a:xfrm>
            <a:off x="800100" y="5734050"/>
            <a:ext cx="6286500" cy="1371600"/>
          </a:xfrm>
          <a:prstGeom prst="rect">
            <a:avLst/>
          </a:prstGeom>
          <a:noFill/>
          <a:ln w="0">
            <a:noFill/>
          </a:ln>
        </p:spPr>
        <p:txBody>
          <a:bodyPr>
            <a:noAutofit/>
          </a:bodyPr>
          <a:lstStyle/>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Email, Message, Call or Meeting</a:t>
            </a:r>
          </a:p>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Sender / recipient, subject and message</a:t>
            </a:r>
          </a:p>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Status and timestamp</a:t>
            </a:r>
          </a:p>
        </p:txBody>
      </p:sp>
      <p:sp>
        <p:nvSpPr>
          <p:cNvPr id="11" name="Rectangle 10">
            <a:extLst>
              <a:ext uri="{FF2B5EF4-FFF2-40B4-BE49-F238E27FC236}">
                <a16:creationId xmlns:a16="http://schemas.microsoft.com/office/drawing/2014/main" id="{00000009-000B-4000-8000-000000000000}"/>
              </a:ext>
            </a:extLst>
          </p:cNvPr>
          <p:cNvSpPr>
            <a:spLocks noGrp="1"/>
          </p:cNvSpPr>
          <p:nvPr/>
        </p:nvSpPr>
        <p:spPr>
          <a:xfrm>
            <a:off x="8096250" y="5000625"/>
            <a:ext cx="6286500" cy="514350"/>
          </a:xfrm>
          <a:prstGeom prst="rect">
            <a:avLst/>
          </a:prstGeom>
          <a:noFill/>
          <a:ln w="0">
            <a:noFill/>
          </a:ln>
        </p:spPr>
        <p:txBody>
          <a:bodyPr>
            <a:noAutofit/>
          </a:bodyPr>
          <a:lstStyle/>
          <a:p>
            <a:pPr>
              <a:defRPr sz="2700" b="1">
                <a:solidFill>
                  <a:srgbClr val="2454D6"/>
                </a:solidFill>
                <a:latin typeface="DejaVu Sans"/>
                <a:ea typeface="DejaVu Sans"/>
                <a:cs typeface="DejaVu Sans"/>
              </a:defRPr>
            </a:pPr>
            <a:r>
              <a:rPr sz="2700" b="1">
                <a:solidFill>
                  <a:srgbClr val="2454D6"/>
                </a:solidFill>
                <a:latin typeface="DejaVu Sans"/>
                <a:ea typeface="DejaVu Sans"/>
                <a:cs typeface="DejaVu Sans"/>
              </a:rPr>
              <a:t>Company</a:t>
            </a:r>
          </a:p>
        </p:txBody>
      </p:sp>
      <p:sp>
        <p:nvSpPr>
          <p:cNvPr id="12" name="Rectangle 11">
            <a:extLst>
              <a:ext uri="{FF2B5EF4-FFF2-40B4-BE49-F238E27FC236}">
                <a16:creationId xmlns:a16="http://schemas.microsoft.com/office/drawing/2014/main" id="{00000009-000C-4000-8000-000000000000}"/>
              </a:ext>
            </a:extLst>
          </p:cNvPr>
          <p:cNvSpPr>
            <a:spLocks noGrp="1"/>
          </p:cNvSpPr>
          <p:nvPr/>
        </p:nvSpPr>
        <p:spPr>
          <a:xfrm>
            <a:off x="8096250" y="5734050"/>
            <a:ext cx="6286500" cy="1371600"/>
          </a:xfrm>
          <a:prstGeom prst="rect">
            <a:avLst/>
          </a:prstGeom>
          <a:noFill/>
          <a:ln w="0">
            <a:noFill/>
          </a:ln>
        </p:spPr>
        <p:txBody>
          <a:bodyPr>
            <a:noAutofit/>
          </a:bodyPr>
          <a:lstStyle/>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Sector, sub-sectors and industry</a:t>
            </a:r>
          </a:p>
          <a:p>
            <a:pPr>
              <a:defRPr sz="2100" b="0">
                <a:solidFill>
                  <a:srgbClr val="172033"/>
                </a:solidFill>
                <a:latin typeface="DejaVu Sans"/>
                <a:ea typeface="DejaVu Sans"/>
                <a:cs typeface="DejaVu Sans"/>
              </a:defRPr>
            </a:pPr>
            <a:r>
              <a:rPr sz="2100" b="0">
                <a:solidFill>
                  <a:srgbClr val="172033"/>
                </a:solidFill>
                <a:latin typeface="DejaVu Sans"/>
                <a:ea typeface="DejaVu Sans"/>
                <a:cs typeface="DejaVu Sans"/>
              </a:rPr>
              <a:t>Location</a:t>
            </a:r>
          </a:p>
        </p:txBody>
      </p:sp>
      <p:sp>
        <p:nvSpPr>
          <p:cNvPr id="13" name="Rectangle 12">
            <a:extLst>
              <a:ext uri="{FF2B5EF4-FFF2-40B4-BE49-F238E27FC236}">
                <a16:creationId xmlns:a16="http://schemas.microsoft.com/office/drawing/2014/main" id="{00000009-000D-4000-8000-000000000000}"/>
              </a:ext>
            </a:extLst>
          </p:cNvPr>
          <p:cNvSpPr>
            <a:spLocks noGrp="1"/>
          </p:cNvSpPr>
          <p:nvPr/>
        </p:nvSpPr>
        <p:spPr>
          <a:xfrm>
            <a:off x="800100" y="7419975"/>
            <a:ext cx="13639800" cy="523875"/>
          </a:xfrm>
          <a:prstGeom prst="rect">
            <a:avLst/>
          </a:prstGeom>
          <a:noFill/>
          <a:ln w="0">
            <a:noFill/>
          </a:ln>
        </p:spPr>
        <p:txBody>
          <a:bodyPr>
            <a:noAutofit/>
          </a:bodyPr>
          <a:lstStyle/>
          <a:p>
            <a:pPr>
              <a:defRPr sz="2025" b="0">
                <a:solidFill>
                  <a:srgbClr val="596579"/>
                </a:solidFill>
                <a:latin typeface="DejaVu Sans"/>
                <a:ea typeface="DejaVu Sans"/>
                <a:cs typeface="DejaVu Sans"/>
              </a:defRPr>
            </a:pPr>
            <a:r>
              <a:rPr sz="2025" b="0">
                <a:solidFill>
                  <a:srgbClr val="596579"/>
                </a:solidFill>
                <a:latin typeface="DejaVu Sans"/>
                <a:ea typeface="DejaVu Sans"/>
                <a:cs typeface="DejaVu Sans"/>
              </a:rPr>
              <a:t>Structured records support forecasting and segmentation, and provide a base for the ML roadmap.</a:t>
            </a:r>
          </a:p>
        </p:txBody>
      </p:sp>
    </p:spTree>
    <p:extLst>
      <p:ext uri="{BB962C8B-B14F-4D97-AF65-F5344CB8AC3E}">
        <p14:creationId xmlns:p14="http://schemas.microsoft.com/office/powerpoint/2010/main" val="900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0000000A-0001-4000-8000-000000000000}"/>
              </a:ext>
            </a:extLst>
          </p:cNvPr>
          <p:cNvSpPr>
            <a:spLocks noGrp="1"/>
          </p:cNvSpPr>
          <p:nvPr/>
        </p:nvSpPr>
        <p:spPr>
          <a:xfrm>
            <a:off x="800100" y="628650"/>
            <a:ext cx="13620750" cy="819150"/>
          </a:xfrm>
          <a:prstGeom prst="rect">
            <a:avLst/>
          </a:prstGeom>
          <a:noFill/>
          <a:ln w="0">
            <a:noFill/>
          </a:ln>
        </p:spPr>
        <p:txBody>
          <a:bodyPr>
            <a:noAutofit/>
          </a:bodyPr>
          <a:lstStyle/>
          <a:p>
            <a:pPr>
              <a:defRPr sz="4050" b="1">
                <a:solidFill>
                  <a:srgbClr val="172033"/>
                </a:solidFill>
                <a:latin typeface="DejaVu Sans"/>
                <a:ea typeface="DejaVu Sans"/>
                <a:cs typeface="DejaVu Sans"/>
              </a:defRPr>
            </a:pPr>
            <a:r>
              <a:rPr sz="4050" b="1">
                <a:solidFill>
                  <a:srgbClr val="172033"/>
                </a:solidFill>
                <a:latin typeface="DejaVu Sans"/>
                <a:ea typeface="DejaVu Sans"/>
                <a:cs typeface="DejaVu Sans"/>
              </a:rPr>
              <a:t>Roadmap: insight and recommended actions</a:t>
            </a:r>
          </a:p>
        </p:txBody>
      </p:sp>
      <p:sp>
        <p:nvSpPr>
          <p:cNvPr id="2" name="Rectangle 1">
            <a:extLst>
              <a:ext uri="{FF2B5EF4-FFF2-40B4-BE49-F238E27FC236}">
                <a16:creationId xmlns:a16="http://schemas.microsoft.com/office/drawing/2014/main" id="{0000000A-0002-4000-8000-000000000000}"/>
              </a:ext>
            </a:extLst>
          </p:cNvPr>
          <p:cNvSpPr>
            <a:spLocks noGrp="1"/>
          </p:cNvSpPr>
          <p:nvPr/>
        </p:nvSpPr>
        <p:spPr>
          <a:xfrm>
            <a:off x="800100" y="1647825"/>
            <a:ext cx="13639800" cy="19050"/>
          </a:xfrm>
          <a:prstGeom prst="rect">
            <a:avLst/>
          </a:prstGeom>
          <a:solidFill>
            <a:srgbClr val="D7DFEC"/>
          </a:solidFill>
          <a:ln w="0">
            <a:noFill/>
          </a:ln>
        </p:spPr>
        <p:txBody>
          <a:bodyPr/>
          <a:lstStyle/>
          <a:p>
            <a:endParaRPr lang="en-US"/>
          </a:p>
        </p:txBody>
      </p:sp>
      <p:sp>
        <p:nvSpPr>
          <p:cNvPr id="3" name="Rectangle 2">
            <a:extLst>
              <a:ext uri="{FF2B5EF4-FFF2-40B4-BE49-F238E27FC236}">
                <a16:creationId xmlns:a16="http://schemas.microsoft.com/office/drawing/2014/main" id="{0000000A-0003-4000-8000-000000000000}"/>
              </a:ext>
            </a:extLst>
          </p:cNvPr>
          <p:cNvSpPr>
            <a:spLocks noGrp="1"/>
          </p:cNvSpPr>
          <p:nvPr/>
        </p:nvSpPr>
        <p:spPr>
          <a:xfrm>
            <a:off x="800100" y="8039100"/>
            <a:ext cx="5715000" cy="285750"/>
          </a:xfrm>
          <a:prstGeom prst="rect">
            <a:avLst/>
          </a:prstGeom>
          <a:noFill/>
          <a:ln w="0">
            <a:noFill/>
          </a:ln>
        </p:spPr>
        <p:txBody>
          <a:bodyPr>
            <a:noAutofit/>
          </a:bodyPr>
          <a:lstStyle/>
          <a:p>
            <a:pPr>
              <a:defRPr sz="1350" b="1">
                <a:solidFill>
                  <a:srgbClr val="596579"/>
                </a:solidFill>
                <a:latin typeface="DejaVu Sans"/>
                <a:ea typeface="DejaVu Sans"/>
                <a:cs typeface="DejaVu Sans"/>
              </a:defRPr>
            </a:pPr>
            <a:r>
              <a:rPr sz="1350" b="1">
                <a:solidFill>
                  <a:srgbClr val="596579"/>
                </a:solidFill>
                <a:latin typeface="DejaVu Sans"/>
                <a:ea typeface="DejaVu Sans"/>
                <a:cs typeface="DejaVu Sans"/>
              </a:rPr>
              <a:t>LEDORA AI</a:t>
            </a:r>
          </a:p>
        </p:txBody>
      </p:sp>
      <p:sp>
        <p:nvSpPr>
          <p:cNvPr id="4" name="Rectangle 3">
            <a:extLst>
              <a:ext uri="{FF2B5EF4-FFF2-40B4-BE49-F238E27FC236}">
                <a16:creationId xmlns:a16="http://schemas.microsoft.com/office/drawing/2014/main" id="{0000000A-0004-4000-8000-000000000000}"/>
              </a:ext>
            </a:extLst>
          </p:cNvPr>
          <p:cNvSpPr>
            <a:spLocks noGrp="1"/>
          </p:cNvSpPr>
          <p:nvPr/>
        </p:nvSpPr>
        <p:spPr>
          <a:xfrm>
            <a:off x="13811250" y="8010525"/>
            <a:ext cx="619125" cy="304800"/>
          </a:xfrm>
          <a:prstGeom prst="rect">
            <a:avLst/>
          </a:prstGeom>
          <a:noFill/>
          <a:ln w="0">
            <a:noFill/>
          </a:ln>
        </p:spPr>
        <p:txBody>
          <a:bodyPr>
            <a:noAutofit/>
          </a:bodyPr>
          <a:lstStyle/>
          <a:p>
            <a:pPr>
              <a:defRPr sz="1500" b="0">
                <a:solidFill>
                  <a:srgbClr val="596579"/>
                </a:solidFill>
                <a:latin typeface="DejaVu Sans"/>
                <a:ea typeface="DejaVu Sans"/>
                <a:cs typeface="DejaVu Sans"/>
              </a:defRPr>
            </a:pPr>
            <a:r>
              <a:rPr sz="1500" b="0">
                <a:solidFill>
                  <a:srgbClr val="596579"/>
                </a:solidFill>
                <a:latin typeface="DejaVu Sans"/>
                <a:ea typeface="DejaVu Sans"/>
                <a:cs typeface="DejaVu Sans"/>
              </a:rPr>
              <a:t>10</a:t>
            </a:r>
          </a:p>
        </p:txBody>
      </p:sp>
      <p:sp>
        <p:nvSpPr>
          <p:cNvPr id="5" name="Rectangle 4">
            <a:extLst>
              <a:ext uri="{FF2B5EF4-FFF2-40B4-BE49-F238E27FC236}">
                <a16:creationId xmlns:a16="http://schemas.microsoft.com/office/drawing/2014/main" id="{0000000A-0005-4000-8000-000000000000}"/>
              </a:ext>
            </a:extLst>
          </p:cNvPr>
          <p:cNvSpPr>
            <a:spLocks noGrp="1"/>
          </p:cNvSpPr>
          <p:nvPr/>
        </p:nvSpPr>
        <p:spPr>
          <a:xfrm>
            <a:off x="800100" y="2200275"/>
            <a:ext cx="714375" cy="438150"/>
          </a:xfrm>
          <a:prstGeom prst="rect">
            <a:avLst/>
          </a:prstGeom>
          <a:noFill/>
          <a:ln w="0">
            <a:noFill/>
          </a:ln>
        </p:spPr>
        <p:txBody>
          <a:bodyPr>
            <a:noAutofit/>
          </a:bodyPr>
          <a:lstStyle/>
          <a:p>
            <a:pPr>
              <a:defRPr sz="2325" b="1">
                <a:solidFill>
                  <a:srgbClr val="2454D6"/>
                </a:solidFill>
                <a:latin typeface="DejaVu Sans"/>
                <a:ea typeface="DejaVu Sans"/>
                <a:cs typeface="DejaVu Sans"/>
              </a:defRPr>
            </a:pPr>
            <a:r>
              <a:rPr sz="2325" b="1">
                <a:solidFill>
                  <a:srgbClr val="2454D6"/>
                </a:solidFill>
                <a:latin typeface="DejaVu Sans"/>
                <a:ea typeface="DejaVu Sans"/>
                <a:cs typeface="DejaVu Sans"/>
              </a:rPr>
              <a:t>01</a:t>
            </a:r>
          </a:p>
        </p:txBody>
      </p:sp>
      <p:sp>
        <p:nvSpPr>
          <p:cNvPr id="6" name="Rectangle 5">
            <a:extLst>
              <a:ext uri="{FF2B5EF4-FFF2-40B4-BE49-F238E27FC236}">
                <a16:creationId xmlns:a16="http://schemas.microsoft.com/office/drawing/2014/main" id="{0000000A-0006-4000-8000-000000000000}"/>
              </a:ext>
            </a:extLst>
          </p:cNvPr>
          <p:cNvSpPr>
            <a:spLocks noGrp="1"/>
          </p:cNvSpPr>
          <p:nvPr/>
        </p:nvSpPr>
        <p:spPr>
          <a:xfrm>
            <a:off x="1704975" y="2200275"/>
            <a:ext cx="5448300" cy="619125"/>
          </a:xfrm>
          <a:prstGeom prst="rect">
            <a:avLst/>
          </a:prstGeom>
          <a:noFill/>
          <a:ln w="0">
            <a:noFill/>
          </a:ln>
        </p:spPr>
        <p:txBody>
          <a:bodyPr>
            <a:noAutofit/>
          </a:bodyPr>
          <a:lstStyle/>
          <a:p>
            <a:pPr>
              <a:defRPr sz="2175" b="1">
                <a:solidFill>
                  <a:srgbClr val="172033"/>
                </a:solidFill>
                <a:latin typeface="DejaVu Sans"/>
                <a:ea typeface="DejaVu Sans"/>
                <a:cs typeface="DejaVu Sans"/>
              </a:defRPr>
            </a:pPr>
            <a:r>
              <a:rPr sz="2175" b="1">
                <a:solidFill>
                  <a:srgbClr val="172033"/>
                </a:solidFill>
                <a:latin typeface="DejaVu Sans"/>
                <a:ea typeface="DejaVu Sans"/>
                <a:cs typeface="DejaVu Sans"/>
              </a:rPr>
              <a:t>Order Lifecycle Tracking</a:t>
            </a:r>
          </a:p>
        </p:txBody>
      </p:sp>
      <p:sp>
        <p:nvSpPr>
          <p:cNvPr id="7" name="Rectangle 6">
            <a:extLst>
              <a:ext uri="{FF2B5EF4-FFF2-40B4-BE49-F238E27FC236}">
                <a16:creationId xmlns:a16="http://schemas.microsoft.com/office/drawing/2014/main" id="{0000000A-0007-4000-8000-000000000000}"/>
              </a:ext>
            </a:extLst>
          </p:cNvPr>
          <p:cNvSpPr>
            <a:spLocks noGrp="1"/>
          </p:cNvSpPr>
          <p:nvPr/>
        </p:nvSpPr>
        <p:spPr>
          <a:xfrm>
            <a:off x="1704975" y="2819400"/>
            <a:ext cx="5448300" cy="723900"/>
          </a:xfrm>
          <a:prstGeom prst="rect">
            <a:avLst/>
          </a:prstGeom>
          <a:noFill/>
          <a:ln w="0">
            <a:noFill/>
          </a:ln>
        </p:spPr>
        <p:txBody>
          <a:bodyPr>
            <a:noAutofit/>
          </a:bodyPr>
          <a:lstStyle/>
          <a:p>
            <a:pPr>
              <a:defRPr sz="1875" b="0">
                <a:solidFill>
                  <a:srgbClr val="596579"/>
                </a:solidFill>
                <a:latin typeface="DejaVu Sans"/>
                <a:ea typeface="DejaVu Sans"/>
                <a:cs typeface="DejaVu Sans"/>
              </a:defRPr>
            </a:pPr>
            <a:r>
              <a:rPr sz="1875" b="0">
                <a:solidFill>
                  <a:srgbClr val="596579"/>
                </a:solidFill>
                <a:latin typeface="DejaVu Sans"/>
                <a:ea typeface="DejaVu Sans"/>
                <a:cs typeface="DejaVu Sans"/>
              </a:rPr>
              <a:t>Add Pending / Completed / Delayed status and an Orders dashboard</a:t>
            </a:r>
          </a:p>
        </p:txBody>
      </p:sp>
      <p:sp>
        <p:nvSpPr>
          <p:cNvPr id="8" name="Rectangle 7">
            <a:extLst>
              <a:ext uri="{FF2B5EF4-FFF2-40B4-BE49-F238E27FC236}">
                <a16:creationId xmlns:a16="http://schemas.microsoft.com/office/drawing/2014/main" id="{0000000A-0008-4000-8000-000000000000}"/>
              </a:ext>
            </a:extLst>
          </p:cNvPr>
          <p:cNvSpPr>
            <a:spLocks noGrp="1"/>
          </p:cNvSpPr>
          <p:nvPr/>
        </p:nvSpPr>
        <p:spPr>
          <a:xfrm>
            <a:off x="800100" y="3571875"/>
            <a:ext cx="714375" cy="438150"/>
          </a:xfrm>
          <a:prstGeom prst="rect">
            <a:avLst/>
          </a:prstGeom>
          <a:noFill/>
          <a:ln w="0">
            <a:noFill/>
          </a:ln>
        </p:spPr>
        <p:txBody>
          <a:bodyPr>
            <a:noAutofit/>
          </a:bodyPr>
          <a:lstStyle/>
          <a:p>
            <a:pPr>
              <a:defRPr sz="2325" b="1">
                <a:solidFill>
                  <a:srgbClr val="2454D6"/>
                </a:solidFill>
                <a:latin typeface="DejaVu Sans"/>
                <a:ea typeface="DejaVu Sans"/>
                <a:cs typeface="DejaVu Sans"/>
              </a:defRPr>
            </a:pPr>
            <a:r>
              <a:rPr sz="2325" b="1">
                <a:solidFill>
                  <a:srgbClr val="2454D6"/>
                </a:solidFill>
                <a:latin typeface="DejaVu Sans"/>
                <a:ea typeface="DejaVu Sans"/>
                <a:cs typeface="DejaVu Sans"/>
              </a:rPr>
              <a:t>02</a:t>
            </a:r>
          </a:p>
        </p:txBody>
      </p:sp>
      <p:sp>
        <p:nvSpPr>
          <p:cNvPr id="9" name="Rectangle 8">
            <a:extLst>
              <a:ext uri="{FF2B5EF4-FFF2-40B4-BE49-F238E27FC236}">
                <a16:creationId xmlns:a16="http://schemas.microsoft.com/office/drawing/2014/main" id="{0000000A-0009-4000-8000-000000000000}"/>
              </a:ext>
            </a:extLst>
          </p:cNvPr>
          <p:cNvSpPr>
            <a:spLocks noGrp="1"/>
          </p:cNvSpPr>
          <p:nvPr/>
        </p:nvSpPr>
        <p:spPr>
          <a:xfrm>
            <a:off x="1704975" y="3571875"/>
            <a:ext cx="5448300" cy="619125"/>
          </a:xfrm>
          <a:prstGeom prst="rect">
            <a:avLst/>
          </a:prstGeom>
          <a:noFill/>
          <a:ln w="0">
            <a:noFill/>
          </a:ln>
        </p:spPr>
        <p:txBody>
          <a:bodyPr>
            <a:noAutofit/>
          </a:bodyPr>
          <a:lstStyle/>
          <a:p>
            <a:pPr>
              <a:defRPr sz="2175" b="1">
                <a:solidFill>
                  <a:srgbClr val="172033"/>
                </a:solidFill>
                <a:latin typeface="DejaVu Sans"/>
                <a:ea typeface="DejaVu Sans"/>
                <a:cs typeface="DejaVu Sans"/>
              </a:defRPr>
            </a:pPr>
            <a:r>
              <a:rPr sz="2175" b="1">
                <a:solidFill>
                  <a:srgbClr val="172033"/>
                </a:solidFill>
                <a:latin typeface="DejaVu Sans"/>
                <a:ea typeface="DejaVu Sans"/>
                <a:cs typeface="DejaVu Sans"/>
              </a:rPr>
              <a:t>Customer Trend Alerts</a:t>
            </a:r>
          </a:p>
        </p:txBody>
      </p:sp>
      <p:sp>
        <p:nvSpPr>
          <p:cNvPr id="10" name="Rectangle 9">
            <a:extLst>
              <a:ext uri="{FF2B5EF4-FFF2-40B4-BE49-F238E27FC236}">
                <a16:creationId xmlns:a16="http://schemas.microsoft.com/office/drawing/2014/main" id="{0000000A-000A-4000-8000-000000000000}"/>
              </a:ext>
            </a:extLst>
          </p:cNvPr>
          <p:cNvSpPr>
            <a:spLocks noGrp="1"/>
          </p:cNvSpPr>
          <p:nvPr/>
        </p:nvSpPr>
        <p:spPr>
          <a:xfrm>
            <a:off x="1704975" y="4191000"/>
            <a:ext cx="5448300" cy="723900"/>
          </a:xfrm>
          <a:prstGeom prst="rect">
            <a:avLst/>
          </a:prstGeom>
          <a:noFill/>
          <a:ln w="0">
            <a:noFill/>
          </a:ln>
        </p:spPr>
        <p:txBody>
          <a:bodyPr>
            <a:noAutofit/>
          </a:bodyPr>
          <a:lstStyle/>
          <a:p>
            <a:pPr>
              <a:defRPr sz="1875" b="0">
                <a:solidFill>
                  <a:srgbClr val="596579"/>
                </a:solidFill>
                <a:latin typeface="DejaVu Sans"/>
                <a:ea typeface="DejaVu Sans"/>
                <a:cs typeface="DejaVu Sans"/>
              </a:defRPr>
            </a:pPr>
            <a:r>
              <a:rPr sz="1875" b="0">
                <a:solidFill>
                  <a:srgbClr val="596579"/>
                </a:solidFill>
                <a:latin typeface="DejaVu Sans"/>
                <a:ea typeface="DejaVu Sans"/>
                <a:cs typeface="DejaVu Sans"/>
              </a:rPr>
              <a:t>Flag rising or falling purchase volume across periods</a:t>
            </a:r>
          </a:p>
        </p:txBody>
      </p:sp>
      <p:sp>
        <p:nvSpPr>
          <p:cNvPr id="11" name="Rectangle 10">
            <a:extLst>
              <a:ext uri="{FF2B5EF4-FFF2-40B4-BE49-F238E27FC236}">
                <a16:creationId xmlns:a16="http://schemas.microsoft.com/office/drawing/2014/main" id="{0000000A-000B-4000-8000-000000000000}"/>
              </a:ext>
            </a:extLst>
          </p:cNvPr>
          <p:cNvSpPr>
            <a:spLocks noGrp="1"/>
          </p:cNvSpPr>
          <p:nvPr/>
        </p:nvSpPr>
        <p:spPr>
          <a:xfrm>
            <a:off x="800100" y="4943475"/>
            <a:ext cx="714375" cy="438150"/>
          </a:xfrm>
          <a:prstGeom prst="rect">
            <a:avLst/>
          </a:prstGeom>
          <a:noFill/>
          <a:ln w="0">
            <a:noFill/>
          </a:ln>
        </p:spPr>
        <p:txBody>
          <a:bodyPr>
            <a:noAutofit/>
          </a:bodyPr>
          <a:lstStyle/>
          <a:p>
            <a:pPr>
              <a:defRPr sz="2325" b="1">
                <a:solidFill>
                  <a:srgbClr val="2454D6"/>
                </a:solidFill>
                <a:latin typeface="DejaVu Sans"/>
                <a:ea typeface="DejaVu Sans"/>
                <a:cs typeface="DejaVu Sans"/>
              </a:defRPr>
            </a:pPr>
            <a:r>
              <a:rPr sz="2325" b="1">
                <a:solidFill>
                  <a:srgbClr val="2454D6"/>
                </a:solidFill>
                <a:latin typeface="DejaVu Sans"/>
                <a:ea typeface="DejaVu Sans"/>
                <a:cs typeface="DejaVu Sans"/>
              </a:rPr>
              <a:t>03</a:t>
            </a:r>
          </a:p>
        </p:txBody>
      </p:sp>
      <p:sp>
        <p:nvSpPr>
          <p:cNvPr id="12" name="Rectangle 11">
            <a:extLst>
              <a:ext uri="{FF2B5EF4-FFF2-40B4-BE49-F238E27FC236}">
                <a16:creationId xmlns:a16="http://schemas.microsoft.com/office/drawing/2014/main" id="{0000000A-000C-4000-8000-000000000000}"/>
              </a:ext>
            </a:extLst>
          </p:cNvPr>
          <p:cNvSpPr>
            <a:spLocks noGrp="1"/>
          </p:cNvSpPr>
          <p:nvPr/>
        </p:nvSpPr>
        <p:spPr>
          <a:xfrm>
            <a:off x="1704975" y="4943475"/>
            <a:ext cx="5448300" cy="619125"/>
          </a:xfrm>
          <a:prstGeom prst="rect">
            <a:avLst/>
          </a:prstGeom>
          <a:noFill/>
          <a:ln w="0">
            <a:noFill/>
          </a:ln>
        </p:spPr>
        <p:txBody>
          <a:bodyPr>
            <a:noAutofit/>
          </a:bodyPr>
          <a:lstStyle/>
          <a:p>
            <a:pPr>
              <a:defRPr sz="2175" b="1">
                <a:solidFill>
                  <a:srgbClr val="172033"/>
                </a:solidFill>
                <a:latin typeface="DejaVu Sans"/>
                <a:ea typeface="DejaVu Sans"/>
                <a:cs typeface="DejaVu Sans"/>
              </a:defRPr>
            </a:pPr>
            <a:r>
              <a:rPr sz="2175" b="1">
                <a:solidFill>
                  <a:srgbClr val="172033"/>
                </a:solidFill>
                <a:latin typeface="DejaVu Sans"/>
                <a:ea typeface="DejaVu Sans"/>
                <a:cs typeface="DejaVu Sans"/>
              </a:rPr>
              <a:t>Cross-sell Engine</a:t>
            </a:r>
          </a:p>
        </p:txBody>
      </p:sp>
      <p:sp>
        <p:nvSpPr>
          <p:cNvPr id="13" name="Rectangle 12">
            <a:extLst>
              <a:ext uri="{FF2B5EF4-FFF2-40B4-BE49-F238E27FC236}">
                <a16:creationId xmlns:a16="http://schemas.microsoft.com/office/drawing/2014/main" id="{0000000A-000D-4000-8000-000000000000}"/>
              </a:ext>
            </a:extLst>
          </p:cNvPr>
          <p:cNvSpPr>
            <a:spLocks noGrp="1"/>
          </p:cNvSpPr>
          <p:nvPr/>
        </p:nvSpPr>
        <p:spPr>
          <a:xfrm>
            <a:off x="1704975" y="5562600"/>
            <a:ext cx="5448300" cy="723900"/>
          </a:xfrm>
          <a:prstGeom prst="rect">
            <a:avLst/>
          </a:prstGeom>
          <a:noFill/>
          <a:ln w="0">
            <a:noFill/>
          </a:ln>
        </p:spPr>
        <p:txBody>
          <a:bodyPr>
            <a:noAutofit/>
          </a:bodyPr>
          <a:lstStyle/>
          <a:p>
            <a:pPr>
              <a:defRPr sz="1875" b="0">
                <a:solidFill>
                  <a:srgbClr val="596579"/>
                </a:solidFill>
                <a:latin typeface="DejaVu Sans"/>
                <a:ea typeface="DejaVu Sans"/>
                <a:cs typeface="DejaVu Sans"/>
              </a:defRPr>
            </a:pPr>
            <a:r>
              <a:rPr sz="1875" b="0">
                <a:solidFill>
                  <a:srgbClr val="596579"/>
                </a:solidFill>
                <a:latin typeface="DejaVu Sans"/>
                <a:ea typeface="DejaVu Sans"/>
                <a:cs typeface="DejaVu Sans"/>
              </a:rPr>
              <a:t>Compare dealer catalog with purchase mix to recommend products</a:t>
            </a:r>
          </a:p>
        </p:txBody>
      </p:sp>
      <p:sp>
        <p:nvSpPr>
          <p:cNvPr id="14" name="Rectangle 13">
            <a:extLst>
              <a:ext uri="{FF2B5EF4-FFF2-40B4-BE49-F238E27FC236}">
                <a16:creationId xmlns:a16="http://schemas.microsoft.com/office/drawing/2014/main" id="{0000000A-000E-4000-8000-000000000000}"/>
              </a:ext>
            </a:extLst>
          </p:cNvPr>
          <p:cNvSpPr>
            <a:spLocks noGrp="1"/>
          </p:cNvSpPr>
          <p:nvPr/>
        </p:nvSpPr>
        <p:spPr>
          <a:xfrm>
            <a:off x="800100" y="6315075"/>
            <a:ext cx="714375" cy="438150"/>
          </a:xfrm>
          <a:prstGeom prst="rect">
            <a:avLst/>
          </a:prstGeom>
          <a:noFill/>
          <a:ln w="0">
            <a:noFill/>
          </a:ln>
        </p:spPr>
        <p:txBody>
          <a:bodyPr>
            <a:noAutofit/>
          </a:bodyPr>
          <a:lstStyle/>
          <a:p>
            <a:pPr>
              <a:defRPr sz="2325" b="1">
                <a:solidFill>
                  <a:srgbClr val="2454D6"/>
                </a:solidFill>
                <a:latin typeface="DejaVu Sans"/>
                <a:ea typeface="DejaVu Sans"/>
                <a:cs typeface="DejaVu Sans"/>
              </a:defRPr>
            </a:pPr>
            <a:r>
              <a:rPr sz="2325" b="1">
                <a:solidFill>
                  <a:srgbClr val="2454D6"/>
                </a:solidFill>
                <a:latin typeface="DejaVu Sans"/>
                <a:ea typeface="DejaVu Sans"/>
                <a:cs typeface="DejaVu Sans"/>
              </a:rPr>
              <a:t>04</a:t>
            </a:r>
          </a:p>
        </p:txBody>
      </p:sp>
      <p:sp>
        <p:nvSpPr>
          <p:cNvPr id="15" name="Rectangle 14">
            <a:extLst>
              <a:ext uri="{FF2B5EF4-FFF2-40B4-BE49-F238E27FC236}">
                <a16:creationId xmlns:a16="http://schemas.microsoft.com/office/drawing/2014/main" id="{0000000A-000F-4000-8000-000000000000}"/>
              </a:ext>
            </a:extLst>
          </p:cNvPr>
          <p:cNvSpPr>
            <a:spLocks noGrp="1"/>
          </p:cNvSpPr>
          <p:nvPr/>
        </p:nvSpPr>
        <p:spPr>
          <a:xfrm>
            <a:off x="1704975" y="6315075"/>
            <a:ext cx="5448300" cy="619125"/>
          </a:xfrm>
          <a:prstGeom prst="rect">
            <a:avLst/>
          </a:prstGeom>
          <a:noFill/>
          <a:ln w="0">
            <a:noFill/>
          </a:ln>
        </p:spPr>
        <p:txBody>
          <a:bodyPr>
            <a:noAutofit/>
          </a:bodyPr>
          <a:lstStyle/>
          <a:p>
            <a:pPr>
              <a:defRPr sz="2175" b="1">
                <a:solidFill>
                  <a:srgbClr val="172033"/>
                </a:solidFill>
                <a:latin typeface="DejaVu Sans"/>
                <a:ea typeface="DejaVu Sans"/>
                <a:cs typeface="DejaVu Sans"/>
              </a:defRPr>
            </a:pPr>
            <a:r>
              <a:rPr sz="2175" b="1">
                <a:solidFill>
                  <a:srgbClr val="172033"/>
                </a:solidFill>
                <a:latin typeface="DejaVu Sans"/>
                <a:ea typeface="DejaVu Sans"/>
                <a:cs typeface="DejaVu Sans"/>
              </a:rPr>
              <a:t>Lead Scoring</a:t>
            </a:r>
          </a:p>
        </p:txBody>
      </p:sp>
      <p:sp>
        <p:nvSpPr>
          <p:cNvPr id="16" name="Rectangle 15">
            <a:extLst>
              <a:ext uri="{FF2B5EF4-FFF2-40B4-BE49-F238E27FC236}">
                <a16:creationId xmlns:a16="http://schemas.microsoft.com/office/drawing/2014/main" id="{0000000A-0010-4000-8000-000000000000}"/>
              </a:ext>
            </a:extLst>
          </p:cNvPr>
          <p:cNvSpPr>
            <a:spLocks noGrp="1"/>
          </p:cNvSpPr>
          <p:nvPr/>
        </p:nvSpPr>
        <p:spPr>
          <a:xfrm>
            <a:off x="1704975" y="6934200"/>
            <a:ext cx="5448300" cy="723900"/>
          </a:xfrm>
          <a:prstGeom prst="rect">
            <a:avLst/>
          </a:prstGeom>
          <a:noFill/>
          <a:ln w="0">
            <a:noFill/>
          </a:ln>
        </p:spPr>
        <p:txBody>
          <a:bodyPr>
            <a:noAutofit/>
          </a:bodyPr>
          <a:lstStyle/>
          <a:p>
            <a:pPr>
              <a:defRPr sz="1875" b="0">
                <a:solidFill>
                  <a:srgbClr val="596579"/>
                </a:solidFill>
                <a:latin typeface="DejaVu Sans"/>
                <a:ea typeface="DejaVu Sans"/>
                <a:cs typeface="DejaVu Sans"/>
              </a:defRPr>
            </a:pPr>
            <a:r>
              <a:rPr sz="1875" b="0">
                <a:solidFill>
                  <a:srgbClr val="596579"/>
                </a:solidFill>
                <a:latin typeface="DejaVu Sans"/>
                <a:ea typeface="DejaVu Sans"/>
                <a:cs typeface="DejaVu Sans"/>
              </a:rPr>
              <a:t>Rank conversion propensity using engagement, firmographics and sales</a:t>
            </a:r>
          </a:p>
        </p:txBody>
      </p:sp>
      <p:sp>
        <p:nvSpPr>
          <p:cNvPr id="17" name="Rectangle 16">
            <a:extLst>
              <a:ext uri="{FF2B5EF4-FFF2-40B4-BE49-F238E27FC236}">
                <a16:creationId xmlns:a16="http://schemas.microsoft.com/office/drawing/2014/main" id="{0000000A-0011-4000-8000-000000000000}"/>
              </a:ext>
            </a:extLst>
          </p:cNvPr>
          <p:cNvSpPr>
            <a:spLocks noGrp="1"/>
          </p:cNvSpPr>
          <p:nvPr/>
        </p:nvSpPr>
        <p:spPr>
          <a:xfrm>
            <a:off x="8096250" y="2200275"/>
            <a:ext cx="714375" cy="438150"/>
          </a:xfrm>
          <a:prstGeom prst="rect">
            <a:avLst/>
          </a:prstGeom>
          <a:noFill/>
          <a:ln w="0">
            <a:noFill/>
          </a:ln>
        </p:spPr>
        <p:txBody>
          <a:bodyPr>
            <a:noAutofit/>
          </a:bodyPr>
          <a:lstStyle/>
          <a:p>
            <a:pPr>
              <a:defRPr sz="2325" b="1">
                <a:solidFill>
                  <a:srgbClr val="2454D6"/>
                </a:solidFill>
                <a:latin typeface="DejaVu Sans"/>
                <a:ea typeface="DejaVu Sans"/>
                <a:cs typeface="DejaVu Sans"/>
              </a:defRPr>
            </a:pPr>
            <a:r>
              <a:rPr sz="2325" b="1">
                <a:solidFill>
                  <a:srgbClr val="2454D6"/>
                </a:solidFill>
                <a:latin typeface="DejaVu Sans"/>
                <a:ea typeface="DejaVu Sans"/>
                <a:cs typeface="DejaVu Sans"/>
              </a:rPr>
              <a:t>05</a:t>
            </a:r>
          </a:p>
        </p:txBody>
      </p:sp>
      <p:sp>
        <p:nvSpPr>
          <p:cNvPr id="18" name="Rectangle 17">
            <a:extLst>
              <a:ext uri="{FF2B5EF4-FFF2-40B4-BE49-F238E27FC236}">
                <a16:creationId xmlns:a16="http://schemas.microsoft.com/office/drawing/2014/main" id="{0000000A-0012-4000-8000-000000000000}"/>
              </a:ext>
            </a:extLst>
          </p:cNvPr>
          <p:cNvSpPr>
            <a:spLocks noGrp="1"/>
          </p:cNvSpPr>
          <p:nvPr/>
        </p:nvSpPr>
        <p:spPr>
          <a:xfrm>
            <a:off x="9001125" y="2200275"/>
            <a:ext cx="5448300" cy="619125"/>
          </a:xfrm>
          <a:prstGeom prst="rect">
            <a:avLst/>
          </a:prstGeom>
          <a:noFill/>
          <a:ln w="0">
            <a:noFill/>
          </a:ln>
        </p:spPr>
        <p:txBody>
          <a:bodyPr>
            <a:noAutofit/>
          </a:bodyPr>
          <a:lstStyle/>
          <a:p>
            <a:pPr>
              <a:defRPr sz="2175" b="1">
                <a:solidFill>
                  <a:srgbClr val="172033"/>
                </a:solidFill>
                <a:latin typeface="DejaVu Sans"/>
                <a:ea typeface="DejaVu Sans"/>
                <a:cs typeface="DejaVu Sans"/>
              </a:defRPr>
            </a:pPr>
            <a:r>
              <a:rPr sz="2175" b="1">
                <a:solidFill>
                  <a:srgbClr val="172033"/>
                </a:solidFill>
                <a:latin typeface="DejaVu Sans"/>
                <a:ea typeface="DejaVu Sans"/>
                <a:cs typeface="DejaVu Sans"/>
              </a:rPr>
              <a:t>Regional Opportunity Index</a:t>
            </a:r>
          </a:p>
        </p:txBody>
      </p:sp>
      <p:sp>
        <p:nvSpPr>
          <p:cNvPr id="19" name="Rectangle 18">
            <a:extLst>
              <a:ext uri="{FF2B5EF4-FFF2-40B4-BE49-F238E27FC236}">
                <a16:creationId xmlns:a16="http://schemas.microsoft.com/office/drawing/2014/main" id="{0000000A-0013-4000-8000-000000000000}"/>
              </a:ext>
            </a:extLst>
          </p:cNvPr>
          <p:cNvSpPr>
            <a:spLocks noGrp="1"/>
          </p:cNvSpPr>
          <p:nvPr/>
        </p:nvSpPr>
        <p:spPr>
          <a:xfrm>
            <a:off x="9001125" y="2819400"/>
            <a:ext cx="5448300" cy="723900"/>
          </a:xfrm>
          <a:prstGeom prst="rect">
            <a:avLst/>
          </a:prstGeom>
          <a:noFill/>
          <a:ln w="0">
            <a:noFill/>
          </a:ln>
        </p:spPr>
        <p:txBody>
          <a:bodyPr>
            <a:noAutofit/>
          </a:bodyPr>
          <a:lstStyle/>
          <a:p>
            <a:pPr>
              <a:defRPr sz="1875" b="0">
                <a:solidFill>
                  <a:srgbClr val="596579"/>
                </a:solidFill>
                <a:latin typeface="DejaVu Sans"/>
                <a:ea typeface="DejaVu Sans"/>
                <a:cs typeface="DejaVu Sans"/>
              </a:defRPr>
            </a:pPr>
            <a:r>
              <a:rPr sz="1875" b="0">
                <a:solidFill>
                  <a:srgbClr val="596579"/>
                </a:solidFill>
                <a:latin typeface="DejaVu Sans"/>
                <a:ea typeface="DejaVu Sans"/>
                <a:cs typeface="DejaVu Sans"/>
              </a:rPr>
              <a:t>Combine sales, dealer density and sector demand to rank regions</a:t>
            </a:r>
          </a:p>
        </p:txBody>
      </p:sp>
      <p:sp>
        <p:nvSpPr>
          <p:cNvPr id="20" name="Rectangle 19">
            <a:extLst>
              <a:ext uri="{FF2B5EF4-FFF2-40B4-BE49-F238E27FC236}">
                <a16:creationId xmlns:a16="http://schemas.microsoft.com/office/drawing/2014/main" id="{0000000A-0014-4000-8000-000000000000}"/>
              </a:ext>
            </a:extLst>
          </p:cNvPr>
          <p:cNvSpPr>
            <a:spLocks noGrp="1"/>
          </p:cNvSpPr>
          <p:nvPr/>
        </p:nvSpPr>
        <p:spPr>
          <a:xfrm>
            <a:off x="8096250" y="3571875"/>
            <a:ext cx="714375" cy="438150"/>
          </a:xfrm>
          <a:prstGeom prst="rect">
            <a:avLst/>
          </a:prstGeom>
          <a:noFill/>
          <a:ln w="0">
            <a:noFill/>
          </a:ln>
        </p:spPr>
        <p:txBody>
          <a:bodyPr>
            <a:noAutofit/>
          </a:bodyPr>
          <a:lstStyle/>
          <a:p>
            <a:pPr>
              <a:defRPr sz="2325" b="1">
                <a:solidFill>
                  <a:srgbClr val="2454D6"/>
                </a:solidFill>
                <a:latin typeface="DejaVu Sans"/>
                <a:ea typeface="DejaVu Sans"/>
                <a:cs typeface="DejaVu Sans"/>
              </a:defRPr>
            </a:pPr>
            <a:r>
              <a:rPr sz="2325" b="1">
                <a:solidFill>
                  <a:srgbClr val="2454D6"/>
                </a:solidFill>
                <a:latin typeface="DejaVu Sans"/>
                <a:ea typeface="DejaVu Sans"/>
                <a:cs typeface="DejaVu Sans"/>
              </a:rPr>
              <a:t>06</a:t>
            </a:r>
          </a:p>
        </p:txBody>
      </p:sp>
      <p:sp>
        <p:nvSpPr>
          <p:cNvPr id="21" name="Rectangle 20">
            <a:extLst>
              <a:ext uri="{FF2B5EF4-FFF2-40B4-BE49-F238E27FC236}">
                <a16:creationId xmlns:a16="http://schemas.microsoft.com/office/drawing/2014/main" id="{0000000A-0015-4000-8000-000000000000}"/>
              </a:ext>
            </a:extLst>
          </p:cNvPr>
          <p:cNvSpPr>
            <a:spLocks noGrp="1"/>
          </p:cNvSpPr>
          <p:nvPr/>
        </p:nvSpPr>
        <p:spPr>
          <a:xfrm>
            <a:off x="9001125" y="3571875"/>
            <a:ext cx="5448300" cy="619125"/>
          </a:xfrm>
          <a:prstGeom prst="rect">
            <a:avLst/>
          </a:prstGeom>
          <a:noFill/>
          <a:ln w="0">
            <a:noFill/>
          </a:ln>
        </p:spPr>
        <p:txBody>
          <a:bodyPr>
            <a:noAutofit/>
          </a:bodyPr>
          <a:lstStyle/>
          <a:p>
            <a:pPr>
              <a:defRPr sz="2175" b="1">
                <a:solidFill>
                  <a:srgbClr val="172033"/>
                </a:solidFill>
                <a:latin typeface="DejaVu Sans"/>
                <a:ea typeface="DejaVu Sans"/>
                <a:cs typeface="DejaVu Sans"/>
              </a:defRPr>
            </a:pPr>
            <a:r>
              <a:rPr sz="2175" b="1">
                <a:solidFill>
                  <a:srgbClr val="172033"/>
                </a:solidFill>
                <a:latin typeface="DejaVu Sans"/>
                <a:ea typeface="DejaVu Sans"/>
                <a:cs typeface="DejaVu Sans"/>
              </a:rPr>
              <a:t>Per-Product Demand Forecasting</a:t>
            </a:r>
          </a:p>
        </p:txBody>
      </p:sp>
      <p:sp>
        <p:nvSpPr>
          <p:cNvPr id="22" name="Rectangle 21">
            <a:extLst>
              <a:ext uri="{FF2B5EF4-FFF2-40B4-BE49-F238E27FC236}">
                <a16:creationId xmlns:a16="http://schemas.microsoft.com/office/drawing/2014/main" id="{0000000A-0016-4000-8000-000000000000}"/>
              </a:ext>
            </a:extLst>
          </p:cNvPr>
          <p:cNvSpPr>
            <a:spLocks noGrp="1"/>
          </p:cNvSpPr>
          <p:nvPr/>
        </p:nvSpPr>
        <p:spPr>
          <a:xfrm>
            <a:off x="9001125" y="4191000"/>
            <a:ext cx="5448300" cy="723900"/>
          </a:xfrm>
          <a:prstGeom prst="rect">
            <a:avLst/>
          </a:prstGeom>
          <a:noFill/>
          <a:ln w="0">
            <a:noFill/>
          </a:ln>
        </p:spPr>
        <p:txBody>
          <a:bodyPr>
            <a:noAutofit/>
          </a:bodyPr>
          <a:lstStyle/>
          <a:p>
            <a:pPr>
              <a:defRPr sz="1875" b="0">
                <a:solidFill>
                  <a:srgbClr val="596579"/>
                </a:solidFill>
                <a:latin typeface="DejaVu Sans"/>
                <a:ea typeface="DejaVu Sans"/>
                <a:cs typeface="DejaVu Sans"/>
              </a:defRPr>
            </a:pPr>
            <a:r>
              <a:rPr sz="1875" b="0">
                <a:solidFill>
                  <a:srgbClr val="596579"/>
                </a:solidFill>
                <a:latin typeface="DejaVu Sans"/>
                <a:ea typeface="DejaVu Sans"/>
                <a:cs typeface="DejaVu Sans"/>
              </a:rPr>
              <a:t>Extend the regression engine to each product or category</a:t>
            </a:r>
          </a:p>
        </p:txBody>
      </p:sp>
      <p:sp>
        <p:nvSpPr>
          <p:cNvPr id="23" name="Rectangle 22">
            <a:extLst>
              <a:ext uri="{FF2B5EF4-FFF2-40B4-BE49-F238E27FC236}">
                <a16:creationId xmlns:a16="http://schemas.microsoft.com/office/drawing/2014/main" id="{0000000A-0017-4000-8000-000000000000}"/>
              </a:ext>
            </a:extLst>
          </p:cNvPr>
          <p:cNvSpPr>
            <a:spLocks noGrp="1"/>
          </p:cNvSpPr>
          <p:nvPr/>
        </p:nvSpPr>
        <p:spPr>
          <a:xfrm>
            <a:off x="8096250" y="4943475"/>
            <a:ext cx="714375" cy="438150"/>
          </a:xfrm>
          <a:prstGeom prst="rect">
            <a:avLst/>
          </a:prstGeom>
          <a:noFill/>
          <a:ln w="0">
            <a:noFill/>
          </a:ln>
        </p:spPr>
        <p:txBody>
          <a:bodyPr>
            <a:noAutofit/>
          </a:bodyPr>
          <a:lstStyle/>
          <a:p>
            <a:pPr>
              <a:defRPr sz="2325" b="1">
                <a:solidFill>
                  <a:srgbClr val="2454D6"/>
                </a:solidFill>
                <a:latin typeface="DejaVu Sans"/>
                <a:ea typeface="DejaVu Sans"/>
                <a:cs typeface="DejaVu Sans"/>
              </a:defRPr>
            </a:pPr>
            <a:r>
              <a:rPr sz="2325" b="1">
                <a:solidFill>
                  <a:srgbClr val="2454D6"/>
                </a:solidFill>
                <a:latin typeface="DejaVu Sans"/>
                <a:ea typeface="DejaVu Sans"/>
                <a:cs typeface="DejaVu Sans"/>
              </a:rPr>
              <a:t>07</a:t>
            </a:r>
          </a:p>
        </p:txBody>
      </p:sp>
      <p:sp>
        <p:nvSpPr>
          <p:cNvPr id="24" name="Rectangle 23">
            <a:extLst>
              <a:ext uri="{FF2B5EF4-FFF2-40B4-BE49-F238E27FC236}">
                <a16:creationId xmlns:a16="http://schemas.microsoft.com/office/drawing/2014/main" id="{0000000A-0018-4000-8000-000000000000}"/>
              </a:ext>
            </a:extLst>
          </p:cNvPr>
          <p:cNvSpPr>
            <a:spLocks noGrp="1"/>
          </p:cNvSpPr>
          <p:nvPr/>
        </p:nvSpPr>
        <p:spPr>
          <a:xfrm>
            <a:off x="9001125" y="4943475"/>
            <a:ext cx="5448300" cy="619125"/>
          </a:xfrm>
          <a:prstGeom prst="rect">
            <a:avLst/>
          </a:prstGeom>
          <a:noFill/>
          <a:ln w="0">
            <a:noFill/>
          </a:ln>
        </p:spPr>
        <p:txBody>
          <a:bodyPr>
            <a:noAutofit/>
          </a:bodyPr>
          <a:lstStyle/>
          <a:p>
            <a:pPr>
              <a:defRPr sz="2175" b="1">
                <a:solidFill>
                  <a:srgbClr val="172033"/>
                </a:solidFill>
                <a:latin typeface="DejaVu Sans"/>
                <a:ea typeface="DejaVu Sans"/>
                <a:cs typeface="DejaVu Sans"/>
              </a:defRPr>
            </a:pPr>
            <a:r>
              <a:rPr sz="2175" b="1">
                <a:solidFill>
                  <a:srgbClr val="172033"/>
                </a:solidFill>
                <a:latin typeface="DejaVu Sans"/>
                <a:ea typeface="DejaVu Sans"/>
                <a:cs typeface="DejaVu Sans"/>
              </a:rPr>
              <a:t>Pipeline Leakage View</a:t>
            </a:r>
          </a:p>
        </p:txBody>
      </p:sp>
      <p:sp>
        <p:nvSpPr>
          <p:cNvPr id="25" name="Rectangle 24">
            <a:extLst>
              <a:ext uri="{FF2B5EF4-FFF2-40B4-BE49-F238E27FC236}">
                <a16:creationId xmlns:a16="http://schemas.microsoft.com/office/drawing/2014/main" id="{0000000A-0019-4000-8000-000000000000}"/>
              </a:ext>
            </a:extLst>
          </p:cNvPr>
          <p:cNvSpPr>
            <a:spLocks noGrp="1"/>
          </p:cNvSpPr>
          <p:nvPr/>
        </p:nvSpPr>
        <p:spPr>
          <a:xfrm>
            <a:off x="9001125" y="5562600"/>
            <a:ext cx="5448300" cy="723900"/>
          </a:xfrm>
          <a:prstGeom prst="rect">
            <a:avLst/>
          </a:prstGeom>
          <a:noFill/>
          <a:ln w="0">
            <a:noFill/>
          </a:ln>
        </p:spPr>
        <p:txBody>
          <a:bodyPr>
            <a:noAutofit/>
          </a:bodyPr>
          <a:lstStyle/>
          <a:p>
            <a:pPr>
              <a:defRPr sz="1875" b="0">
                <a:solidFill>
                  <a:srgbClr val="596579"/>
                </a:solidFill>
                <a:latin typeface="DejaVu Sans"/>
                <a:ea typeface="DejaVu Sans"/>
                <a:cs typeface="DejaVu Sans"/>
              </a:defRPr>
            </a:pPr>
            <a:r>
              <a:rPr sz="1875" b="0">
                <a:solidFill>
                  <a:srgbClr val="596579"/>
                </a:solidFill>
                <a:latin typeface="DejaVu Sans"/>
                <a:ea typeface="DejaVu Sans"/>
                <a:cs typeface="DejaVu Sans"/>
              </a:rPr>
              <a:t>Surface dealers contacted but not converted</a:t>
            </a:r>
          </a:p>
        </p:txBody>
      </p:sp>
      <p:sp>
        <p:nvSpPr>
          <p:cNvPr id="26" name="Rectangle 25">
            <a:extLst>
              <a:ext uri="{FF2B5EF4-FFF2-40B4-BE49-F238E27FC236}">
                <a16:creationId xmlns:a16="http://schemas.microsoft.com/office/drawing/2014/main" id="{0000000A-001A-4000-8000-000000000000}"/>
              </a:ext>
            </a:extLst>
          </p:cNvPr>
          <p:cNvSpPr>
            <a:spLocks noGrp="1"/>
          </p:cNvSpPr>
          <p:nvPr/>
        </p:nvSpPr>
        <p:spPr>
          <a:xfrm>
            <a:off x="8096250" y="6315075"/>
            <a:ext cx="714375" cy="438150"/>
          </a:xfrm>
          <a:prstGeom prst="rect">
            <a:avLst/>
          </a:prstGeom>
          <a:noFill/>
          <a:ln w="0">
            <a:noFill/>
          </a:ln>
        </p:spPr>
        <p:txBody>
          <a:bodyPr>
            <a:noAutofit/>
          </a:bodyPr>
          <a:lstStyle/>
          <a:p>
            <a:pPr>
              <a:defRPr sz="2325" b="1">
                <a:solidFill>
                  <a:srgbClr val="2454D6"/>
                </a:solidFill>
                <a:latin typeface="DejaVu Sans"/>
                <a:ea typeface="DejaVu Sans"/>
                <a:cs typeface="DejaVu Sans"/>
              </a:defRPr>
            </a:pPr>
            <a:r>
              <a:rPr sz="2325" b="1">
                <a:solidFill>
                  <a:srgbClr val="2454D6"/>
                </a:solidFill>
                <a:latin typeface="DejaVu Sans"/>
                <a:ea typeface="DejaVu Sans"/>
                <a:cs typeface="DejaVu Sans"/>
              </a:rPr>
              <a:t>08</a:t>
            </a:r>
          </a:p>
        </p:txBody>
      </p:sp>
      <p:sp>
        <p:nvSpPr>
          <p:cNvPr id="27" name="Rectangle 26">
            <a:extLst>
              <a:ext uri="{FF2B5EF4-FFF2-40B4-BE49-F238E27FC236}">
                <a16:creationId xmlns:a16="http://schemas.microsoft.com/office/drawing/2014/main" id="{0000000A-001B-4000-8000-000000000000}"/>
              </a:ext>
            </a:extLst>
          </p:cNvPr>
          <p:cNvSpPr>
            <a:spLocks noGrp="1"/>
          </p:cNvSpPr>
          <p:nvPr/>
        </p:nvSpPr>
        <p:spPr>
          <a:xfrm>
            <a:off x="9001125" y="6315075"/>
            <a:ext cx="5448300" cy="619125"/>
          </a:xfrm>
          <a:prstGeom prst="rect">
            <a:avLst/>
          </a:prstGeom>
          <a:noFill/>
          <a:ln w="0">
            <a:noFill/>
          </a:ln>
        </p:spPr>
        <p:txBody>
          <a:bodyPr>
            <a:noAutofit/>
          </a:bodyPr>
          <a:lstStyle/>
          <a:p>
            <a:pPr>
              <a:defRPr sz="2175" b="1">
                <a:solidFill>
                  <a:srgbClr val="172033"/>
                </a:solidFill>
                <a:latin typeface="DejaVu Sans"/>
                <a:ea typeface="DejaVu Sans"/>
                <a:cs typeface="DejaVu Sans"/>
              </a:defRPr>
            </a:pPr>
            <a:r>
              <a:rPr sz="2175" b="1">
                <a:solidFill>
                  <a:srgbClr val="172033"/>
                </a:solidFill>
                <a:latin typeface="DejaVu Sans"/>
                <a:ea typeface="DejaVu Sans"/>
                <a:cs typeface="DejaVu Sans"/>
              </a:rPr>
              <a:t>Lookalike Segmentation</a:t>
            </a:r>
          </a:p>
        </p:txBody>
      </p:sp>
      <p:sp>
        <p:nvSpPr>
          <p:cNvPr id="28" name="Rectangle 27">
            <a:extLst>
              <a:ext uri="{FF2B5EF4-FFF2-40B4-BE49-F238E27FC236}">
                <a16:creationId xmlns:a16="http://schemas.microsoft.com/office/drawing/2014/main" id="{0000000A-001C-4000-8000-000000000000}"/>
              </a:ext>
            </a:extLst>
          </p:cNvPr>
          <p:cNvSpPr>
            <a:spLocks noGrp="1"/>
          </p:cNvSpPr>
          <p:nvPr/>
        </p:nvSpPr>
        <p:spPr>
          <a:xfrm>
            <a:off x="9001125" y="6934200"/>
            <a:ext cx="5448300" cy="723900"/>
          </a:xfrm>
          <a:prstGeom prst="rect">
            <a:avLst/>
          </a:prstGeom>
          <a:noFill/>
          <a:ln w="0">
            <a:noFill/>
          </a:ln>
        </p:spPr>
        <p:txBody>
          <a:bodyPr>
            <a:noAutofit/>
          </a:bodyPr>
          <a:lstStyle/>
          <a:p>
            <a:pPr>
              <a:defRPr sz="1875" b="0">
                <a:solidFill>
                  <a:srgbClr val="596579"/>
                </a:solidFill>
                <a:latin typeface="DejaVu Sans"/>
                <a:ea typeface="DejaVu Sans"/>
                <a:cs typeface="DejaVu Sans"/>
              </a:defRPr>
            </a:pPr>
            <a:r>
              <a:rPr sz="1875" b="0">
                <a:solidFill>
                  <a:srgbClr val="596579"/>
                </a:solidFill>
                <a:latin typeface="DejaVu Sans"/>
                <a:ea typeface="DejaVu Sans"/>
                <a:cs typeface="DejaVu Sans"/>
              </a:rPr>
              <a:t>Cluster sector, region, type and size to find similar high-value segments</a:t>
            </a:r>
          </a:p>
        </p:txBody>
      </p:sp>
    </p:spTree>
    <p:extLst>
      <p:ext uri="{BB962C8B-B14F-4D97-AF65-F5344CB8AC3E}">
        <p14:creationId xmlns:p14="http://schemas.microsoft.com/office/powerpoint/2010/main" val="1000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000000B-0001-4000-8000-000000000000}"/>
              </a:ext>
            </a:extLst>
          </p:cNvPr>
          <p:cNvSpPr>
            <a:spLocks noGrp="1"/>
          </p:cNvSpPr>
          <p:nvPr/>
        </p:nvSpPr>
        <p:spPr>
          <a:xfrm>
            <a:off x="800100" y="628650"/>
            <a:ext cx="13620750" cy="819150"/>
          </a:xfrm>
          <a:prstGeom prst="rect">
            <a:avLst/>
          </a:prstGeom>
          <a:noFill/>
          <a:ln w="0">
            <a:noFill/>
          </a:ln>
        </p:spPr>
        <p:txBody>
          <a:bodyPr>
            <a:noAutofit/>
          </a:bodyPr>
          <a:lstStyle/>
          <a:p>
            <a:pPr>
              <a:defRPr sz="4050" b="1">
                <a:solidFill>
                  <a:srgbClr val="172033"/>
                </a:solidFill>
                <a:latin typeface="DejaVu Sans"/>
                <a:ea typeface="DejaVu Sans"/>
                <a:cs typeface="DejaVu Sans"/>
              </a:defRPr>
            </a:pPr>
            <a:r>
              <a:rPr sz="4050" b="1">
                <a:solidFill>
                  <a:srgbClr val="172033"/>
                </a:solidFill>
                <a:latin typeface="DejaVu Sans"/>
                <a:ea typeface="DejaVu Sans"/>
                <a:cs typeface="DejaVu Sans"/>
              </a:rPr>
              <a:t>Why this matters</a:t>
            </a:r>
          </a:p>
        </p:txBody>
      </p:sp>
      <p:sp>
        <p:nvSpPr>
          <p:cNvPr id="2" name="Rectangle 1">
            <a:extLst>
              <a:ext uri="{FF2B5EF4-FFF2-40B4-BE49-F238E27FC236}">
                <a16:creationId xmlns:a16="http://schemas.microsoft.com/office/drawing/2014/main" id="{0000000B-0002-4000-8000-000000000000}"/>
              </a:ext>
            </a:extLst>
          </p:cNvPr>
          <p:cNvSpPr>
            <a:spLocks noGrp="1"/>
          </p:cNvSpPr>
          <p:nvPr/>
        </p:nvSpPr>
        <p:spPr>
          <a:xfrm>
            <a:off x="800100" y="1647825"/>
            <a:ext cx="13639800" cy="19050"/>
          </a:xfrm>
          <a:prstGeom prst="rect">
            <a:avLst/>
          </a:prstGeom>
          <a:solidFill>
            <a:srgbClr val="D7DFEC"/>
          </a:solidFill>
          <a:ln w="0">
            <a:noFill/>
          </a:ln>
        </p:spPr>
        <p:txBody>
          <a:bodyPr/>
          <a:lstStyle/>
          <a:p>
            <a:endParaRPr lang="en-US"/>
          </a:p>
        </p:txBody>
      </p:sp>
      <p:sp>
        <p:nvSpPr>
          <p:cNvPr id="3" name="Rectangle 2">
            <a:extLst>
              <a:ext uri="{FF2B5EF4-FFF2-40B4-BE49-F238E27FC236}">
                <a16:creationId xmlns:a16="http://schemas.microsoft.com/office/drawing/2014/main" id="{0000000B-0003-4000-8000-000000000000}"/>
              </a:ext>
            </a:extLst>
          </p:cNvPr>
          <p:cNvSpPr>
            <a:spLocks noGrp="1"/>
          </p:cNvSpPr>
          <p:nvPr/>
        </p:nvSpPr>
        <p:spPr>
          <a:xfrm>
            <a:off x="800100" y="8039100"/>
            <a:ext cx="5715000" cy="285750"/>
          </a:xfrm>
          <a:prstGeom prst="rect">
            <a:avLst/>
          </a:prstGeom>
          <a:noFill/>
          <a:ln w="0">
            <a:noFill/>
          </a:ln>
        </p:spPr>
        <p:txBody>
          <a:bodyPr>
            <a:noAutofit/>
          </a:bodyPr>
          <a:lstStyle/>
          <a:p>
            <a:pPr>
              <a:defRPr sz="1350" b="1">
                <a:solidFill>
                  <a:srgbClr val="596579"/>
                </a:solidFill>
                <a:latin typeface="DejaVu Sans"/>
                <a:ea typeface="DejaVu Sans"/>
                <a:cs typeface="DejaVu Sans"/>
              </a:defRPr>
            </a:pPr>
            <a:r>
              <a:rPr sz="1350" b="1">
                <a:solidFill>
                  <a:srgbClr val="596579"/>
                </a:solidFill>
                <a:latin typeface="DejaVu Sans"/>
                <a:ea typeface="DejaVu Sans"/>
                <a:cs typeface="DejaVu Sans"/>
              </a:rPr>
              <a:t>LEDORA AI</a:t>
            </a:r>
          </a:p>
        </p:txBody>
      </p:sp>
      <p:sp>
        <p:nvSpPr>
          <p:cNvPr id="4" name="Rectangle 3">
            <a:extLst>
              <a:ext uri="{FF2B5EF4-FFF2-40B4-BE49-F238E27FC236}">
                <a16:creationId xmlns:a16="http://schemas.microsoft.com/office/drawing/2014/main" id="{0000000B-0004-4000-8000-000000000000}"/>
              </a:ext>
            </a:extLst>
          </p:cNvPr>
          <p:cNvSpPr>
            <a:spLocks noGrp="1"/>
          </p:cNvSpPr>
          <p:nvPr/>
        </p:nvSpPr>
        <p:spPr>
          <a:xfrm>
            <a:off x="13811250" y="8010525"/>
            <a:ext cx="619125" cy="304800"/>
          </a:xfrm>
          <a:prstGeom prst="rect">
            <a:avLst/>
          </a:prstGeom>
          <a:noFill/>
          <a:ln w="0">
            <a:noFill/>
          </a:ln>
        </p:spPr>
        <p:txBody>
          <a:bodyPr>
            <a:noAutofit/>
          </a:bodyPr>
          <a:lstStyle/>
          <a:p>
            <a:pPr>
              <a:defRPr sz="1500" b="0">
                <a:solidFill>
                  <a:srgbClr val="596579"/>
                </a:solidFill>
                <a:latin typeface="DejaVu Sans"/>
                <a:ea typeface="DejaVu Sans"/>
                <a:cs typeface="DejaVu Sans"/>
              </a:defRPr>
            </a:pPr>
            <a:r>
              <a:rPr sz="1500" b="0">
                <a:solidFill>
                  <a:srgbClr val="596579"/>
                </a:solidFill>
                <a:latin typeface="DejaVu Sans"/>
                <a:ea typeface="DejaVu Sans"/>
                <a:cs typeface="DejaVu Sans"/>
              </a:rPr>
              <a:t>11</a:t>
            </a:r>
          </a:p>
        </p:txBody>
      </p:sp>
      <p:sp>
        <p:nvSpPr>
          <p:cNvPr id="5" name="Rectangle 4">
            <a:extLst>
              <a:ext uri="{FF2B5EF4-FFF2-40B4-BE49-F238E27FC236}">
                <a16:creationId xmlns:a16="http://schemas.microsoft.com/office/drawing/2014/main" id="{0000000B-0005-4000-8000-000000000000}"/>
              </a:ext>
            </a:extLst>
          </p:cNvPr>
          <p:cNvSpPr>
            <a:spLocks noGrp="1"/>
          </p:cNvSpPr>
          <p:nvPr/>
        </p:nvSpPr>
        <p:spPr>
          <a:xfrm>
            <a:off x="800100" y="2476500"/>
            <a:ext cx="6534150" cy="2857500"/>
          </a:xfrm>
          <a:prstGeom prst="rect">
            <a:avLst/>
          </a:prstGeom>
          <a:noFill/>
          <a:ln w="0">
            <a:noFill/>
          </a:ln>
        </p:spPr>
        <p:txBody>
          <a:bodyPr>
            <a:noAutofit/>
          </a:bodyPr>
          <a:lstStyle/>
          <a:p>
            <a:pPr>
              <a:defRPr sz="4950" b="1">
                <a:solidFill>
                  <a:srgbClr val="2454D6"/>
                </a:solidFill>
                <a:latin typeface="DejaVu Sans"/>
                <a:ea typeface="DejaVu Sans"/>
                <a:cs typeface="DejaVu Sans"/>
              </a:defRPr>
            </a:pPr>
            <a:r>
              <a:rPr sz="4950" b="1">
                <a:solidFill>
                  <a:srgbClr val="2454D6"/>
                </a:solidFill>
                <a:latin typeface="DejaVu Sans"/>
                <a:ea typeface="DejaVu Sans"/>
                <a:cs typeface="DejaVu Sans"/>
              </a:rPr>
              <a:t>A clearer basis</a:t>
            </a:r>
          </a:p>
          <a:p>
            <a:pPr>
              <a:defRPr sz="4950" b="1">
                <a:solidFill>
                  <a:srgbClr val="2454D6"/>
                </a:solidFill>
                <a:latin typeface="DejaVu Sans"/>
                <a:ea typeface="DejaVu Sans"/>
                <a:cs typeface="DejaVu Sans"/>
              </a:defRPr>
            </a:pPr>
            <a:r>
              <a:rPr sz="4950" b="1">
                <a:solidFill>
                  <a:srgbClr val="2454D6"/>
                </a:solidFill>
                <a:latin typeface="DejaVu Sans"/>
                <a:ea typeface="DejaVu Sans"/>
                <a:cs typeface="DejaVu Sans"/>
              </a:rPr>
              <a:t>for every sales</a:t>
            </a:r>
          </a:p>
          <a:p>
            <a:pPr>
              <a:defRPr sz="4950" b="1">
                <a:solidFill>
                  <a:srgbClr val="2454D6"/>
                </a:solidFill>
                <a:latin typeface="DejaVu Sans"/>
                <a:ea typeface="DejaVu Sans"/>
                <a:cs typeface="DejaVu Sans"/>
              </a:defRPr>
            </a:pPr>
            <a:r>
              <a:rPr sz="4950" b="1">
                <a:solidFill>
                  <a:srgbClr val="2454D6"/>
                </a:solidFill>
                <a:latin typeface="DejaVu Sans"/>
                <a:ea typeface="DejaVu Sans"/>
                <a:cs typeface="DejaVu Sans"/>
              </a:rPr>
              <a:t>decision</a:t>
            </a:r>
          </a:p>
        </p:txBody>
      </p:sp>
      <p:sp>
        <p:nvSpPr>
          <p:cNvPr id="6" name="Rectangle 5">
            <a:extLst>
              <a:ext uri="{FF2B5EF4-FFF2-40B4-BE49-F238E27FC236}">
                <a16:creationId xmlns:a16="http://schemas.microsoft.com/office/drawing/2014/main" id="{0000000B-0006-4000-8000-000000000000}"/>
              </a:ext>
            </a:extLst>
          </p:cNvPr>
          <p:cNvSpPr>
            <a:spLocks noGrp="1"/>
          </p:cNvSpPr>
          <p:nvPr/>
        </p:nvSpPr>
        <p:spPr>
          <a:xfrm>
            <a:off x="8096250" y="2362200"/>
            <a:ext cx="6191250" cy="876300"/>
          </a:xfrm>
          <a:prstGeom prst="rect">
            <a:avLst/>
          </a:prstGeom>
          <a:noFill/>
          <a:ln w="0">
            <a:noFill/>
          </a:ln>
        </p:spPr>
        <p:txBody>
          <a:bodyPr>
            <a:noAutofit/>
          </a:bodyPr>
          <a:lstStyle/>
          <a:p>
            <a:pPr>
              <a:defRPr sz="2625" b="1">
                <a:solidFill>
                  <a:srgbClr val="172033"/>
                </a:solidFill>
                <a:latin typeface="DejaVu Sans"/>
                <a:ea typeface="DejaVu Sans"/>
                <a:cs typeface="DejaVu Sans"/>
              </a:defRPr>
            </a:pPr>
            <a:r>
              <a:rPr sz="2625" b="1">
                <a:solidFill>
                  <a:srgbClr val="172033"/>
                </a:solidFill>
                <a:latin typeface="DejaVu Sans"/>
                <a:ea typeface="DejaVu Sans"/>
                <a:cs typeface="DejaVu Sans"/>
              </a:rPr>
              <a:t>One place to search, filter</a:t>
            </a:r>
          </a:p>
          <a:p>
            <a:pPr>
              <a:defRPr sz="2625" b="1">
                <a:solidFill>
                  <a:srgbClr val="172033"/>
                </a:solidFill>
                <a:latin typeface="DejaVu Sans"/>
                <a:ea typeface="DejaVu Sans"/>
                <a:cs typeface="DejaVu Sans"/>
              </a:defRPr>
            </a:pPr>
            <a:r>
              <a:rPr sz="2625" b="1">
                <a:solidFill>
                  <a:srgbClr val="172033"/>
                </a:solidFill>
                <a:latin typeface="DejaVu Sans"/>
                <a:ea typeface="DejaVu Sans"/>
                <a:cs typeface="DejaVu Sans"/>
              </a:rPr>
              <a:t>and act on leads</a:t>
            </a:r>
          </a:p>
        </p:txBody>
      </p:sp>
      <p:sp>
        <p:nvSpPr>
          <p:cNvPr id="7" name="Rectangle 6">
            <a:extLst>
              <a:ext uri="{FF2B5EF4-FFF2-40B4-BE49-F238E27FC236}">
                <a16:creationId xmlns:a16="http://schemas.microsoft.com/office/drawing/2014/main" id="{0000000B-0007-4000-8000-000000000000}"/>
              </a:ext>
            </a:extLst>
          </p:cNvPr>
          <p:cNvSpPr>
            <a:spLocks noGrp="1"/>
          </p:cNvSpPr>
          <p:nvPr/>
        </p:nvSpPr>
        <p:spPr>
          <a:xfrm>
            <a:off x="8096250" y="3343275"/>
            <a:ext cx="6191250" cy="685800"/>
          </a:xfrm>
          <a:prstGeom prst="rect">
            <a:avLst/>
          </a:prstGeom>
          <a:noFill/>
          <a:ln w="0">
            <a:noFill/>
          </a:ln>
        </p:spPr>
        <p:txBody>
          <a:bodyPr>
            <a:noAutofit/>
          </a:bodyPr>
          <a:lstStyle/>
          <a:p>
            <a:pPr>
              <a:defRPr sz="2025" b="0">
                <a:solidFill>
                  <a:srgbClr val="596579"/>
                </a:solidFill>
                <a:latin typeface="DejaVu Sans"/>
                <a:ea typeface="DejaVu Sans"/>
                <a:cs typeface="DejaVu Sans"/>
              </a:defRPr>
            </a:pPr>
            <a:r>
              <a:rPr sz="2025" b="0">
                <a:solidFill>
                  <a:srgbClr val="596579"/>
                </a:solidFill>
                <a:latin typeface="DejaVu Sans"/>
                <a:ea typeface="DejaVu Sans"/>
                <a:cs typeface="DejaVu Sans"/>
              </a:rPr>
              <a:t>Less dependence on memory and spreadsheets</a:t>
            </a:r>
          </a:p>
        </p:txBody>
      </p:sp>
      <p:sp>
        <p:nvSpPr>
          <p:cNvPr id="8" name="Rectangle 7">
            <a:extLst>
              <a:ext uri="{FF2B5EF4-FFF2-40B4-BE49-F238E27FC236}">
                <a16:creationId xmlns:a16="http://schemas.microsoft.com/office/drawing/2014/main" id="{0000000B-0008-4000-8000-000000000000}"/>
              </a:ext>
            </a:extLst>
          </p:cNvPr>
          <p:cNvSpPr>
            <a:spLocks noGrp="1"/>
          </p:cNvSpPr>
          <p:nvPr/>
        </p:nvSpPr>
        <p:spPr>
          <a:xfrm>
            <a:off x="8096250" y="4381500"/>
            <a:ext cx="6191250" cy="495300"/>
          </a:xfrm>
          <a:prstGeom prst="rect">
            <a:avLst/>
          </a:prstGeom>
          <a:noFill/>
          <a:ln w="0">
            <a:noFill/>
          </a:ln>
        </p:spPr>
        <p:txBody>
          <a:bodyPr>
            <a:noAutofit/>
          </a:bodyPr>
          <a:lstStyle/>
          <a:p>
            <a:pPr>
              <a:defRPr sz="2625" b="1">
                <a:solidFill>
                  <a:srgbClr val="172033"/>
                </a:solidFill>
                <a:latin typeface="DejaVu Sans"/>
                <a:ea typeface="DejaVu Sans"/>
                <a:cs typeface="DejaVu Sans"/>
              </a:defRPr>
            </a:pPr>
            <a:r>
              <a:rPr sz="2625" b="1">
                <a:solidFill>
                  <a:srgbClr val="172033"/>
                </a:solidFill>
                <a:latin typeface="DejaVu Sans"/>
                <a:ea typeface="DejaVu Sans"/>
                <a:cs typeface="DejaVu Sans"/>
              </a:rPr>
              <a:t>More proactive planning</a:t>
            </a:r>
          </a:p>
        </p:txBody>
      </p:sp>
      <p:sp>
        <p:nvSpPr>
          <p:cNvPr id="9" name="Rectangle 8">
            <a:extLst>
              <a:ext uri="{FF2B5EF4-FFF2-40B4-BE49-F238E27FC236}">
                <a16:creationId xmlns:a16="http://schemas.microsoft.com/office/drawing/2014/main" id="{0000000B-0009-4000-8000-000000000000}"/>
              </a:ext>
            </a:extLst>
          </p:cNvPr>
          <p:cNvSpPr>
            <a:spLocks noGrp="1"/>
          </p:cNvSpPr>
          <p:nvPr/>
        </p:nvSpPr>
        <p:spPr>
          <a:xfrm>
            <a:off x="8096250" y="5019675"/>
            <a:ext cx="6191250" cy="685800"/>
          </a:xfrm>
          <a:prstGeom prst="rect">
            <a:avLst/>
          </a:prstGeom>
          <a:noFill/>
          <a:ln w="0">
            <a:noFill/>
          </a:ln>
        </p:spPr>
        <p:txBody>
          <a:bodyPr>
            <a:noAutofit/>
          </a:bodyPr>
          <a:lstStyle/>
          <a:p>
            <a:pPr>
              <a:defRPr sz="2025" b="0">
                <a:solidFill>
                  <a:srgbClr val="596579"/>
                </a:solidFill>
                <a:latin typeface="DejaVu Sans"/>
                <a:ea typeface="DejaVu Sans"/>
                <a:cs typeface="DejaVu Sans"/>
              </a:defRPr>
            </a:pPr>
            <a:r>
              <a:rPr sz="2025" b="0">
                <a:solidFill>
                  <a:srgbClr val="596579"/>
                </a:solidFill>
                <a:latin typeface="DejaVu Sans"/>
                <a:ea typeface="DejaVu Sans"/>
                <a:cs typeface="DejaVu Sans"/>
              </a:rPr>
              <a:t>Forecasting gives teams a forward-looking view</a:t>
            </a:r>
          </a:p>
        </p:txBody>
      </p:sp>
      <p:sp>
        <p:nvSpPr>
          <p:cNvPr id="10" name="Rectangle 9">
            <a:extLst>
              <a:ext uri="{FF2B5EF4-FFF2-40B4-BE49-F238E27FC236}">
                <a16:creationId xmlns:a16="http://schemas.microsoft.com/office/drawing/2014/main" id="{0000000B-000A-4000-8000-000000000000}"/>
              </a:ext>
            </a:extLst>
          </p:cNvPr>
          <p:cNvSpPr>
            <a:spLocks noGrp="1"/>
          </p:cNvSpPr>
          <p:nvPr/>
        </p:nvSpPr>
        <p:spPr>
          <a:xfrm>
            <a:off x="8096250" y="6067425"/>
            <a:ext cx="6191250" cy="895350"/>
          </a:xfrm>
          <a:prstGeom prst="rect">
            <a:avLst/>
          </a:prstGeom>
          <a:noFill/>
          <a:ln w="0">
            <a:noFill/>
          </a:ln>
        </p:spPr>
        <p:txBody>
          <a:bodyPr>
            <a:noAutofit/>
          </a:bodyPr>
          <a:lstStyle/>
          <a:p>
            <a:pPr>
              <a:defRPr sz="2625" b="1">
                <a:solidFill>
                  <a:srgbClr val="172033"/>
                </a:solidFill>
                <a:latin typeface="DejaVu Sans"/>
                <a:ea typeface="DejaVu Sans"/>
                <a:cs typeface="DejaVu Sans"/>
              </a:defRPr>
            </a:pPr>
            <a:r>
              <a:rPr sz="2625" b="1">
                <a:solidFill>
                  <a:srgbClr val="172033"/>
                </a:solidFill>
                <a:latin typeface="DejaVu Sans"/>
                <a:ea typeface="DejaVu Sans"/>
                <a:cs typeface="DejaVu Sans"/>
              </a:rPr>
              <a:t>Business-led, extensible architecture</a:t>
            </a:r>
          </a:p>
        </p:txBody>
      </p:sp>
      <p:sp>
        <p:nvSpPr>
          <p:cNvPr id="11" name="Rectangle 10">
            <a:extLst>
              <a:ext uri="{FF2B5EF4-FFF2-40B4-BE49-F238E27FC236}">
                <a16:creationId xmlns:a16="http://schemas.microsoft.com/office/drawing/2014/main" id="{0000000B-000B-4000-8000-000000000000}"/>
              </a:ext>
            </a:extLst>
          </p:cNvPr>
          <p:cNvSpPr>
            <a:spLocks noGrp="1"/>
          </p:cNvSpPr>
          <p:nvPr/>
        </p:nvSpPr>
        <p:spPr>
          <a:xfrm>
            <a:off x="8096250" y="7010400"/>
            <a:ext cx="6191250" cy="800100"/>
          </a:xfrm>
          <a:prstGeom prst="rect">
            <a:avLst/>
          </a:prstGeom>
          <a:noFill/>
          <a:ln w="0">
            <a:noFill/>
          </a:ln>
        </p:spPr>
        <p:txBody>
          <a:bodyPr>
            <a:noAutofit/>
          </a:bodyPr>
          <a:lstStyle/>
          <a:p>
            <a:pPr>
              <a:defRPr sz="2025" b="0">
                <a:solidFill>
                  <a:srgbClr val="596579"/>
                </a:solidFill>
                <a:latin typeface="DejaVu Sans"/>
                <a:ea typeface="DejaVu Sans"/>
                <a:cs typeface="DejaVu Sans"/>
              </a:defRPr>
            </a:pPr>
            <a:r>
              <a:rPr sz="2025" b="0">
                <a:solidFill>
                  <a:srgbClr val="596579"/>
                </a:solidFill>
                <a:latin typeface="DejaVu Sans"/>
                <a:ea typeface="DejaVu Sans"/>
                <a:cs typeface="DejaVu Sans"/>
              </a:rPr>
              <a:t>Features answer leadership questions. Decoupled services support live API and ML integration.</a:t>
            </a:r>
          </a:p>
        </p:txBody>
      </p:sp>
    </p:spTree>
    <p:extLst>
      <p:ext uri="{BB962C8B-B14F-4D97-AF65-F5344CB8AC3E}">
        <p14:creationId xmlns:p14="http://schemas.microsoft.com/office/powerpoint/2010/main" val="1100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0000C-0001-4000-8000-000000000000}"/>
              </a:ext>
            </a:extLst>
          </p:cNvPr>
          <p:cNvSpPr>
            <a:spLocks noGrp="1"/>
          </p:cNvSpPr>
          <p:nvPr/>
        </p:nvSpPr>
        <p:spPr>
          <a:xfrm>
            <a:off x="800100" y="628650"/>
            <a:ext cx="13620750" cy="819150"/>
          </a:xfrm>
          <a:prstGeom prst="rect">
            <a:avLst/>
          </a:prstGeom>
          <a:noFill/>
          <a:ln w="0">
            <a:noFill/>
          </a:ln>
        </p:spPr>
        <p:txBody>
          <a:bodyPr>
            <a:noAutofit/>
          </a:bodyPr>
          <a:lstStyle/>
          <a:p>
            <a:endParaRPr/>
          </a:p>
        </p:txBody>
      </p:sp>
      <p:sp>
        <p:nvSpPr>
          <p:cNvPr id="2" name="Rectangle 1">
            <a:extLst>
              <a:ext uri="{FF2B5EF4-FFF2-40B4-BE49-F238E27FC236}">
                <a16:creationId xmlns:a16="http://schemas.microsoft.com/office/drawing/2014/main" id="{0000000C-0002-4000-8000-000000000000}"/>
              </a:ext>
            </a:extLst>
          </p:cNvPr>
          <p:cNvSpPr>
            <a:spLocks noGrp="1"/>
          </p:cNvSpPr>
          <p:nvPr/>
        </p:nvSpPr>
        <p:spPr>
          <a:xfrm>
            <a:off x="800100" y="1647825"/>
            <a:ext cx="13639800" cy="19050"/>
          </a:xfrm>
          <a:prstGeom prst="rect">
            <a:avLst/>
          </a:prstGeom>
          <a:solidFill>
            <a:srgbClr val="D7DFEC"/>
          </a:solidFill>
          <a:ln w="0">
            <a:noFill/>
          </a:ln>
        </p:spPr>
        <p:txBody>
          <a:bodyPr/>
          <a:lstStyle/>
          <a:p>
            <a:endParaRPr lang="en-US"/>
          </a:p>
        </p:txBody>
      </p:sp>
      <p:sp>
        <p:nvSpPr>
          <p:cNvPr id="3" name="Rectangle 2">
            <a:extLst>
              <a:ext uri="{FF2B5EF4-FFF2-40B4-BE49-F238E27FC236}">
                <a16:creationId xmlns:a16="http://schemas.microsoft.com/office/drawing/2014/main" id="{0000000C-0003-4000-8000-000000000000}"/>
              </a:ext>
            </a:extLst>
          </p:cNvPr>
          <p:cNvSpPr>
            <a:spLocks noGrp="1"/>
          </p:cNvSpPr>
          <p:nvPr/>
        </p:nvSpPr>
        <p:spPr>
          <a:xfrm>
            <a:off x="800100" y="8039100"/>
            <a:ext cx="5715000" cy="285750"/>
          </a:xfrm>
          <a:prstGeom prst="rect">
            <a:avLst/>
          </a:prstGeom>
          <a:noFill/>
          <a:ln w="0">
            <a:noFill/>
          </a:ln>
        </p:spPr>
        <p:txBody>
          <a:bodyPr>
            <a:noAutofit/>
          </a:bodyPr>
          <a:lstStyle/>
          <a:p>
            <a:pPr>
              <a:defRPr sz="1350" b="1">
                <a:solidFill>
                  <a:srgbClr val="596579"/>
                </a:solidFill>
                <a:latin typeface="DejaVu Sans"/>
                <a:ea typeface="DejaVu Sans"/>
                <a:cs typeface="DejaVu Sans"/>
              </a:defRPr>
            </a:pPr>
            <a:r>
              <a:rPr sz="1350" b="1">
                <a:solidFill>
                  <a:srgbClr val="596579"/>
                </a:solidFill>
                <a:latin typeface="DejaVu Sans"/>
                <a:ea typeface="DejaVu Sans"/>
                <a:cs typeface="DejaVu Sans"/>
              </a:rPr>
              <a:t>LEDORA AI</a:t>
            </a:r>
          </a:p>
        </p:txBody>
      </p:sp>
      <p:sp>
        <p:nvSpPr>
          <p:cNvPr id="4" name="Rectangle 3">
            <a:extLst>
              <a:ext uri="{FF2B5EF4-FFF2-40B4-BE49-F238E27FC236}">
                <a16:creationId xmlns:a16="http://schemas.microsoft.com/office/drawing/2014/main" id="{0000000C-0004-4000-8000-000000000000}"/>
              </a:ext>
            </a:extLst>
          </p:cNvPr>
          <p:cNvSpPr>
            <a:spLocks noGrp="1"/>
          </p:cNvSpPr>
          <p:nvPr/>
        </p:nvSpPr>
        <p:spPr>
          <a:xfrm>
            <a:off x="13811250" y="8010525"/>
            <a:ext cx="619125" cy="304800"/>
          </a:xfrm>
          <a:prstGeom prst="rect">
            <a:avLst/>
          </a:prstGeom>
          <a:noFill/>
          <a:ln w="0">
            <a:noFill/>
          </a:ln>
        </p:spPr>
        <p:txBody>
          <a:bodyPr>
            <a:noAutofit/>
          </a:bodyPr>
          <a:lstStyle/>
          <a:p>
            <a:pPr>
              <a:defRPr sz="1500" b="0">
                <a:solidFill>
                  <a:srgbClr val="596579"/>
                </a:solidFill>
                <a:latin typeface="DejaVu Sans"/>
                <a:ea typeface="DejaVu Sans"/>
                <a:cs typeface="DejaVu Sans"/>
              </a:defRPr>
            </a:pPr>
            <a:r>
              <a:rPr sz="1500" b="0">
                <a:solidFill>
                  <a:srgbClr val="596579"/>
                </a:solidFill>
                <a:latin typeface="DejaVu Sans"/>
                <a:ea typeface="DejaVu Sans"/>
                <a:cs typeface="DejaVu Sans"/>
              </a:rPr>
              <a:t>12</a:t>
            </a:r>
          </a:p>
        </p:txBody>
      </p:sp>
      <p:sp>
        <p:nvSpPr>
          <p:cNvPr id="5" name="Rectangle 4">
            <a:extLst>
              <a:ext uri="{FF2B5EF4-FFF2-40B4-BE49-F238E27FC236}">
                <a16:creationId xmlns:a16="http://schemas.microsoft.com/office/drawing/2014/main" id="{0000000C-0005-4000-8000-000000000000}"/>
              </a:ext>
            </a:extLst>
          </p:cNvPr>
          <p:cNvSpPr>
            <a:spLocks noGrp="1"/>
          </p:cNvSpPr>
          <p:nvPr/>
        </p:nvSpPr>
        <p:spPr>
          <a:xfrm>
            <a:off x="800100" y="2219325"/>
            <a:ext cx="13639800" cy="1619250"/>
          </a:xfrm>
          <a:prstGeom prst="rect">
            <a:avLst/>
          </a:prstGeom>
          <a:noFill/>
          <a:ln w="0">
            <a:noFill/>
          </a:ln>
        </p:spPr>
        <p:txBody>
          <a:bodyPr>
            <a:noAutofit/>
          </a:bodyPr>
          <a:lstStyle/>
          <a:p>
            <a:pPr>
              <a:defRPr sz="8700" b="1">
                <a:solidFill>
                  <a:srgbClr val="172033"/>
                </a:solidFill>
                <a:latin typeface="DejaVu Sans"/>
                <a:ea typeface="DejaVu Sans"/>
                <a:cs typeface="DejaVu Sans"/>
              </a:defRPr>
            </a:pPr>
            <a:r>
              <a:rPr sz="8700" b="1">
                <a:solidFill>
                  <a:srgbClr val="172033"/>
                </a:solidFill>
                <a:latin typeface="DejaVu Sans"/>
                <a:ea typeface="DejaVu Sans"/>
                <a:cs typeface="DejaVu Sans"/>
              </a:rPr>
              <a:t>Thank you</a:t>
            </a:r>
          </a:p>
        </p:txBody>
      </p:sp>
      <p:sp>
        <p:nvSpPr>
          <p:cNvPr id="6" name="Rectangle 5">
            <a:extLst>
              <a:ext uri="{FF2B5EF4-FFF2-40B4-BE49-F238E27FC236}">
                <a16:creationId xmlns:a16="http://schemas.microsoft.com/office/drawing/2014/main" id="{0000000C-0006-4000-8000-000000000000}"/>
              </a:ext>
            </a:extLst>
          </p:cNvPr>
          <p:cNvSpPr>
            <a:spLocks noGrp="1"/>
          </p:cNvSpPr>
          <p:nvPr/>
        </p:nvSpPr>
        <p:spPr>
          <a:xfrm>
            <a:off x="866775" y="4391025"/>
            <a:ext cx="12858750" cy="981075"/>
          </a:xfrm>
          <a:prstGeom prst="rect">
            <a:avLst/>
          </a:prstGeom>
          <a:noFill/>
          <a:ln w="0">
            <a:noFill/>
          </a:ln>
        </p:spPr>
        <p:txBody>
          <a:bodyPr>
            <a:noAutofit/>
          </a:bodyPr>
          <a:lstStyle/>
          <a:p>
            <a:pPr>
              <a:defRPr sz="4650" b="1">
                <a:solidFill>
                  <a:srgbClr val="2454D6"/>
                </a:solidFill>
                <a:latin typeface="DejaVu Sans"/>
                <a:ea typeface="DejaVu Sans"/>
                <a:cs typeface="DejaVu Sans"/>
              </a:defRPr>
            </a:pPr>
            <a:r>
              <a:rPr sz="4650" b="1">
                <a:solidFill>
                  <a:srgbClr val="2454D6"/>
                </a:solidFill>
                <a:latin typeface="DejaVu Sans"/>
                <a:ea typeface="DejaVu Sans"/>
                <a:cs typeface="DejaVu Sans"/>
              </a:rPr>
              <a:t>Ledora AI</a:t>
            </a:r>
          </a:p>
        </p:txBody>
      </p:sp>
      <p:sp>
        <p:nvSpPr>
          <p:cNvPr id="7" name="Rectangle 6">
            <a:extLst>
              <a:ext uri="{FF2B5EF4-FFF2-40B4-BE49-F238E27FC236}">
                <a16:creationId xmlns:a16="http://schemas.microsoft.com/office/drawing/2014/main" id="{0000000C-0007-4000-8000-000000000000}"/>
              </a:ext>
            </a:extLst>
          </p:cNvPr>
          <p:cNvSpPr>
            <a:spLocks noGrp="1"/>
          </p:cNvSpPr>
          <p:nvPr/>
        </p:nvSpPr>
        <p:spPr>
          <a:xfrm>
            <a:off x="885825" y="5762625"/>
            <a:ext cx="13049250" cy="742950"/>
          </a:xfrm>
          <a:prstGeom prst="rect">
            <a:avLst/>
          </a:prstGeom>
          <a:noFill/>
          <a:ln w="0">
            <a:noFill/>
          </a:ln>
        </p:spPr>
        <p:txBody>
          <a:bodyPr>
            <a:noAutofit/>
          </a:bodyPr>
          <a:lstStyle/>
          <a:p>
            <a:pPr>
              <a:defRPr sz="3225" b="0">
                <a:solidFill>
                  <a:srgbClr val="172033"/>
                </a:solidFill>
                <a:latin typeface="DejaVu Sans"/>
                <a:ea typeface="DejaVu Sans"/>
                <a:cs typeface="DejaVu Sans"/>
              </a:defRPr>
            </a:pPr>
            <a:r>
              <a:rPr sz="3225" b="0">
                <a:solidFill>
                  <a:srgbClr val="172033"/>
                </a:solidFill>
                <a:latin typeface="DejaVu Sans"/>
                <a:ea typeface="DejaVu Sans"/>
                <a:cs typeface="DejaVu Sans"/>
              </a:rPr>
              <a:t>Turn Leads Into Growth</a:t>
            </a:r>
          </a:p>
        </p:txBody>
      </p:sp>
    </p:spTree>
    <p:extLst>
      <p:ext uri="{BB962C8B-B14F-4D97-AF65-F5344CB8AC3E}">
        <p14:creationId xmlns:p14="http://schemas.microsoft.com/office/powerpoint/2010/main" val="12000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1410</Words>
  <Application>Microsoft Office PowerPoint</Application>
  <PresentationFormat>Custom</PresentationFormat>
  <Paragraphs>231</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Aptos</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Surajit Das .</dc:creator>
  <cp:lastModifiedBy>Surajit Das .</cp:lastModifiedBy>
  <cp:revision>2</cp:revision>
  <dcterms:created xsi:type="dcterms:W3CDTF">2026-10-06T08:58:45Z</dcterms:created>
  <dcterms:modified xsi:type="dcterms:W3CDTF">2026-10-06T09:05:22Z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56dfe78-8a37-4fb5-b4aa-b92b97e18d15_Enabled">
    <vt:lpwstr>true</vt:lpwstr>
  </property>
  <property fmtid="{D5CDD505-2E9C-101B-9397-08002B2CF9AE}" pid="3" name="MSIP_Label_556dfe78-8a37-4fb5-b4aa-b92b97e18d15_SetDate">
    <vt:lpwstr>2026-10-06T09:02:51Z</vt:lpwstr>
  </property>
  <property fmtid="{D5CDD505-2E9C-101B-9397-08002B2CF9AE}" pid="4" name="MSIP_Label_556dfe78-8a37-4fb5-b4aa-b92b97e18d15_Method">
    <vt:lpwstr>Standard</vt:lpwstr>
  </property>
  <property fmtid="{D5CDD505-2E9C-101B-9397-08002B2CF9AE}" pid="5" name="MSIP_Label_556dfe78-8a37-4fb5-b4aa-b92b97e18d15_Name">
    <vt:lpwstr>Internal</vt:lpwstr>
  </property>
  <property fmtid="{D5CDD505-2E9C-101B-9397-08002B2CF9AE}" pid="6" name="MSIP_Label_556dfe78-8a37-4fb5-b4aa-b92b97e18d15_SiteId">
    <vt:lpwstr>189de737-c93a-4f5a-8b68-6f4ca9941912</vt:lpwstr>
  </property>
  <property fmtid="{D5CDD505-2E9C-101B-9397-08002B2CF9AE}" pid="7" name="MSIP_Label_556dfe78-8a37-4fb5-b4aa-b92b97e18d15_ActionId">
    <vt:lpwstr>e09b262f-58b4-4bd6-872f-4575b8e6771f</vt:lpwstr>
  </property>
  <property fmtid="{D5CDD505-2E9C-101B-9397-08002B2CF9AE}" pid="8" name="MSIP_Label_556dfe78-8a37-4fb5-b4aa-b92b97e18d15_ContentBits">
    <vt:lpwstr>1</vt:lpwstr>
  </property>
  <property fmtid="{D5CDD505-2E9C-101B-9397-08002B2CF9AE}" pid="9" name="MSIP_Label_556dfe78-8a37-4fb5-b4aa-b92b97e18d15_Tag">
    <vt:lpwstr>10, 3, 0, 1</vt:lpwstr>
  </property>
  <property fmtid="{D5CDD505-2E9C-101B-9397-08002B2CF9AE}" pid="10" name="ClassificationContentMarkingHeaderLocations">
    <vt:lpwstr>ChatGPT:3</vt:lpwstr>
  </property>
  <property fmtid="{D5CDD505-2E9C-101B-9397-08002B2CF9AE}" pid="11" name="ClassificationContentMarkingHeaderText">
    <vt:lpwstr>Classification: Internal</vt:lpwstr>
  </property>
</Properties>
</file>