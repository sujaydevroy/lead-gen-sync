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eadPilot" id="{fc82360e-f932-bab6-4af4-93ed307d683a}">
          <p14:sldIdLst/>
        </p14:section>
        <p14:section name="Default-1" id="{2554cccb-d12d-952f-864f-e550310c7f2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1D6FEB"/>
            </a:solidFill>
            <a:ln w="31750" cap="flat">
              <a:solidFill>
                <a:srgbClr val="1D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D6FEB"/>
              </a:solidFill>
              <a:ln w="9525" cap="flat">
                <a:solidFill>
                  <a:srgbClr val="1D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42</c:v>
                </c:pt>
                <c:pt idx="1">
                  <c:v>45</c:v>
                </c:pt>
                <c:pt idx="2">
                  <c:v>44</c:v>
                </c:pt>
                <c:pt idx="3">
                  <c:v>49</c:v>
                </c:pt>
                <c:pt idx="4">
                  <c:v>52</c:v>
                </c:pt>
                <c:pt idx="5">
                  <c:v>50</c:v>
                </c:pt>
                <c:pt idx="6">
                  <c:v>56</c:v>
                </c:pt>
                <c:pt idx="7">
                  <c:v>58</c:v>
                </c:pt>
                <c:pt idx="8">
                  <c:v>61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</c:v>
                </c:pt>
              </c:strCache>
            </c:strRef>
          </c:tx>
          <c:spPr>
            <a:solidFill>
              <a:srgbClr val="F59E0B"/>
            </a:solidFill>
            <a:ln w="3175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61</c:v>
                </c:pt>
                <c:pt idx="9">
                  <c:v>63.5</c:v>
                </c:pt>
                <c:pt idx="10">
                  <c:v>66</c:v>
                </c:pt>
                <c:pt idx="11">
                  <c:v>68.5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3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64748B"/>
                    </a:solidFill>
                    <a:latin typeface="+mn-lt"/>
                  </a:defRPr>
                </a:pPr>
                <a:r>
                  <a:rPr sz="900" b="0" i="0" u="none" strike="noStrike">
                    <a:solidFill>
                      <a:srgbClr val="64748B"/>
                    </a:solidFill>
                    <a:latin typeface="+mn-lt"/>
                  </a:rPr>
                  <a:t>₹ lakh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33415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gap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Client-facing short deck. Pills are clickable in Slide Show mode and in the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pains, framed as mechanisms the audience will recognise. No invented statistics.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product on one slide. Outcome cards on the right link to the detail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stages. Keep it to one minute: discover, score, decide, 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in the filter panel are illustrative. The score is explainable: reps see why an account is Hot.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Forecast: OLS regression on monthly actuals. Alerts are examples of wording, not client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channels and sequences. Right: the sync hub. Emphasise “no double entry”.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promises clients ask about first: ownership, access, encryption/audit,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Six-week plan. Week 4 shrinks to a day if the client starts with Excel exchange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three low-effort next steps. Email link is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5.xml"/><Relationship Id="rId6" Type="http://schemas.openxmlformats.org/officeDocument/2006/relationships/slide" Target="slide6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10" Type="http://schemas.openxmlformats.org/officeDocument/2006/relationships/slide" Target="slide5.xml"/><Relationship Id="rId11" Type="http://schemas.openxmlformats.org/officeDocument/2006/relationships/slide" Target="slide5.xml"/><Relationship Id="rId12" Type="http://schemas.openxmlformats.org/officeDocument/2006/relationships/slide" Target="slide6.xml"/><Relationship Id="rId13" Type="http://schemas.openxmlformats.org/officeDocument/2006/relationships/slide" Target="slide7.xml"/><Relationship Id="rId14" Type="http://schemas.openxmlformats.org/officeDocument/2006/relationships/slide" Target="slide7.xml"/><Relationship Id="rId15" Type="http://schemas.openxmlformats.org/officeDocument/2006/relationships/slide" Target="slide6.xml"/><Relationship Id="rId16" Type="http://schemas.openxmlformats.org/officeDocument/2006/relationships/slide" Target="slide5.xml"/><Relationship Id="rId17" Type="http://schemas.openxmlformats.org/officeDocument/2006/relationships/slide" Target="slide3.xml"/><Relationship Id="rId18" Type="http://schemas.openxmlformats.org/officeDocument/2006/relationships/slide" Target="slide8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9" Type="http://schemas.openxmlformats.org/officeDocument/2006/relationships/image" Target="../media/image-1-3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image" Target="../media/image-2-4.png"/><Relationship Id="rId6" Type="http://schemas.openxmlformats.org/officeDocument/2006/relationships/image" Target="../media/image-2-5.png"/><Relationship Id="rId7" Type="http://schemas.openxmlformats.org/officeDocument/2006/relationships/image" Target="../media/image-2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4.xml"/><Relationship Id="rId10" Type="http://schemas.openxmlformats.org/officeDocument/2006/relationships/slide" Target="slide5.xml"/><Relationship Id="rId13" Type="http://schemas.openxmlformats.org/officeDocument/2006/relationships/slide" Target="slide6.xml"/><Relationship Id="rId16" Type="http://schemas.openxmlformats.org/officeDocument/2006/relationships/slide" Target="slide6.xml"/><Relationship Id="rId19" Type="http://schemas.openxmlformats.org/officeDocument/2006/relationships/slide" Target="slide7.xml"/><Relationship Id="rId22" Type="http://schemas.openxmlformats.org/officeDocument/2006/relationships/slide" Target="slide7.xml"/><Relationship Id="rId1" Type="http://schemas.openxmlformats.org/officeDocument/2006/relationships/image" Target="../media/image-3-1.png"/><Relationship Id="rId4" Type="http://schemas.openxmlformats.org/officeDocument/2006/relationships/image" Target="../media/image-3-2.png"/><Relationship Id="rId5" Type="http://schemas.openxmlformats.org/officeDocument/2006/relationships/image" Target="../media/image-3-3.png"/><Relationship Id="rId6" Type="http://schemas.openxmlformats.org/officeDocument/2006/relationships/image" Target="../media/image-3-4.png"/><Relationship Id="rId7" Type="http://schemas.openxmlformats.org/officeDocument/2006/relationships/image" Target="../media/image-3-5.png"/><Relationship Id="rId8" Type="http://schemas.openxmlformats.org/officeDocument/2006/relationships/image" Target="../media/image-3-6.png"/><Relationship Id="rId9" Type="http://schemas.openxmlformats.org/officeDocument/2006/relationships/image" Target="../media/image-3-7.png"/><Relationship Id="rId11" Type="http://schemas.openxmlformats.org/officeDocument/2006/relationships/image" Target="../media/image-3-8.png"/><Relationship Id="rId12" Type="http://schemas.openxmlformats.org/officeDocument/2006/relationships/image" Target="../media/image-3-9.png"/><Relationship Id="rId14" Type="http://schemas.openxmlformats.org/officeDocument/2006/relationships/image" Target="../media/image-3-10.png"/><Relationship Id="rId15" Type="http://schemas.openxmlformats.org/officeDocument/2006/relationships/image" Target="../media/image-3-11.png"/><Relationship Id="rId17" Type="http://schemas.openxmlformats.org/officeDocument/2006/relationships/image" Target="../media/image-3-12.png"/><Relationship Id="rId18" Type="http://schemas.openxmlformats.org/officeDocument/2006/relationships/image" Target="../media/image-3-13.png"/><Relationship Id="rId20" Type="http://schemas.openxmlformats.org/officeDocument/2006/relationships/image" Target="../media/image-3-14.png"/><Relationship Id="rId21" Type="http://schemas.openxmlformats.org/officeDocument/2006/relationships/image" Target="../media/image-3-15.png"/><Relationship Id="rId23" Type="http://schemas.openxmlformats.org/officeDocument/2006/relationships/image" Target="../media/image-3-16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5.xml"/><Relationship Id="rId1" Type="http://schemas.openxmlformats.org/officeDocument/2006/relationships/image" Target="../media/image-4-1.png"/><Relationship Id="rId4" Type="http://schemas.openxmlformats.org/officeDocument/2006/relationships/image" Target="../media/image-4-2.png"/><Relationship Id="rId5" Type="http://schemas.openxmlformats.org/officeDocument/2006/relationships/image" Target="../media/image-4-3.png"/><Relationship Id="rId6" Type="http://schemas.openxmlformats.org/officeDocument/2006/relationships/image" Target="../media/image-4-4.png"/><Relationship Id="rId7" Type="http://schemas.openxmlformats.org/officeDocument/2006/relationships/image" Target="../media/image-4-5.png"/><Relationship Id="rId8" Type="http://schemas.openxmlformats.org/officeDocument/2006/relationships/image" Target="../media/image-4-6.png"/><Relationship Id="rId9" Type="http://schemas.openxmlformats.org/officeDocument/2006/relationships/image" Target="../media/image-4-7.png"/><Relationship Id="rId10" Type="http://schemas.openxmlformats.org/officeDocument/2006/relationships/image" Target="../media/image-4-8.png"/><Relationship Id="rId11" Type="http://schemas.openxmlformats.org/officeDocument/2006/relationships/image" Target="../media/image-4-9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3" Type="http://schemas.openxmlformats.org/officeDocument/2006/relationships/slide" Target="slide6.xm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chart" Target="/ppt/charts/chart1.xml"/><Relationship Id="rId1" Type="http://schemas.openxmlformats.org/officeDocument/2006/relationships/image" Target="../media/image-6-1.png"/><Relationship Id="rId5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image" Target="../media/image-6-4.png"/><Relationship Id="rId8" Type="http://schemas.openxmlformats.org/officeDocument/2006/relationships/image" Target="../media/image-6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8.xml"/><Relationship Id="rId1" Type="http://schemas.openxmlformats.org/officeDocument/2006/relationships/image" Target="../media/image-7-1.png"/><Relationship Id="rId4" Type="http://schemas.openxmlformats.org/officeDocument/2006/relationships/image" Target="../media/image-7-2.png"/><Relationship Id="rId5" Type="http://schemas.openxmlformats.org/officeDocument/2006/relationships/image" Target="../media/image-7-3.png"/><Relationship Id="rId6" Type="http://schemas.openxmlformats.org/officeDocument/2006/relationships/image" Target="../media/image-7-4.png"/><Relationship Id="rId7" Type="http://schemas.openxmlformats.org/officeDocument/2006/relationships/image" Target="../media/image-7-5.png"/><Relationship Id="rId8" Type="http://schemas.openxmlformats.org/officeDocument/2006/relationships/image" Target="../media/image-7-6.png"/><Relationship Id="rId9" Type="http://schemas.openxmlformats.org/officeDocument/2006/relationships/image" Target="../media/image-7-7.png"/><Relationship Id="rId10" Type="http://schemas.openxmlformats.org/officeDocument/2006/relationships/image" Target="../media/image-7-8.png"/><Relationship Id="rId11" Type="http://schemas.openxmlformats.org/officeDocument/2006/relationships/image" Target="../media/image-7-9.png"/><Relationship Id="rId12" Type="http://schemas.openxmlformats.org/officeDocument/2006/relationships/image" Target="../media/image-7-10.png"/><Relationship Id="rId13" Type="http://schemas.openxmlformats.org/officeDocument/2006/relationships/image" Target="../media/image-7-11.png"/><Relationship Id="rId14" Type="http://schemas.openxmlformats.org/officeDocument/2006/relationships/image" Target="../media/image-7-12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3" Type="http://schemas.openxmlformats.org/officeDocument/2006/relationships/slide" Target="slide9.xml"/><Relationship Id="rId1" Type="http://schemas.openxmlformats.org/officeDocument/2006/relationships/image" Target="../media/image-8-1.png"/><Relationship Id="rId4" Type="http://schemas.openxmlformats.org/officeDocument/2006/relationships/image" Target="../media/image-8-2.png"/><Relationship Id="rId5" Type="http://schemas.openxmlformats.org/officeDocument/2006/relationships/image" Target="../media/image-8-3.png"/><Relationship Id="rId6" Type="http://schemas.openxmlformats.org/officeDocument/2006/relationships/image" Target="../media/image-8-4.png"/><Relationship Id="rId7" Type="http://schemas.openxmlformats.org/officeDocument/2006/relationships/image" Target="../media/image-8-5.png"/><Relationship Id="rId8" Type="http://schemas.openxmlformats.org/officeDocument/2006/relationships/image" Target="../media/image-8-6.png"/><Relationship Id="rId9" Type="http://schemas.openxmlformats.org/officeDocument/2006/relationships/image" Target="../media/image-8-7.png"/><Relationship Id="rId10" Type="http://schemas.openxmlformats.org/officeDocument/2006/relationships/image" Target="../media/image-8-8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8.xml"/><Relationship Id="rId3" Type="http://schemas.openxmlformats.org/officeDocument/2006/relationships/slide" Target="slide10.xml"/><Relationship Id="rId1" Type="http://schemas.openxmlformats.org/officeDocument/2006/relationships/image" Target="../media/image-9-1.png"/><Relationship Id="rId4" Type="http://schemas.openxmlformats.org/officeDocument/2006/relationships/image" Target="../media/image-9-2.png"/><Relationship Id="rId5" Type="http://schemas.openxmlformats.org/officeDocument/2006/relationships/image" Target="../media/image-9-3.png"/><Relationship Id="rId6" Type="http://schemas.openxmlformats.org/officeDocument/2006/relationships/image" Target="../media/image-9-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hyperlink" Target="mailto:sujaydevroy@gmail.com" TargetMode="External"/><Relationship Id="rId9" Type="http://schemas.openxmlformats.org/officeDocument/2006/relationships/slide" Target="slide9.xml"/><Relationship Id="rId10" Type="http://schemas.openxmlformats.org/officeDocument/2006/relationships/slide" Target="slide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7" Type="http://schemas.openxmlformats.org/officeDocument/2006/relationships/image" Target="../media/image-10-6.png"/><Relationship Id="rId8" Type="http://schemas.openxmlformats.org/officeDocument/2006/relationships/image" Target="../media/image-10-7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097280"/>
            <a:ext cx="6400800" cy="6400800"/>
          </a:xfrm>
          <a:prstGeom prst="ellipse">
            <a:avLst/>
          </a:prstGeom>
          <a:solidFill>
            <a:srgbClr val="1D6FEB">
              <a:alpha val="18000"/>
            </a:srgbClr>
          </a:solidFill>
          <a:ln w="12700">
            <a:solidFill>
              <a:srgbClr val="1D6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961120" y="3108960"/>
            <a:ext cx="4572000" cy="4572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502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5B4FC"/>
                </a:solidFill>
              </a:rPr>
              <a:t>SALES INTELLIGENCE  ·  LEAD GENERATION  ·  TWO-WAY SYNC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4832"/>
            <a:ext cx="1281350" cy="9601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103120" y="20574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Lead</a:t>
            </a:r>
            <a:pPr indent="0" marL="0">
              <a:buNone/>
            </a:pPr>
            <a:r>
              <a:rPr lang="en-US" sz="6000" b="1" dirty="0">
                <a:solidFill>
                  <a:srgbClr val="60A5FA"/>
                </a:solidFill>
              </a:rPr>
              <a:t>Pilot</a:t>
            </a:r>
            <a:endParaRPr lang="en-US" sz="60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1089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EEAD4"/>
                </a:solidFill>
              </a:rPr>
              <a:t>Find the demand. Sync the sale.</a:t>
            </a:r>
            <a:endParaRPr lang="en-US" sz="26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374904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BD5E1"/>
                </a:solidFill>
              </a:rPr>
              <a:t>Know who to call next, see what is coming, and act — with your CRM, ERP, WhatsApp and inbox kept in sync automatically.</a:t>
            </a:r>
            <a:endParaRPr lang="en-US" sz="1500" dirty="0"/>
          </a:p>
        </p:txBody>
      </p:sp>
      <p:sp>
        <p:nvSpPr>
          <p:cNvPr id="12" name="Text 8">
            <a:hlinkClick r:id="rId3" tooltip="Jump to The challenge" action="ppaction://hlinksldjump"/>
          </p:cNvPr>
          <p:cNvSpPr txBox="1"/>
          <p:nvPr/>
        </p:nvSpPr>
        <p:spPr>
          <a:xfrm>
            <a:off x="640080" y="4846320"/>
            <a:ext cx="1394460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The challenge</a:t>
            </a:r>
            <a:endParaRPr lang="en-US" sz="1000" dirty="0"/>
          </a:p>
        </p:txBody>
      </p:sp>
      <p:sp>
        <p:nvSpPr>
          <p:cNvPr id="13" name="Text 9">
            <a:hlinkClick r:id="rId4" tooltip="Jump to What LeadPilot does" action="ppaction://hlinksldjump"/>
          </p:cNvPr>
          <p:cNvSpPr txBox="1"/>
          <p:nvPr/>
        </p:nvSpPr>
        <p:spPr>
          <a:xfrm>
            <a:off x="2144268" y="4846320"/>
            <a:ext cx="1860804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What LeadPilot does</a:t>
            </a:r>
            <a:endParaRPr lang="en-US" sz="1000" dirty="0"/>
          </a:p>
        </p:txBody>
      </p:sp>
      <p:sp>
        <p:nvSpPr>
          <p:cNvPr id="14" name="Text 10">
            <a:hlinkClick r:id="rId5" tooltip="Jump to Who to call" action="ppaction://hlinksldjump"/>
          </p:cNvPr>
          <p:cNvSpPr txBox="1"/>
          <p:nvPr/>
        </p:nvSpPr>
        <p:spPr>
          <a:xfrm>
            <a:off x="4114800" y="4846320"/>
            <a:ext cx="1239012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Who to call</a:t>
            </a:r>
            <a:endParaRPr lang="en-US" sz="1000" dirty="0"/>
          </a:p>
        </p:txBody>
      </p:sp>
      <p:sp>
        <p:nvSpPr>
          <p:cNvPr id="15" name="Text 11">
            <a:hlinkClick r:id="rId6" tooltip="Jump to What is coming" action="ppaction://hlinksldjump"/>
          </p:cNvPr>
          <p:cNvSpPr txBox="1"/>
          <p:nvPr/>
        </p:nvSpPr>
        <p:spPr>
          <a:xfrm>
            <a:off x="5463540" y="4846320"/>
            <a:ext cx="1472184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What is coming</a:t>
            </a:r>
            <a:endParaRPr lang="en-US" sz="1000" dirty="0"/>
          </a:p>
        </p:txBody>
      </p:sp>
      <p:sp>
        <p:nvSpPr>
          <p:cNvPr id="16" name="Text 12">
            <a:hlinkClick r:id="rId7" tooltip="Jump to Act &amp; sync" action="ppaction://hlinksldjump"/>
          </p:cNvPr>
          <p:cNvSpPr txBox="1"/>
          <p:nvPr/>
        </p:nvSpPr>
        <p:spPr>
          <a:xfrm>
            <a:off x="640080" y="5266944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Act &amp; sync</a:t>
            </a:r>
            <a:endParaRPr lang="en-US" sz="1000" dirty="0"/>
          </a:p>
        </p:txBody>
      </p:sp>
      <p:sp>
        <p:nvSpPr>
          <p:cNvPr id="17" name="Text 13">
            <a:hlinkClick r:id="rId8" tooltip="Jump to Live in six weeks" action="ppaction://hlinksldjump"/>
          </p:cNvPr>
          <p:cNvSpPr txBox="1"/>
          <p:nvPr/>
        </p:nvSpPr>
        <p:spPr>
          <a:xfrm>
            <a:off x="1911096" y="5266944"/>
            <a:ext cx="1705356" cy="310896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Live in six weeks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" y="60807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Prepared for your sales leadership  ·  October 2026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7040880" y="1188720"/>
            <a:ext cx="4663440" cy="46634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20" name="Shape 16"/>
          <p:cNvSpPr/>
          <p:nvPr/>
        </p:nvSpPr>
        <p:spPr>
          <a:xfrm>
            <a:off x="7955280" y="2103120"/>
            <a:ext cx="2834640" cy="2834640"/>
          </a:xfrm>
          <a:prstGeom prst="ellipse">
            <a:avLst/>
          </a:prstGeom>
          <a:solidFill>
            <a:srgbClr val="0F172A">
              <a:alpha val="0"/>
            </a:srgbClr>
          </a:solidFill>
          <a:ln w="12700">
            <a:solidFill>
              <a:srgbClr val="475569"/>
            </a:solidFill>
            <a:prstDash val="dash"/>
          </a:ln>
        </p:spPr>
      </p:sp>
      <p:sp>
        <p:nvSpPr>
          <p:cNvPr id="21" name="Shape 17"/>
          <p:cNvSpPr/>
          <p:nvPr/>
        </p:nvSpPr>
        <p:spPr>
          <a:xfrm>
            <a:off x="8458200" y="2606040"/>
            <a:ext cx="1828800" cy="1828800"/>
          </a:xfrm>
          <a:prstGeom prst="hexagon">
            <a:avLst/>
          </a:prstGeom>
          <a:solidFill>
            <a:srgbClr val="FFFFFF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3960" y="3108960"/>
            <a:ext cx="1098300" cy="822960"/>
          </a:xfrm>
          <a:prstGeom prst="rect">
            <a:avLst/>
          </a:prstGeom>
        </p:spPr>
      </p:pic>
      <p:sp>
        <p:nvSpPr>
          <p:cNvPr id="23" name="Text 18">
            <a:hlinkClick r:id="rId10" tooltip="Jump to Leads" action="ppaction://hlinksldjump"/>
          </p:cNvPr>
          <p:cNvSpPr txBox="1"/>
          <p:nvPr/>
        </p:nvSpPr>
        <p:spPr>
          <a:xfrm>
            <a:off x="8846820" y="850392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Leads</a:t>
            </a:r>
            <a:endParaRPr lang="en-US" sz="1000" dirty="0"/>
          </a:p>
        </p:txBody>
      </p:sp>
      <p:sp>
        <p:nvSpPr>
          <p:cNvPr id="24" name="Text 19">
            <a:hlinkClick r:id="rId11" tooltip="Jump to Scoring" action="ppaction://hlinksldjump"/>
          </p:cNvPr>
          <p:cNvSpPr txBox="1"/>
          <p:nvPr/>
        </p:nvSpPr>
        <p:spPr>
          <a:xfrm>
            <a:off x="10264140" y="1444752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Scoring</a:t>
            </a:r>
            <a:endParaRPr lang="en-US" sz="1000" dirty="0"/>
          </a:p>
        </p:txBody>
      </p:sp>
      <p:sp>
        <p:nvSpPr>
          <p:cNvPr id="25" name="Text 20">
            <a:hlinkClick r:id="rId12" tooltip="Jump to Forecast" action="ppaction://hlinksldjump"/>
          </p:cNvPr>
          <p:cNvSpPr txBox="1"/>
          <p:nvPr/>
        </p:nvSpPr>
        <p:spPr>
          <a:xfrm>
            <a:off x="10995660" y="27249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solidFill>
              <a:srgbClr val="7C3AED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Forecast</a:t>
            </a:r>
            <a:endParaRPr lang="en-US" sz="1000" dirty="0"/>
          </a:p>
        </p:txBody>
      </p:sp>
      <p:sp>
        <p:nvSpPr>
          <p:cNvPr id="26" name="Text 21">
            <a:hlinkClick r:id="rId13" tooltip="Jump to Sync" action="ppaction://hlinksldjump"/>
          </p:cNvPr>
          <p:cNvSpPr txBox="1"/>
          <p:nvPr/>
        </p:nvSpPr>
        <p:spPr>
          <a:xfrm>
            <a:off x="11041380" y="4142232"/>
            <a:ext cx="77724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Sync</a:t>
            </a:r>
            <a:endParaRPr lang="en-US" sz="1000" dirty="0"/>
          </a:p>
        </p:txBody>
      </p:sp>
      <p:sp>
        <p:nvSpPr>
          <p:cNvPr id="27" name="Text 22">
            <a:hlinkClick r:id="rId14" tooltip="Jump to Outreach" action="ppaction://hlinksldjump"/>
          </p:cNvPr>
          <p:cNvSpPr txBox="1"/>
          <p:nvPr/>
        </p:nvSpPr>
        <p:spPr>
          <a:xfrm>
            <a:off x="9806940" y="523951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Outreach</a:t>
            </a:r>
            <a:endParaRPr lang="en-US" sz="1000" dirty="0"/>
          </a:p>
        </p:txBody>
      </p:sp>
      <p:sp>
        <p:nvSpPr>
          <p:cNvPr id="28" name="Text 23">
            <a:hlinkClick r:id="rId15" tooltip="Jump to Alerts" action="ppaction://hlinksldjump"/>
          </p:cNvPr>
          <p:cNvSpPr txBox="1"/>
          <p:nvPr/>
        </p:nvSpPr>
        <p:spPr>
          <a:xfrm>
            <a:off x="8069580" y="5559552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solidFill>
              <a:srgbClr val="0D9488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Alerts</a:t>
            </a:r>
            <a:endParaRPr lang="en-US" sz="1000" dirty="0"/>
          </a:p>
        </p:txBody>
      </p:sp>
      <p:sp>
        <p:nvSpPr>
          <p:cNvPr id="29" name="Text 24">
            <a:hlinkClick r:id="rId16" tooltip="Jump to Segments" action="ppaction://hlinksldjump"/>
          </p:cNvPr>
          <p:cNvSpPr txBox="1"/>
          <p:nvPr/>
        </p:nvSpPr>
        <p:spPr>
          <a:xfrm>
            <a:off x="6560820" y="464515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Segments</a:t>
            </a:r>
            <a:endParaRPr lang="en-US" sz="1000" dirty="0"/>
          </a:p>
        </p:txBody>
      </p:sp>
      <p:sp>
        <p:nvSpPr>
          <p:cNvPr id="30" name="Text 25">
            <a:hlinkClick r:id="rId17" tooltip="Jump to Dashboard" action="ppaction://hlinksldjump"/>
          </p:cNvPr>
          <p:cNvSpPr txBox="1"/>
          <p:nvPr/>
        </p:nvSpPr>
        <p:spPr>
          <a:xfrm>
            <a:off x="6377940" y="2907792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Dashboard</a:t>
            </a:r>
            <a:endParaRPr lang="en-US" sz="1000" dirty="0"/>
          </a:p>
        </p:txBody>
      </p:sp>
      <p:sp>
        <p:nvSpPr>
          <p:cNvPr id="31" name="Text 26">
            <a:hlinkClick r:id="rId18" tooltip="Jump to Security" action="ppaction://hlinksldjump"/>
          </p:cNvPr>
          <p:cNvSpPr txBox="1"/>
          <p:nvPr/>
        </p:nvSpPr>
        <p:spPr>
          <a:xfrm>
            <a:off x="7063740" y="1627632"/>
            <a:ext cx="1143000" cy="310896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Security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Where good sales teams lose deals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Not for lack of effort — for lack of one place that knows every account, every conversation and every number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Next: What LeadPilot does" action="ppaction://hlinksldjump"/>
          </p:cNvPr>
          <p:cNvSpPr txBox="1"/>
          <p:nvPr/>
        </p:nvSpPr>
        <p:spPr>
          <a:xfrm>
            <a:off x="548640" y="6327648"/>
            <a:ext cx="17602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What LeadPilot does  →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/ 10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554480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17830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874" y="189372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1737360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Dealer data lives in five Excel files and three phones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0482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New reps start from zero; nobody has the full picture of an account.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2670048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3232" y="289864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" y="3009290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8529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“Who should I call today?” is answered by habit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16382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same 30 friendly accounts get called; the 300 others go quiet.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48640" y="3785616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13232" y="4014216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" y="4124858"/>
            <a:ext cx="281635" cy="28163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968496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Follow-ups die after the first message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1371600" y="4279392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A reply on WhatsApp, a quote sent by email — then silence, and no one notices.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901184"/>
            <a:ext cx="6035040" cy="960120"/>
          </a:xfrm>
          <a:prstGeom prst="roundRect">
            <a:avLst>
              <a:gd name="adj" fmla="val 952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13232" y="5129784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" y="5240426"/>
            <a:ext cx="281635" cy="281635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5084064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CRM, ERP and WhatsApp never agree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371600" y="539496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The CRM is updated on Friday from memory, so leadership stops trusting it.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858000" y="1554480"/>
            <a:ext cx="4782312" cy="2926080"/>
          </a:xfrm>
          <a:prstGeom prst="roundRect">
            <a:avLst>
              <a:gd name="adj" fmla="val 312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7086600" y="171907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A5B4FC"/>
                </a:solidFill>
              </a:rPr>
              <a:t>THE QUESTIONS THAT GO UNANSWERED</a:t>
            </a:r>
            <a:endParaRPr lang="en-US" sz="950" dirty="0"/>
          </a:p>
        </p:txBody>
      </p:sp>
      <p:sp>
        <p:nvSpPr>
          <p:cNvPr id="30" name="Text 23"/>
          <p:cNvSpPr txBox="1"/>
          <p:nvPr/>
        </p:nvSpPr>
        <p:spPr>
          <a:xfrm>
            <a:off x="7132320" y="2103120"/>
            <a:ext cx="4343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Which customers should we target next — and why?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Which accounts are buying less than last quarter?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What sales can we expect in the next three months?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Which regions have demand we are not serving?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▸"/>
            </a:pPr>
            <a:r>
              <a:rPr lang="en-US" sz="1300" dirty="0">
                <a:solidFill>
                  <a:srgbClr val="FFFFFF"/>
                </a:solidFill>
              </a:rPr>
              <a:t>Where are we losing opportunities after first contact?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6858000" y="4663440"/>
            <a:ext cx="4782312" cy="1344168"/>
          </a:xfrm>
          <a:prstGeom prst="roundRect">
            <a:avLst>
              <a:gd name="adj" fmla="val 6803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9168" y="5193792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452360" y="4663440"/>
            <a:ext cx="4069080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9"/>
                </a:solidFill>
              </a:rPr>
              <a:t>The hidden cost is not the spreadsheet — it is the deal nobody followed up because nobody knew it was there.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One workspace: your data in, decisions out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LeadPilot combines the dealer list, sales records and conversation history you already have — plus public market signals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The challenge" action="ppaction://hlinksldjump"/>
          </p:cNvPr>
          <p:cNvSpPr txBox="1"/>
          <p:nvPr/>
        </p:nvSpPr>
        <p:spPr>
          <a:xfrm>
            <a:off x="548640" y="6327648"/>
            <a:ext cx="134874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The challenge</a:t>
            </a:r>
            <a:endParaRPr lang="en-US" sz="1000" dirty="0"/>
          </a:p>
        </p:txBody>
      </p:sp>
      <p:sp>
        <p:nvSpPr>
          <p:cNvPr id="7" name="Text 4">
            <a:hlinkClick r:id="rId3" tooltip="Next: How it works" action="ppaction://hlinksldjump"/>
          </p:cNvPr>
          <p:cNvSpPr txBox="1"/>
          <p:nvPr/>
        </p:nvSpPr>
        <p:spPr>
          <a:xfrm>
            <a:off x="20345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How it works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/ 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D9488"/>
                </a:solidFill>
              </a:rPr>
              <a:t>WHAT GOES IN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1508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</a:rPr>
              <a:t>WHAT YOUR TEAM GETS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1874520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2039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139696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80160" y="1984248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Dealer / account list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1280160" y="227685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Existing customers, prospects, contacts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749040" y="2267712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48640" y="2825496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85800" y="2990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09067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0160" y="2935224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Sales records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1280160" y="322783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Excel upload or ERP / Tally export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749040" y="3218688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776472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85800" y="394106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041648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280160" y="388620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Conversation history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1280160" y="41788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Email, WhatsApp, calls, meetings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3749040" y="4169664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48640" y="4727448"/>
            <a:ext cx="3200400" cy="786384"/>
          </a:xfrm>
          <a:prstGeom prst="roundRect">
            <a:avLst>
              <a:gd name="adj" fmla="val 11628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85800" y="489204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99262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280160" y="4837176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Market &amp; public signals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1280160" y="512978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Tenders, registrations, expansions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3749040" y="5120640"/>
            <a:ext cx="777240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4526280" y="1874520"/>
            <a:ext cx="3200400" cy="3639312"/>
          </a:xfrm>
          <a:prstGeom prst="roundRect">
            <a:avLst>
              <a:gd name="adj" fmla="val 2857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5623560" y="2103120"/>
            <a:ext cx="1005840" cy="8229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7568" y="2176272"/>
            <a:ext cx="903046" cy="676656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4709160" y="29718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LeadPilot</a:t>
            </a:r>
            <a:endParaRPr lang="en-US" sz="2000" dirty="0"/>
          </a:p>
        </p:txBody>
      </p:sp>
      <p:sp>
        <p:nvSpPr>
          <p:cNvPr id="39" name="Text 31"/>
          <p:cNvSpPr txBox="1"/>
          <p:nvPr/>
        </p:nvSpPr>
        <p:spPr>
          <a:xfrm>
            <a:off x="4800600" y="3474720"/>
            <a:ext cx="2743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One clean account list, de-duplicated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Every lead scored and ranked daily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Revenue &amp; demand forecast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Alerts on rising and slipping accounts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▸"/>
            </a:pPr>
            <a:r>
              <a:rPr lang="en-US" sz="1250" dirty="0">
                <a:solidFill>
                  <a:srgbClr val="E0E7FF"/>
                </a:solidFill>
              </a:rPr>
              <a:t>Every action synced back out</a:t>
            </a:r>
            <a:endParaRPr lang="en-US" sz="1250" dirty="0"/>
          </a:p>
        </p:txBody>
      </p:sp>
      <p:sp>
        <p:nvSpPr>
          <p:cNvPr id="40" name="Shape 32"/>
          <p:cNvSpPr/>
          <p:nvPr/>
        </p:nvSpPr>
        <p:spPr>
          <a:xfrm>
            <a:off x="8412480" y="187452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549640" y="198424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8154" y="2072762"/>
            <a:ext cx="225308" cy="225308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9070848" y="187452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 ranked call list every morning</a:t>
            </a:r>
            <a:endParaRPr lang="en-US" sz="12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74552" y="2075688"/>
            <a:ext cx="219456" cy="219456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7726680" y="218541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46" name="Shape 36"/>
          <p:cNvSpPr/>
          <p:nvPr/>
        </p:nvSpPr>
        <p:spPr>
          <a:xfrm>
            <a:off x="8412480" y="262890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7" name="Shape 37"/>
          <p:cNvSpPr/>
          <p:nvPr/>
        </p:nvSpPr>
        <p:spPr>
          <a:xfrm>
            <a:off x="8549640" y="273862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8154" y="2827142"/>
            <a:ext cx="225308" cy="225308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9070848" y="262890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Trends &amp; a 3-month forecast</a:t>
            </a:r>
            <a:endParaRPr lang="en-US" sz="1200" dirty="0"/>
          </a:p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274552" y="2830068"/>
            <a:ext cx="219456" cy="219456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7726680" y="293979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8412480" y="338328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3" name="Shape 41"/>
          <p:cNvSpPr/>
          <p:nvPr/>
        </p:nvSpPr>
        <p:spPr>
          <a:xfrm>
            <a:off x="8549640" y="349300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4" name="Image 10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38154" y="3581522"/>
            <a:ext cx="225308" cy="225308"/>
          </a:xfrm>
          <a:prstGeom prst="rect">
            <a:avLst/>
          </a:prstGeom>
        </p:spPr>
      </p:pic>
      <p:sp>
        <p:nvSpPr>
          <p:cNvPr id="55" name="Text 42"/>
          <p:cNvSpPr txBox="1"/>
          <p:nvPr/>
        </p:nvSpPr>
        <p:spPr>
          <a:xfrm>
            <a:off x="9070848" y="338328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Alerts with evidence attached</a:t>
            </a:r>
            <a:endParaRPr lang="en-US" sz="1200" dirty="0"/>
          </a:p>
        </p:txBody>
      </p:sp>
      <p:pic>
        <p:nvPicPr>
          <p:cNvPr id="56" name="Image 11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274552" y="3584448"/>
            <a:ext cx="219456" cy="219456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7726680" y="369417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8412480" y="413766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59" name="Shape 45"/>
          <p:cNvSpPr/>
          <p:nvPr/>
        </p:nvSpPr>
        <p:spPr>
          <a:xfrm>
            <a:off x="8549640" y="424738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0" name="Image 12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8154" y="4335902"/>
            <a:ext cx="225308" cy="225308"/>
          </a:xfrm>
          <a:prstGeom prst="rect">
            <a:avLst/>
          </a:prstGeom>
        </p:spPr>
      </p:pic>
      <p:sp>
        <p:nvSpPr>
          <p:cNvPr id="61" name="Text 46"/>
          <p:cNvSpPr txBox="1"/>
          <p:nvPr/>
        </p:nvSpPr>
        <p:spPr>
          <a:xfrm>
            <a:off x="9070848" y="413766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One-click email / WhatsApp / call</a:t>
            </a:r>
            <a:endParaRPr lang="en-US" sz="1200" dirty="0"/>
          </a:p>
        </p:txBody>
      </p:sp>
      <p:pic>
        <p:nvPicPr>
          <p:cNvPr id="62" name="Image 13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274552" y="4338828"/>
            <a:ext cx="219456" cy="219456"/>
          </a:xfrm>
          <a:prstGeom prst="rect">
            <a:avLst/>
          </a:prstGeom>
        </p:spPr>
      </p:pic>
      <p:sp>
        <p:nvSpPr>
          <p:cNvPr id="63" name="Shape 47"/>
          <p:cNvSpPr/>
          <p:nvPr/>
        </p:nvSpPr>
        <p:spPr>
          <a:xfrm>
            <a:off x="7726680" y="444855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64" name="Shape 48"/>
          <p:cNvSpPr/>
          <p:nvPr/>
        </p:nvSpPr>
        <p:spPr>
          <a:xfrm>
            <a:off x="8412480" y="4892040"/>
            <a:ext cx="3227832" cy="621792"/>
          </a:xfrm>
          <a:prstGeom prst="roundRect">
            <a:avLst>
              <a:gd name="adj" fmla="val 14706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65" name="Shape 49"/>
          <p:cNvSpPr/>
          <p:nvPr/>
        </p:nvSpPr>
        <p:spPr>
          <a:xfrm>
            <a:off x="8549640" y="5001768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6" name="Image 14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638154" y="5090282"/>
            <a:ext cx="225308" cy="225308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9070848" y="4892040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CRM &amp; ERP always up to date</a:t>
            </a:r>
            <a:endParaRPr lang="en-US" sz="1200" dirty="0"/>
          </a:p>
        </p:txBody>
      </p:sp>
      <p:pic>
        <p:nvPicPr>
          <p:cNvPr id="68" name="Image 15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1274552" y="5093208"/>
            <a:ext cx="219456" cy="219456"/>
          </a:xfrm>
          <a:prstGeom prst="rect">
            <a:avLst/>
          </a:prstGeom>
        </p:spPr>
      </p:pic>
      <p:sp>
        <p:nvSpPr>
          <p:cNvPr id="69" name="Shape 51"/>
          <p:cNvSpPr/>
          <p:nvPr/>
        </p:nvSpPr>
        <p:spPr>
          <a:xfrm>
            <a:off x="7726680" y="5202936"/>
            <a:ext cx="658368" cy="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70" name="Text 52"/>
          <p:cNvSpPr txBox="1"/>
          <p:nvPr/>
        </p:nvSpPr>
        <p:spPr>
          <a:xfrm>
            <a:off x="548640" y="5760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Web and mobile. Starts with the Excel files you already have — no migration.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How it works: four stages, one loop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Every stage feeds the next; every reply, order and lost deal makes tomorrow’s ranking sharper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What LeadPilot does" action="ppaction://hlinksldjump"/>
          </p:cNvPr>
          <p:cNvSpPr txBox="1"/>
          <p:nvPr/>
        </p:nvSpPr>
        <p:spPr>
          <a:xfrm>
            <a:off x="548640" y="6327648"/>
            <a:ext cx="17602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What LeadPilot does</a:t>
            </a:r>
            <a:endParaRPr lang="en-US" sz="1000" dirty="0"/>
          </a:p>
        </p:txBody>
      </p:sp>
      <p:sp>
        <p:nvSpPr>
          <p:cNvPr id="7" name="Text 4">
            <a:hlinkClick r:id="rId3" tooltip="Next: Who to call" action="ppaction://hlinksldjump"/>
          </p:cNvPr>
          <p:cNvSpPr txBox="1"/>
          <p:nvPr/>
        </p:nvSpPr>
        <p:spPr>
          <a:xfrm>
            <a:off x="2446020" y="6327648"/>
            <a:ext cx="121158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Who to call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/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</a:rPr>
              <a:t>01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2404872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5573" y="1876349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77240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Discover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777240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Import your lists and sales Excel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Find new accounts from public &amp; market sources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Merge into one clean record per account</a:t>
            </a:r>
            <a:endParaRPr lang="en-US" sz="12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5536" y="3131820"/>
            <a:ext cx="274320" cy="2743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3364992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7" name="Text 12"/>
          <p:cNvSpPr txBox="1"/>
          <p:nvPr/>
        </p:nvSpPr>
        <p:spPr>
          <a:xfrm>
            <a:off x="3593592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7C3AED"/>
                </a:solidFill>
              </a:rPr>
              <a:t>02</a:t>
            </a:r>
            <a:endParaRPr lang="en-US" sz="2800" dirty="0"/>
          </a:p>
        </p:txBody>
      </p:sp>
      <p:sp>
        <p:nvSpPr>
          <p:cNvPr id="18" name="Shape 13"/>
          <p:cNvSpPr/>
          <p:nvPr/>
        </p:nvSpPr>
        <p:spPr>
          <a:xfrm>
            <a:off x="5221224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1925" y="1876349"/>
            <a:ext cx="307238" cy="30723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593592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Score</a:t>
            </a:r>
            <a:endParaRPr lang="en-US" sz="1900" dirty="0"/>
          </a:p>
        </p:txBody>
      </p:sp>
      <p:sp>
        <p:nvSpPr>
          <p:cNvPr id="21" name="Text 15"/>
          <p:cNvSpPr txBox="1"/>
          <p:nvPr/>
        </p:nvSpPr>
        <p:spPr>
          <a:xfrm>
            <a:off x="3593592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Engagement, purchase history, fit, recency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A 0–100 score with a plain-language reason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Hot / Warm / Nurture bands</a:t>
            </a:r>
            <a:endParaRPr lang="en-US" sz="12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3131820"/>
            <a:ext cx="274320" cy="27432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181344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4" name="Text 17"/>
          <p:cNvSpPr txBox="1"/>
          <p:nvPr/>
        </p:nvSpPr>
        <p:spPr>
          <a:xfrm>
            <a:off x="6409944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D6FEB"/>
                </a:solidFill>
              </a:rPr>
              <a:t>03</a:t>
            </a:r>
            <a:endParaRPr lang="en-US" sz="2800" dirty="0"/>
          </a:p>
        </p:txBody>
      </p:sp>
      <p:sp>
        <p:nvSpPr>
          <p:cNvPr id="25" name="Shape 18"/>
          <p:cNvSpPr/>
          <p:nvPr/>
        </p:nvSpPr>
        <p:spPr>
          <a:xfrm>
            <a:off x="8037576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8277" y="1876349"/>
            <a:ext cx="307238" cy="30723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409944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Decide</a:t>
            </a:r>
            <a:endParaRPr lang="en-US" sz="1900" dirty="0"/>
          </a:p>
        </p:txBody>
      </p:sp>
      <p:sp>
        <p:nvSpPr>
          <p:cNvPr id="28" name="Text 20"/>
          <p:cNvSpPr txBox="1"/>
          <p:nvPr/>
        </p:nvSpPr>
        <p:spPr>
          <a:xfrm>
            <a:off x="6409944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Trends by region, product and month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3-month forecast of revenue &amp; quantity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Alerts: rising, slipping, cross-sell, leakage</a:t>
            </a:r>
            <a:endParaRPr lang="en-US" sz="125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78240" y="3131820"/>
            <a:ext cx="274320" cy="27432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8997696" y="1554480"/>
            <a:ext cx="2633472" cy="3429000"/>
          </a:xfrm>
          <a:prstGeom prst="roundRect">
            <a:avLst>
              <a:gd name="adj" fmla="val 3472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1" name="Text 22"/>
          <p:cNvSpPr txBox="1"/>
          <p:nvPr/>
        </p:nvSpPr>
        <p:spPr>
          <a:xfrm>
            <a:off x="9226296" y="17373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</a:rPr>
              <a:t>04</a:t>
            </a:r>
            <a:endParaRPr lang="en-US" sz="2800" dirty="0"/>
          </a:p>
        </p:txBody>
      </p:sp>
      <p:sp>
        <p:nvSpPr>
          <p:cNvPr id="32" name="Shape 23"/>
          <p:cNvSpPr/>
          <p:nvPr/>
        </p:nvSpPr>
        <p:spPr>
          <a:xfrm>
            <a:off x="10853928" y="1755648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4629" y="1876349"/>
            <a:ext cx="307238" cy="307238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9226296" y="2286000"/>
            <a:ext cx="217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</a:rPr>
              <a:t>Act &amp; Sync</a:t>
            </a:r>
            <a:endParaRPr lang="en-US" sz="1900" dirty="0"/>
          </a:p>
        </p:txBody>
      </p:sp>
      <p:sp>
        <p:nvSpPr>
          <p:cNvPr id="35" name="Text 25"/>
          <p:cNvSpPr txBox="1"/>
          <p:nvPr/>
        </p:nvSpPr>
        <p:spPr>
          <a:xfrm>
            <a:off x="9226296" y="2743200"/>
            <a:ext cx="22219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Ranked call list and sequences per rep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One-click email, WhatsApp, call, meeting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334155"/>
                </a:solidFill>
              </a:rPr>
              <a:t>Every touch written back to CRM / ERP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548640" y="52120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777240" y="5376672"/>
            <a:ext cx="530352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3917" y="5493349"/>
            <a:ext cx="296997" cy="296997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1508760" y="5303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team stays in control</a:t>
            </a:r>
            <a:endParaRPr lang="en-US" sz="1400" dirty="0"/>
          </a:p>
        </p:txBody>
      </p:sp>
      <p:sp>
        <p:nvSpPr>
          <p:cNvPr id="40" name="Text 29"/>
          <p:cNvSpPr txBox="1"/>
          <p:nvPr/>
        </p:nvSpPr>
        <p:spPr>
          <a:xfrm>
            <a:off x="1508760" y="559612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7D2FE"/>
                </a:solidFill>
              </a:rPr>
              <a:t>Every recommendation shows its evidence and its source. LeadPilot suggests; your people decide.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Know who to call — and why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Segment any way you like, see the size of the segment, and get every account scored and ranked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How it works" action="ppaction://hlinksldjump"/>
          </p:cNvPr>
          <p:cNvSpPr txBox="1"/>
          <p:nvPr/>
        </p:nvSpPr>
        <p:spPr>
          <a:xfrm>
            <a:off x="548640" y="6327648"/>
            <a:ext cx="128016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How it works</a:t>
            </a:r>
            <a:endParaRPr lang="en-US" sz="1000" dirty="0"/>
          </a:p>
        </p:txBody>
      </p:sp>
      <p:sp>
        <p:nvSpPr>
          <p:cNvPr id="7" name="Text 4">
            <a:hlinkClick r:id="rId3" tooltip="Next: What is coming" action="ppaction://hlinksldjump"/>
          </p:cNvPr>
          <p:cNvSpPr txBox="1"/>
          <p:nvPr/>
        </p:nvSpPr>
        <p:spPr>
          <a:xfrm>
            <a:off x="1965960" y="63276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What is coming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/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452628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" y="1554480"/>
            <a:ext cx="5394960" cy="457200"/>
          </a:xfrm>
          <a:prstGeom prst="roundRect">
            <a:avLst>
              <a:gd name="adj" fmla="val 20000"/>
            </a:avLst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</a:rPr>
              <a:t>Accounts  ·  filter panel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84632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ILLUSTRATIVE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Country → Region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2468880"/>
            <a:ext cx="92171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India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1,284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1726387" y="2468880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West Bengal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412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2955341" y="2468880"/>
            <a:ext cx="1038758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Karnataka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306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4067251" y="2468880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6FEB"/>
                </a:solidFill>
              </a:rPr>
              <a:t>Maharashtra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271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29077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Sector → Sub-sector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182112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Construction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538</a:t>
            </a:r>
            <a:endParaRPr lang="en-US" sz="950" dirty="0"/>
          </a:p>
        </p:txBody>
      </p:sp>
      <p:sp>
        <p:nvSpPr>
          <p:cNvPr id="20" name="Text 17"/>
          <p:cNvSpPr txBox="1"/>
          <p:nvPr/>
        </p:nvSpPr>
        <p:spPr>
          <a:xfrm>
            <a:off x="2018995" y="3182112"/>
            <a:ext cx="1214323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Cement &amp; RMC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142</a:t>
            </a:r>
            <a:endParaRPr lang="en-US" sz="950" dirty="0"/>
          </a:p>
        </p:txBody>
      </p:sp>
      <p:sp>
        <p:nvSpPr>
          <p:cNvPr id="21" name="Text 18"/>
          <p:cNvSpPr txBox="1"/>
          <p:nvPr/>
        </p:nvSpPr>
        <p:spPr>
          <a:xfrm>
            <a:off x="3306470" y="3182112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Steel &amp; TMT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119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4535424" y="3182112"/>
            <a:ext cx="80467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Paints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87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731520" y="36210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Status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3895344"/>
            <a:ext cx="863194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</a:rPr>
              <a:t>Active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917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1667866" y="3895344"/>
            <a:ext cx="980237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45309"/>
                </a:solidFill>
              </a:rPr>
              <a:t>Prospect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248</a:t>
            </a:r>
            <a:endParaRPr lang="en-US" sz="950" dirty="0"/>
          </a:p>
        </p:txBody>
      </p:sp>
      <p:sp>
        <p:nvSpPr>
          <p:cNvPr id="26" name="Text 23"/>
          <p:cNvSpPr txBox="1"/>
          <p:nvPr/>
        </p:nvSpPr>
        <p:spPr>
          <a:xfrm>
            <a:off x="2721254" y="3895344"/>
            <a:ext cx="92171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11D48"/>
                </a:solidFill>
              </a:rPr>
              <a:t>Dormant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119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731520" y="4334256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Dealer type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731520" y="4608576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Distributor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203</a:t>
            </a:r>
            <a:endParaRPr lang="en-US" sz="950" dirty="0"/>
          </a:p>
        </p:txBody>
      </p:sp>
      <p:sp>
        <p:nvSpPr>
          <p:cNvPr id="29" name="Text 26"/>
          <p:cNvSpPr txBox="1"/>
          <p:nvPr/>
        </p:nvSpPr>
        <p:spPr>
          <a:xfrm>
            <a:off x="1960474" y="4608576"/>
            <a:ext cx="980237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Retailer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741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3013862" y="4608576"/>
            <a:ext cx="1272845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762" rIns="762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C3AED"/>
                </a:solidFill>
              </a:rPr>
              <a:t>Project buyer</a:t>
            </a:r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  340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731520" y="521208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14400" y="52120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Showing 412 accounts in West Bengal · Construction · Active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14400" y="553212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7D2FE"/>
                </a:solidFill>
              </a:rPr>
              <a:t>Save as segment  ·  Start sequence  ·  Export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630936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EVERY ACCOUNT SCORED 0 – 100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09360" y="1874520"/>
            <a:ext cx="5330952" cy="786384"/>
          </a:xfrm>
          <a:prstGeom prst="roundRect">
            <a:avLst>
              <a:gd name="adj" fmla="val 11628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492240" y="19842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E11D48"/>
          </a:solidFill>
          <a:ln>
            <a:solidFill>
              <a:srgbClr val="E11D4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Hot</a:t>
            </a:r>
            <a:endParaRPr lang="en-US" sz="1200" dirty="0"/>
          </a:p>
        </p:txBody>
      </p:sp>
      <p:sp>
        <p:nvSpPr>
          <p:cNvPr id="37" name="Text 34"/>
          <p:cNvSpPr txBox="1"/>
          <p:nvPr/>
        </p:nvSpPr>
        <p:spPr>
          <a:xfrm>
            <a:off x="649224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11D48"/>
                </a:solidFill>
              </a:rPr>
              <a:t>80 – 100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7772400" y="187452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Call today — decision-maker engaged, recent activity, strong fit.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309360" y="2788920"/>
            <a:ext cx="5330952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492240" y="28986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Warm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492240" y="3246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50 – 79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772400" y="278892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Start a sequence — good fit, engagement building.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309360" y="3703320"/>
            <a:ext cx="5330952" cy="786384"/>
          </a:xfrm>
          <a:prstGeom prst="roundRect">
            <a:avLst>
              <a:gd name="adj" fmla="val 11628"/>
            </a:avLst>
          </a:prstGeom>
          <a:solidFill>
            <a:srgbClr val="F0F9FF"/>
          </a:solidFill>
          <a:ln w="12700">
            <a:solidFill>
              <a:srgbClr val="F0F9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492240" y="3813048"/>
            <a:ext cx="1097280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solidFill>
              <a:srgbClr val="0284C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Nurture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6492240" y="4160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0 – 49</a:t>
            </a:r>
            <a:endParaRPr lang="en-US" sz="1000" dirty="0"/>
          </a:p>
        </p:txBody>
      </p:sp>
      <p:sp>
        <p:nvSpPr>
          <p:cNvPr id="46" name="Text 43"/>
          <p:cNvSpPr txBox="1"/>
          <p:nvPr/>
        </p:nvSpPr>
        <p:spPr>
          <a:xfrm>
            <a:off x="7772400" y="3703320"/>
            <a:ext cx="3749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Monthly touch only — re-scored the moment a signal lands.</a:t>
            </a:r>
            <a:endParaRPr lang="en-US" sz="1200" dirty="0"/>
          </a:p>
        </p:txBody>
      </p:sp>
      <p:sp>
        <p:nvSpPr>
          <p:cNvPr id="47" name="Text 44"/>
          <p:cNvSpPr txBox="1"/>
          <p:nvPr/>
        </p:nvSpPr>
        <p:spPr>
          <a:xfrm>
            <a:off x="630936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WHAT GOES INTO THE SCORE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309360" y="5029200"/>
            <a:ext cx="1544422" cy="329184"/>
          </a:xfrm>
          <a:prstGeom prst="roundRect">
            <a:avLst>
              <a:gd name="adj" fmla="val 16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6309360" y="5394960"/>
            <a:ext cx="18187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Engagement 30%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908646" y="5029200"/>
            <a:ext cx="1277874" cy="329184"/>
          </a:xfrm>
          <a:prstGeom prst="roundRect">
            <a:avLst>
              <a:gd name="adj" fmla="val 16667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908646" y="5394960"/>
            <a:ext cx="15521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Purchase history 25%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241384" y="5029200"/>
            <a:ext cx="1011326" cy="329184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241384" y="5394960"/>
            <a:ext cx="12856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Fit 20%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10307574" y="5029200"/>
            <a:ext cx="744779" cy="329184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0307574" y="5394960"/>
            <a:ext cx="101909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Recency 15%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11107217" y="5029200"/>
            <a:ext cx="478231" cy="329184"/>
          </a:xfrm>
          <a:prstGeom prst="roundRect">
            <a:avLst>
              <a:gd name="adj" fmla="val 16667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1107217" y="5394960"/>
            <a:ext cx="7525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Territory 10%</a:t>
            </a:r>
            <a:endParaRPr lang="en-US" sz="900" dirty="0"/>
          </a:p>
        </p:txBody>
      </p:sp>
      <p:sp>
        <p:nvSpPr>
          <p:cNvPr id="58" name="Text 55"/>
          <p:cNvSpPr txBox="1"/>
          <p:nvPr/>
        </p:nvSpPr>
        <p:spPr>
          <a:xfrm>
            <a:off x="6309360" y="576072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Weights are re-fitted from your own won / lost history during onboarding; every score shows its reasons.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See what is coming, not just what happened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A 3-month forecast on your own numbers, and alerts that name the account, the evidence and the next move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Who to call" action="ppaction://hlinksldjump"/>
          </p:cNvPr>
          <p:cNvSpPr txBox="1"/>
          <p:nvPr/>
        </p:nvSpPr>
        <p:spPr>
          <a:xfrm>
            <a:off x="548640" y="6327648"/>
            <a:ext cx="121158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Who to call</a:t>
            </a:r>
            <a:endParaRPr lang="en-US" sz="1000" dirty="0"/>
          </a:p>
        </p:txBody>
      </p:sp>
      <p:sp>
        <p:nvSpPr>
          <p:cNvPr id="7" name="Text 4">
            <a:hlinkClick r:id="rId3" tooltip="Next: Act &amp; sync" action="ppaction://hlinksldjump"/>
          </p:cNvPr>
          <p:cNvSpPr txBox="1"/>
          <p:nvPr/>
        </p:nvSpPr>
        <p:spPr>
          <a:xfrm>
            <a:off x="189738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Act &amp; sync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/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08760"/>
            <a:ext cx="6309360" cy="4617720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77240" y="1627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Monthly revenue — actual vs forecast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120640" y="16276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ILLUSTRATIVE DATA</a:t>
            </a:r>
            <a:endParaRPr lang="en-US" sz="8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85800" y="1920240"/>
          <a:ext cx="60350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Text 9"/>
          <p:cNvSpPr txBox="1"/>
          <p:nvPr/>
        </p:nvSpPr>
        <p:spPr>
          <a:xfrm>
            <a:off x="777240" y="5760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▲ Trend: up · forecast Q4 +12% vs Q3 (illustrative)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08660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C3AED"/>
                </a:solidFill>
              </a:rPr>
              <a:t>ALERTS YOUR TEAM RECEIVES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086600" y="1874520"/>
            <a:ext cx="4553712" cy="896112"/>
          </a:xfrm>
          <a:prstGeom prst="roundRect">
            <a:avLst>
              <a:gd name="adj" fmla="val 10204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51192" y="209397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776" y="2194560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6384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Slipping account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8638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E11D48"/>
                </a:solidFill>
              </a:rPr>
              <a:t>“Dealer X is down 38% vs last quarter — last order 74 days ago.”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086600" y="2898648"/>
            <a:ext cx="4553712" cy="896112"/>
          </a:xfrm>
          <a:prstGeom prst="roundRect">
            <a:avLst>
              <a:gd name="adj" fmla="val 1020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251192" y="3118104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3218688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863840" y="2990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Cross-sell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863840" y="3264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D6FEB"/>
                </a:solidFill>
              </a:rPr>
              <a:t>“Buys TMT bars, never cement — 61% of similar dealers buy both.”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7086600" y="3922776"/>
            <a:ext cx="4553712" cy="896112"/>
          </a:xfrm>
          <a:prstGeom prst="roundRect">
            <a:avLst>
              <a:gd name="adj" fmla="val 1020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251192" y="41422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1776" y="424281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863840" y="40142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Under-served region</a:t>
            </a:r>
            <a:endParaRPr lang="en-US" sz="1250" dirty="0"/>
          </a:p>
        </p:txBody>
      </p:sp>
      <p:sp>
        <p:nvSpPr>
          <p:cNvPr id="29" name="Text 22"/>
          <p:cNvSpPr txBox="1"/>
          <p:nvPr/>
        </p:nvSpPr>
        <p:spPr>
          <a:xfrm>
            <a:off x="7863840" y="42885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0D9488"/>
                </a:solidFill>
              </a:rPr>
              <a:t>“Hooghly: high demand, 3 dealers — under-served.”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7086600" y="4946904"/>
            <a:ext cx="4553712" cy="896112"/>
          </a:xfrm>
          <a:prstGeom prst="roundRect">
            <a:avLst>
              <a:gd name="adj" fmla="val 10204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251192" y="51663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776" y="5266944"/>
            <a:ext cx="256032" cy="25603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7863840" y="5038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Pipeline leakage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7863840" y="531266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F59E0B"/>
                </a:solidFill>
              </a:rPr>
              <a:t>“17 prospects replied in Sept and received no follow-up.”</a:t>
            </a:r>
            <a:endParaRPr lang="en-US" sz="1050" dirty="0"/>
          </a:p>
        </p:txBody>
      </p:sp>
      <p:sp>
        <p:nvSpPr>
          <p:cNvPr id="35" name="Text 27"/>
          <p:cNvSpPr txBox="1"/>
          <p:nvPr/>
        </p:nvSpPr>
        <p:spPr>
          <a:xfrm>
            <a:off x="7086600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Alert wording is illustrative. Each alert links to its evidence and can become a task in one click.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Act from one screen — your systems stay in sync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Email, WhatsApp, calls and meetings logged where they happen, then written back to your CRM and ERP automatically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What is coming" action="ppaction://hlinksldjump"/>
          </p:cNvPr>
          <p:cNvSpPr txBox="1"/>
          <p:nvPr/>
        </p:nvSpPr>
        <p:spPr>
          <a:xfrm>
            <a:off x="548640" y="63276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What is coming</a:t>
            </a:r>
            <a:endParaRPr lang="en-US" sz="1000" dirty="0"/>
          </a:p>
        </p:txBody>
      </p:sp>
      <p:sp>
        <p:nvSpPr>
          <p:cNvPr id="7" name="Text 4">
            <a:hlinkClick r:id="rId3" tooltip="Next: Your data" action="ppaction://hlinksldjump"/>
          </p:cNvPr>
          <p:cNvSpPr txBox="1"/>
          <p:nvPr/>
        </p:nvSpPr>
        <p:spPr>
          <a:xfrm>
            <a:off x="2103120" y="6327648"/>
            <a:ext cx="10744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Your data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/ 10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45309"/>
                </a:solidFill>
              </a:rPr>
              <a:t>OUTREACH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393192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0391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13969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80160" y="19842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Email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280160" y="22585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Templates, merge fields, open &amp; reply tracking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48640" y="2788920"/>
            <a:ext cx="393192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85800" y="29535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054096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2898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WhatsApp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280160" y="31729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Business API templates; replies land in the timeline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48640" y="3703320"/>
            <a:ext cx="393192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85800" y="38679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96849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280160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Call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280160" y="40873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Click-to-call; outcome logged in 10 seconds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617720"/>
            <a:ext cx="3931920" cy="786384"/>
          </a:xfrm>
          <a:prstGeom prst="roundRect">
            <a:avLst>
              <a:gd name="adj" fmla="val 11628"/>
            </a:avLst>
          </a:prstGeom>
          <a:solidFill>
            <a:srgbClr val="FFFBEB"/>
          </a:solidFill>
          <a:ln w="12700">
            <a:solidFill>
              <a:srgbClr val="FFFBEB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85800" y="478231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48828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280160" y="4727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</a:rPr>
              <a:t>Meeting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1280160" y="50017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Booked from the profile; follow-up task auto-created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548640" y="553212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31" name="Text 24"/>
          <p:cNvSpPr txBox="1"/>
          <p:nvPr/>
        </p:nvSpPr>
        <p:spPr>
          <a:xfrm>
            <a:off x="731520" y="5532120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Sequences: Day 0 email → Day 3 WhatsApp → Day 7 call — stop automatically on reply.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49377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6FEB"/>
                </a:solidFill>
              </a:rPr>
              <a:t>TWO-WAY SYNC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675120" y="2057400"/>
            <a:ext cx="3200400" cy="3200400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E2E8F0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 flipH="1">
            <a:off x="8275320" y="2057400"/>
            <a:ext cx="9144" cy="16002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 flipH="1">
            <a:off x="8275320" y="2852928"/>
            <a:ext cx="1508760" cy="8046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275320" y="3657600"/>
            <a:ext cx="1508760" cy="8046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275320" y="3657600"/>
            <a:ext cx="9144" cy="1600200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 flipH="1">
            <a:off x="6766560" y="3657600"/>
            <a:ext cx="1508760" cy="8046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766560" y="2852928"/>
            <a:ext cx="1508760" cy="804672"/>
          </a:xfrm>
          <a:prstGeom prst="line">
            <a:avLst/>
          </a:prstGeom>
          <a:noFill/>
          <a:ln w="15875">
            <a:solidFill>
              <a:srgbClr val="94A3B8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7498080" y="3090672"/>
            <a:ext cx="155448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9525">
            <a:solidFill>
              <a:srgbClr val="93C5FD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7848" y="3182112"/>
            <a:ext cx="683387" cy="512064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7498080" y="37307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Lead</a:t>
            </a:r>
            <a:pPr algn="ctr" indent="0" marL="0">
              <a:buNone/>
            </a:pPr>
            <a:r>
              <a:rPr lang="en-US" sz="1400" b="1" dirty="0">
                <a:solidFill>
                  <a:srgbClr val="1D6FEB"/>
                </a:solidFill>
              </a:rPr>
              <a:t>Pilot</a:t>
            </a:r>
            <a:endParaRPr lang="en-US" sz="1400" dirty="0"/>
          </a:p>
        </p:txBody>
      </p:sp>
      <p:sp>
        <p:nvSpPr>
          <p:cNvPr id="43" name="Text 35"/>
          <p:cNvSpPr txBox="1"/>
          <p:nvPr/>
        </p:nvSpPr>
        <p:spPr>
          <a:xfrm>
            <a:off x="7498080" y="39867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sync engine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7452360" y="1728216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5" name="Shape 37"/>
          <p:cNvSpPr/>
          <p:nvPr/>
        </p:nvSpPr>
        <p:spPr>
          <a:xfrm>
            <a:off x="7562088" y="18562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0602" y="1944746"/>
            <a:ext cx="225308" cy="225308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8037576" y="17647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CRM</a:t>
            </a:r>
            <a:endParaRPr lang="en-US" sz="1050" dirty="0"/>
          </a:p>
        </p:txBody>
      </p:sp>
      <p:sp>
        <p:nvSpPr>
          <p:cNvPr id="48" name="Text 39"/>
          <p:cNvSpPr txBox="1"/>
          <p:nvPr/>
        </p:nvSpPr>
        <p:spPr>
          <a:xfrm>
            <a:off x="8037576" y="202082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Zoho · HubSpot · Salesforce</a:t>
            </a:r>
            <a:endParaRPr lang="en-US" sz="800" dirty="0"/>
          </a:p>
        </p:txBody>
      </p:sp>
      <p:sp>
        <p:nvSpPr>
          <p:cNvPr id="49" name="Shape 40"/>
          <p:cNvSpPr/>
          <p:nvPr/>
        </p:nvSpPr>
        <p:spPr>
          <a:xfrm>
            <a:off x="8961120" y="2523744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9070848" y="265176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59362" y="2740274"/>
            <a:ext cx="225308" cy="225308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9546336" y="2560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ERP / Tally</a:t>
            </a:r>
            <a:endParaRPr lang="en-US" sz="1050" dirty="0"/>
          </a:p>
        </p:txBody>
      </p:sp>
      <p:sp>
        <p:nvSpPr>
          <p:cNvPr id="53" name="Text 43"/>
          <p:cNvSpPr txBox="1"/>
          <p:nvPr/>
        </p:nvSpPr>
        <p:spPr>
          <a:xfrm>
            <a:off x="9546336" y="281635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Orders, invoices, stock</a:t>
            </a:r>
            <a:endParaRPr lang="en-US" sz="800" dirty="0"/>
          </a:p>
        </p:txBody>
      </p:sp>
      <p:sp>
        <p:nvSpPr>
          <p:cNvPr id="54" name="Shape 44"/>
          <p:cNvSpPr/>
          <p:nvPr/>
        </p:nvSpPr>
        <p:spPr>
          <a:xfrm>
            <a:off x="8961120" y="4133088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55" name="Shape 45"/>
          <p:cNvSpPr/>
          <p:nvPr/>
        </p:nvSpPr>
        <p:spPr>
          <a:xfrm>
            <a:off x="9070848" y="42611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59362" y="4349618"/>
            <a:ext cx="225308" cy="225308"/>
          </a:xfrm>
          <a:prstGeom prst="rect">
            <a:avLst/>
          </a:prstGeom>
        </p:spPr>
      </p:pic>
      <p:sp>
        <p:nvSpPr>
          <p:cNvPr id="57" name="Text 46"/>
          <p:cNvSpPr txBox="1"/>
          <p:nvPr/>
        </p:nvSpPr>
        <p:spPr>
          <a:xfrm>
            <a:off x="9546336" y="416966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WhatsApp</a:t>
            </a:r>
            <a:endParaRPr lang="en-US" sz="1050" dirty="0"/>
          </a:p>
        </p:txBody>
      </p:sp>
      <p:sp>
        <p:nvSpPr>
          <p:cNvPr id="58" name="Text 47"/>
          <p:cNvSpPr txBox="1"/>
          <p:nvPr/>
        </p:nvSpPr>
        <p:spPr>
          <a:xfrm>
            <a:off x="9546336" y="44256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Business API</a:t>
            </a:r>
            <a:endParaRPr lang="en-US" sz="800" dirty="0"/>
          </a:p>
        </p:txBody>
      </p:sp>
      <p:sp>
        <p:nvSpPr>
          <p:cNvPr id="59" name="Shape 48"/>
          <p:cNvSpPr/>
          <p:nvPr/>
        </p:nvSpPr>
        <p:spPr>
          <a:xfrm>
            <a:off x="7452360" y="4928616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60" name="Shape 49"/>
          <p:cNvSpPr/>
          <p:nvPr/>
        </p:nvSpPr>
        <p:spPr>
          <a:xfrm>
            <a:off x="7562088" y="5056632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0602" y="5145146"/>
            <a:ext cx="225308" cy="225308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037576" y="496519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Mailbox</a:t>
            </a:r>
            <a:endParaRPr lang="en-US" sz="1050" dirty="0"/>
          </a:p>
        </p:txBody>
      </p:sp>
      <p:sp>
        <p:nvSpPr>
          <p:cNvPr id="63" name="Text 51"/>
          <p:cNvSpPr txBox="1"/>
          <p:nvPr/>
        </p:nvSpPr>
        <p:spPr>
          <a:xfrm>
            <a:off x="8037576" y="5221224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Gmail · Outlook</a:t>
            </a:r>
            <a:endParaRPr lang="en-US" sz="800" dirty="0"/>
          </a:p>
        </p:txBody>
      </p:sp>
      <p:sp>
        <p:nvSpPr>
          <p:cNvPr id="64" name="Shape 52"/>
          <p:cNvSpPr/>
          <p:nvPr/>
        </p:nvSpPr>
        <p:spPr>
          <a:xfrm>
            <a:off x="5943600" y="4133088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65" name="Shape 53"/>
          <p:cNvSpPr/>
          <p:nvPr/>
        </p:nvSpPr>
        <p:spPr>
          <a:xfrm>
            <a:off x="6053328" y="4261104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1842" y="4349618"/>
            <a:ext cx="225308" cy="225308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6528816" y="416966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Excel / Sheets</a:t>
            </a:r>
            <a:endParaRPr lang="en-US" sz="1050" dirty="0"/>
          </a:p>
        </p:txBody>
      </p:sp>
      <p:sp>
        <p:nvSpPr>
          <p:cNvPr id="68" name="Text 55"/>
          <p:cNvSpPr txBox="1"/>
          <p:nvPr/>
        </p:nvSpPr>
        <p:spPr>
          <a:xfrm>
            <a:off x="6528816" y="4425696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Upload &amp; export</a:t>
            </a:r>
            <a:endParaRPr lang="en-US" sz="800" dirty="0"/>
          </a:p>
        </p:txBody>
      </p:sp>
      <p:sp>
        <p:nvSpPr>
          <p:cNvPr id="69" name="Shape 56"/>
          <p:cNvSpPr/>
          <p:nvPr/>
        </p:nvSpPr>
        <p:spPr>
          <a:xfrm>
            <a:off x="5943600" y="2523744"/>
            <a:ext cx="16459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70" name="Shape 57"/>
          <p:cNvSpPr/>
          <p:nvPr/>
        </p:nvSpPr>
        <p:spPr>
          <a:xfrm>
            <a:off x="6053328" y="265176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71" name="Image 11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141842" y="2740274"/>
            <a:ext cx="225308" cy="225308"/>
          </a:xfrm>
          <a:prstGeom prst="rect">
            <a:avLst/>
          </a:prstGeom>
        </p:spPr>
      </p:pic>
      <p:sp>
        <p:nvSpPr>
          <p:cNvPr id="72" name="Text 58"/>
          <p:cNvSpPr txBox="1"/>
          <p:nvPr/>
        </p:nvSpPr>
        <p:spPr>
          <a:xfrm>
            <a:off x="6528816" y="25603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</a:rPr>
              <a:t>Public data</a:t>
            </a:r>
            <a:endParaRPr lang="en-US" sz="1050" dirty="0"/>
          </a:p>
        </p:txBody>
      </p:sp>
      <p:sp>
        <p:nvSpPr>
          <p:cNvPr id="73" name="Text 59"/>
          <p:cNvSpPr txBox="1"/>
          <p:nvPr/>
        </p:nvSpPr>
        <p:spPr>
          <a:xfrm>
            <a:off x="6528816" y="2816352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Portals, tenders</a:t>
            </a:r>
            <a:endParaRPr lang="en-US" sz="800" dirty="0"/>
          </a:p>
        </p:txBody>
      </p:sp>
      <p:sp>
        <p:nvSpPr>
          <p:cNvPr id="74" name="Text 60"/>
          <p:cNvSpPr txBox="1"/>
          <p:nvPr/>
        </p:nvSpPr>
        <p:spPr>
          <a:xfrm>
            <a:off x="4937760" y="5760720"/>
            <a:ext cx="6702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Your system of record wins · conflicts are shown, never guessed · full audit trail · start with Excel, add APIs later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Your data stays yours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Your dealer list is your most valuable asset — the platform is built so it is visible only to the people you choose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Act &amp; sync" action="ppaction://hlinksldjump"/>
          </p:cNvPr>
          <p:cNvSpPr txBox="1"/>
          <p:nvPr/>
        </p:nvSpPr>
        <p:spPr>
          <a:xfrm>
            <a:off x="54864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Act &amp; sync</a:t>
            </a:r>
            <a:endParaRPr lang="en-US" sz="1000" dirty="0"/>
          </a:p>
        </p:txBody>
      </p:sp>
      <p:sp>
        <p:nvSpPr>
          <p:cNvPr id="7" name="Text 4">
            <a:hlinkClick r:id="rId3" tooltip="Next: Six weeks" action="ppaction://hlinksldjump"/>
          </p:cNvPr>
          <p:cNvSpPr txBox="1"/>
          <p:nvPr/>
        </p:nvSpPr>
        <p:spPr>
          <a:xfrm>
            <a:off x="1828800" y="6327648"/>
            <a:ext cx="10744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Six weeks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/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454396" cy="1600200"/>
          </a:xfrm>
          <a:prstGeom prst="roundRect">
            <a:avLst>
              <a:gd name="adj" fmla="val 5714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178308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988" y="1911828"/>
            <a:ext cx="327721" cy="3277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08760" y="178308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Full ownership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2468880"/>
            <a:ext cx="49971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Export everything, any time, in Excel / CSV. Deleted on request within 30 days of contract end. Never used to train shared models.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85916" y="1554480"/>
            <a:ext cx="5454396" cy="1600200"/>
          </a:xfrm>
          <a:prstGeom prst="roundRect">
            <a:avLst>
              <a:gd name="adj" fmla="val 5714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14516" y="178308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264" y="1911828"/>
            <a:ext cx="327721" cy="3277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146036" y="178308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Role-based access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6414516" y="2468880"/>
            <a:ext cx="49971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Owner, manager, rep and read-only roles; a rep sees only their own territory and accounts.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3337560"/>
            <a:ext cx="5454396" cy="1600200"/>
          </a:xfrm>
          <a:prstGeom prst="roundRect">
            <a:avLst>
              <a:gd name="adj" fmla="val 5714"/>
            </a:avLst>
          </a:prstGeom>
          <a:solidFill>
            <a:srgbClr val="F5F3FF"/>
          </a:solidFill>
          <a:ln w="12700">
            <a:solidFill>
              <a:srgbClr val="F5F3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356616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988" y="3694908"/>
            <a:ext cx="327721" cy="3277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356616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Encrypted &amp; audited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251960"/>
            <a:ext cx="49971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TLS in transit, encryption at rest, MFA available; every view, edit, export and sync is logged.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6185916" y="3337560"/>
            <a:ext cx="5454396" cy="1600200"/>
          </a:xfrm>
          <a:prstGeom prst="roundRect">
            <a:avLst>
              <a:gd name="adj" fmla="val 5714"/>
            </a:avLst>
          </a:prstGeom>
          <a:solidFill>
            <a:srgbClr val="F0FDFA"/>
          </a:solidFill>
          <a:ln w="12700">
            <a:solidFill>
              <a:srgbClr val="F0FDFA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414516" y="3566160"/>
            <a:ext cx="585216" cy="585216"/>
          </a:xfrm>
          <a:prstGeom prst="roundRect">
            <a:avLst>
              <a:gd name="adj" fmla="val 2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264" y="3694908"/>
            <a:ext cx="327721" cy="327721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46036" y="3566160"/>
            <a:ext cx="42656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Backed up daily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414516" y="4251960"/>
            <a:ext cx="49971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Automated backups with point-in-time restore; your data is isolated from every other client.</a:t>
            </a:r>
            <a:endParaRPr lang="en-US" sz="12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A34A"/>
                </a:solidFill>
              </a:rPr>
              <a:t>HOSTING OPTIONS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48640" y="553212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6967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051560" y="5577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Managed cloud</a:t>
            </a:r>
            <a:endParaRPr lang="en-US" sz="1150" dirty="0"/>
          </a:p>
        </p:txBody>
      </p:sp>
      <p:sp>
        <p:nvSpPr>
          <p:cNvPr id="33" name="Text 25"/>
          <p:cNvSpPr txBox="1"/>
          <p:nvPr/>
        </p:nvSpPr>
        <p:spPr>
          <a:xfrm>
            <a:off x="1051560" y="5833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Microsoft Azure, India region — fastest start</a:t>
            </a:r>
            <a:endParaRPr lang="en-US" sz="850" dirty="0"/>
          </a:p>
        </p:txBody>
      </p:sp>
      <p:sp>
        <p:nvSpPr>
          <p:cNvPr id="34" name="Shape 26"/>
          <p:cNvSpPr/>
          <p:nvPr/>
        </p:nvSpPr>
        <p:spPr>
          <a:xfrm>
            <a:off x="4311396" y="553212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556" y="5696712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14316" y="5577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Your own cloud subscription</a:t>
            </a:r>
            <a:endParaRPr lang="en-US" sz="1150" dirty="0"/>
          </a:p>
        </p:txBody>
      </p:sp>
      <p:sp>
        <p:nvSpPr>
          <p:cNvPr id="37" name="Text 28"/>
          <p:cNvSpPr txBox="1"/>
          <p:nvPr/>
        </p:nvSpPr>
        <p:spPr>
          <a:xfrm>
            <a:off x="4814316" y="5833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Deployed into your Azure / AWS tenant</a:t>
            </a:r>
            <a:endParaRPr lang="en-US" sz="850" dirty="0"/>
          </a:p>
        </p:txBody>
      </p:sp>
      <p:sp>
        <p:nvSpPr>
          <p:cNvPr id="38" name="Shape 29"/>
          <p:cNvSpPr/>
          <p:nvPr/>
        </p:nvSpPr>
        <p:spPr>
          <a:xfrm>
            <a:off x="8074152" y="5532120"/>
            <a:ext cx="3566160" cy="594360"/>
          </a:xfrm>
          <a:prstGeom prst="roundRect">
            <a:avLst>
              <a:gd name="adj" fmla="val 1538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1312" y="5696712"/>
            <a:ext cx="256032" cy="256032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577072" y="55778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On-premises assessment</a:t>
            </a:r>
            <a:endParaRPr lang="en-US" sz="1150" dirty="0"/>
          </a:p>
        </p:txBody>
      </p:sp>
      <p:sp>
        <p:nvSpPr>
          <p:cNvPr id="41" name="Text 31"/>
          <p:cNvSpPr txBox="1"/>
          <p:nvPr/>
        </p:nvSpPr>
        <p:spPr>
          <a:xfrm>
            <a:off x="8577072" y="58338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For regulated clients, scoped case by case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Live in six weeks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Fixed scope: starts with the Excel files you already have, ends with one sales team using LeadPilot every morning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0" y="420624"/>
            <a:ext cx="561353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991088" y="42062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1D6FEB"/>
                </a:solidFill>
              </a:rPr>
              <a:t>Pilot</a:t>
            </a:r>
            <a:endParaRPr lang="en-US" sz="1700" dirty="0"/>
          </a:p>
        </p:txBody>
      </p:sp>
      <p:sp>
        <p:nvSpPr>
          <p:cNvPr id="6" name="Text 3">
            <a:hlinkClick r:id="rId2" tooltip="Previous: Your data" action="ppaction://hlinksldjump"/>
          </p:cNvPr>
          <p:cNvSpPr txBox="1"/>
          <p:nvPr/>
        </p:nvSpPr>
        <p:spPr>
          <a:xfrm>
            <a:off x="548640" y="6327648"/>
            <a:ext cx="107442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←  Your data</a:t>
            </a:r>
            <a:endParaRPr lang="en-US" sz="1000" dirty="0"/>
          </a:p>
        </p:txBody>
      </p:sp>
      <p:sp>
        <p:nvSpPr>
          <p:cNvPr id="7" name="Text 4">
            <a:hlinkClick r:id="rId3" tooltip="Next: Next steps" action="ppaction://hlinksldjump"/>
          </p:cNvPr>
          <p:cNvSpPr txBox="1"/>
          <p:nvPr/>
        </p:nvSpPr>
        <p:spPr>
          <a:xfrm>
            <a:off x="1760220" y="6327648"/>
            <a:ext cx="1143000" cy="329184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4155"/>
                </a:solidFill>
              </a:rPr>
              <a:t>Next steps  →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607040" y="6327648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 / 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1984248"/>
            <a:ext cx="11091672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29868" y="1783080"/>
            <a:ext cx="402336" cy="402336"/>
          </a:xfrm>
          <a:prstGeom prst="ellipse">
            <a:avLst/>
          </a:prstGeom>
          <a:solidFill>
            <a:srgbClr val="1D6FE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2986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D6FEB"/>
                </a:solidFill>
              </a:rPr>
              <a:t>Week 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85800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Discovery &amp; data audit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Map current flow and systems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Agree segments &amp; KPIs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095244" y="1783080"/>
            <a:ext cx="402336" cy="402336"/>
          </a:xfrm>
          <a:prstGeom prst="ellipse">
            <a:avLst/>
          </a:prstGeom>
          <a:solidFill>
            <a:srgbClr val="7C3AED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95244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2414016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C3AED"/>
                </a:solidFill>
              </a:rPr>
              <a:t>Week 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414016" y="237744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2551176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Data onboarding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551176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Import dealers, sales, contacts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De-duplicate; quality report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960620" y="1783080"/>
            <a:ext cx="402336" cy="402336"/>
          </a:xfrm>
          <a:prstGeom prst="ellipse">
            <a:avLst/>
          </a:prstGeom>
          <a:solidFill>
            <a:srgbClr val="0D948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960620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279392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D9488"/>
                </a:solidFill>
              </a:rPr>
              <a:t>Week 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279392" y="237744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416552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Configuration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416552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Territories, roles, dashboards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Fit scoring to your history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825996" y="1783080"/>
            <a:ext cx="402336" cy="402336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825996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144768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</a:rPr>
              <a:t>Week 4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6144768" y="237744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281928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6281928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CRM / ERP / WhatsApp / mailbox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Sync rules agreed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8691372" y="1783080"/>
            <a:ext cx="402336" cy="402336"/>
          </a:xfrm>
          <a:prstGeom prst="ellipse">
            <a:avLst/>
          </a:prstGeom>
          <a:solidFill>
            <a:srgbClr val="E11D48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91372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010144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E11D48"/>
                </a:solidFill>
              </a:rPr>
              <a:t>Week 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8010144" y="237744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8147304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Pilot</a:t>
            </a:r>
            <a:endParaRPr lang="en-US" sz="1300" dirty="0"/>
          </a:p>
        </p:txBody>
      </p:sp>
      <p:sp>
        <p:nvSpPr>
          <p:cNvPr id="39" name="Text 36"/>
          <p:cNvSpPr txBox="1"/>
          <p:nvPr/>
        </p:nvSpPr>
        <p:spPr>
          <a:xfrm>
            <a:off x="8147304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One team, live call lists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Daily feedback; tune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10556748" y="1783080"/>
            <a:ext cx="402336" cy="402336"/>
          </a:xfrm>
          <a:prstGeom prst="ellipse">
            <a:avLst/>
          </a:prstGeom>
          <a:solidFill>
            <a:srgbClr val="16A34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556748" y="1783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6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9875520" y="1508760"/>
            <a:ext cx="1764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6A34A"/>
                </a:solidFill>
              </a:rPr>
              <a:t>Week 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9875520" y="2377440"/>
            <a:ext cx="1764792" cy="1783080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10012680" y="2496312"/>
            <a:ext cx="14904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Go-live &amp; training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10012680" y="3063240"/>
            <a:ext cx="15361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All teams trained by role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50" dirty="0">
                <a:solidFill>
                  <a:srgbClr val="334155"/>
                </a:solidFill>
              </a:rPr>
              <a:t>Support channel opened</a:t>
            </a:r>
            <a:endParaRPr lang="en-US" sz="105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D6FEB"/>
                </a:solidFill>
              </a:rPr>
              <a:t>ALL WE NEED FROM YOU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>
            <a:off x="548640" y="47548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713232" y="5093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86" y="5205862"/>
            <a:ext cx="286756" cy="286756"/>
          </a:xfrm>
          <a:prstGeom prst="rect">
            <a:avLst/>
          </a:prstGeom>
        </p:spPr>
      </p:pic>
      <p:sp>
        <p:nvSpPr>
          <p:cNvPr id="50" name="Text 46"/>
          <p:cNvSpPr txBox="1"/>
          <p:nvPr/>
        </p:nvSpPr>
        <p:spPr>
          <a:xfrm>
            <a:off x="1371600" y="4919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Dealer list + 12 months of sales data</a:t>
            </a:r>
            <a:endParaRPr lang="en-US" sz="1200" dirty="0"/>
          </a:p>
        </p:txBody>
      </p:sp>
      <p:sp>
        <p:nvSpPr>
          <p:cNvPr id="51" name="Text 47"/>
          <p:cNvSpPr txBox="1"/>
          <p:nvPr/>
        </p:nvSpPr>
        <p:spPr>
          <a:xfrm>
            <a:off x="1371600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Excel is fine — we clean it</a:t>
            </a:r>
            <a:endParaRPr lang="en-US" sz="1050" dirty="0"/>
          </a:p>
        </p:txBody>
      </p:sp>
      <p:sp>
        <p:nvSpPr>
          <p:cNvPr id="52" name="Shape 48"/>
          <p:cNvSpPr/>
          <p:nvPr/>
        </p:nvSpPr>
        <p:spPr>
          <a:xfrm>
            <a:off x="4311396" y="47548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4475988" y="5093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8642" y="5205862"/>
            <a:ext cx="286756" cy="286756"/>
          </a:xfrm>
          <a:prstGeom prst="rect">
            <a:avLst/>
          </a:prstGeom>
        </p:spPr>
      </p:pic>
      <p:sp>
        <p:nvSpPr>
          <p:cNvPr id="55" name="Text 50"/>
          <p:cNvSpPr txBox="1"/>
          <p:nvPr/>
        </p:nvSpPr>
        <p:spPr>
          <a:xfrm>
            <a:off x="5134356" y="4919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 sponsor and one pilot team</a:t>
            </a:r>
            <a:endParaRPr lang="en-US" sz="1200" dirty="0"/>
          </a:p>
        </p:txBody>
      </p:sp>
      <p:sp>
        <p:nvSpPr>
          <p:cNvPr id="56" name="Text 51"/>
          <p:cNvSpPr txBox="1"/>
          <p:nvPr/>
        </p:nvSpPr>
        <p:spPr>
          <a:xfrm>
            <a:off x="5134356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30 minutes a week of their time</a:t>
            </a:r>
            <a:endParaRPr lang="en-US" sz="1050" dirty="0"/>
          </a:p>
        </p:txBody>
      </p:sp>
      <p:sp>
        <p:nvSpPr>
          <p:cNvPr id="57" name="Shape 52"/>
          <p:cNvSpPr/>
          <p:nvPr/>
        </p:nvSpPr>
        <p:spPr>
          <a:xfrm>
            <a:off x="8074152" y="4754880"/>
            <a:ext cx="3566160" cy="1188720"/>
          </a:xfrm>
          <a:prstGeom prst="roundRect">
            <a:avLst>
              <a:gd name="adj" fmla="val 7692"/>
            </a:avLst>
          </a:prstGeom>
          <a:solidFill>
            <a:srgbClr val="EBF2FF"/>
          </a:solidFill>
          <a:ln w="12700">
            <a:solidFill>
              <a:srgbClr val="EBF2FF"/>
            </a:solidFill>
            <a:prstDash val="solid"/>
          </a:ln>
        </p:spPr>
      </p:sp>
      <p:sp>
        <p:nvSpPr>
          <p:cNvPr id="58" name="Shape 53"/>
          <p:cNvSpPr/>
          <p:nvPr/>
        </p:nvSpPr>
        <p:spPr>
          <a:xfrm>
            <a:off x="8238744" y="5093208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59" name="Image 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1398" y="5205862"/>
            <a:ext cx="286756" cy="286756"/>
          </a:xfrm>
          <a:prstGeom prst="rect">
            <a:avLst/>
          </a:prstGeom>
        </p:spPr>
      </p:pic>
      <p:sp>
        <p:nvSpPr>
          <p:cNvPr id="60" name="Text 54"/>
          <p:cNvSpPr txBox="1"/>
          <p:nvPr/>
        </p:nvSpPr>
        <p:spPr>
          <a:xfrm>
            <a:off x="8897112" y="4919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Access to the systems to sync</a:t>
            </a:r>
            <a:endParaRPr lang="en-US" sz="1200" dirty="0"/>
          </a:p>
        </p:txBody>
      </p:sp>
      <p:sp>
        <p:nvSpPr>
          <p:cNvPr id="61" name="Text 55"/>
          <p:cNvSpPr txBox="1"/>
          <p:nvPr/>
        </p:nvSpPr>
        <p:spPr>
          <a:xfrm>
            <a:off x="8897112" y="5440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API keys or an export schedule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1D6FEB">
              <a:alpha val="18000"/>
            </a:srgbClr>
          </a:solidFill>
          <a:ln w="12700">
            <a:solidFill>
              <a:srgbClr val="1D6F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561353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98448" y="50292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Lead</a:t>
            </a:r>
            <a:pPr indent="0" marL="0">
              <a:buNone/>
            </a:pPr>
            <a:r>
              <a:rPr lang="en-US" sz="1700" b="1" dirty="0">
                <a:solidFill>
                  <a:srgbClr val="60A5FA"/>
                </a:solidFill>
              </a:rPr>
              <a:t>Pilot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3716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Let’s start with your data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</a:rPr>
              <a:t>Three steps from this deck to a working pilot — pricing shared after the discovery call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274320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01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371600" y="29260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184" y="3026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11680" y="285292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30-minute discovery call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2011680" y="315468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Walk us through how leads and sales flow today; we map the systems and the pain points.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2960" y="37033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02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1371600" y="388620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184" y="39867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11680" y="381304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Share one Excel file</a:t>
            </a:r>
            <a:endParaRPr lang="en-US" sz="1450" dirty="0"/>
          </a:p>
        </p:txBody>
      </p:sp>
      <p:sp>
        <p:nvSpPr>
          <p:cNvPr id="20" name="Text 15"/>
          <p:cNvSpPr txBox="1"/>
          <p:nvPr/>
        </p:nvSpPr>
        <p:spPr>
          <a:xfrm>
            <a:off x="2011680" y="411480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Your dealer list and a sales export. We return a data-quality report and a sample scored list.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640080" y="4663440"/>
            <a:ext cx="676656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22960" y="4663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03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1371600" y="4846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6FEB"/>
          </a:solidFill>
          <a:ln w="12700">
            <a:solidFill>
              <a:srgbClr val="1D6FE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2184" y="4946904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2011680" y="47731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Pilot proposal within a week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2011680" y="5074920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</a:rPr>
              <a:t>Fixed scope, fixed timeline, fixed fee — with the exact screens your team will use.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7863840" y="2743200"/>
            <a:ext cx="37033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0000"/>
              </a:srgbClr>
            </a:outerShdw>
          </a:effectLst>
        </p:spPr>
      </p:sp>
      <p:sp>
        <p:nvSpPr>
          <p:cNvPr id="28" name="Text 22"/>
          <p:cNvSpPr txBox="1"/>
          <p:nvPr/>
        </p:nvSpPr>
        <p:spPr>
          <a:xfrm>
            <a:off x="8092440" y="2926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D6FEB"/>
                </a:solidFill>
              </a:rPr>
              <a:t>CONTACT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Sujay Roy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8092440" y="35478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Founder · Software &amp; AI</a:t>
            </a:r>
            <a:endParaRPr lang="en-US" sz="11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023360"/>
            <a:ext cx="256032" cy="256032"/>
          </a:xfrm>
          <a:prstGeom prst="rect">
            <a:avLst/>
          </a:prstGeom>
        </p:spPr>
      </p:pic>
      <p:sp>
        <p:nvSpPr>
          <p:cNvPr id="32" name="Text 25">
            <a:hlinkClick r:id="rId6" tooltip="Email Sujay Roy"/>
          </p:cNvPr>
          <p:cNvSpPr txBox="1"/>
          <p:nvPr/>
        </p:nvSpPr>
        <p:spPr>
          <a:xfrm>
            <a:off x="8458200" y="397764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1D6FEB"/>
                </a:solidFill>
                <a:hlinkClick r:id="rId6" invalidUrl="" action="" tgtFrame="" tooltip="Email Sujay Roy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sujaydevroy@gmail.com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4434840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458200" y="438912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Kolkata, India · remote-first delivery</a:t>
            </a:r>
            <a:endParaRPr lang="en-US" sz="11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4846320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458200" y="4800600"/>
            <a:ext cx="3017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Office visit or Google Meet, 15–30 min</a:t>
            </a:r>
            <a:endParaRPr lang="en-US" sz="1100" dirty="0"/>
          </a:p>
        </p:txBody>
      </p:sp>
      <p:sp>
        <p:nvSpPr>
          <p:cNvPr id="37" name="Text 28">
            <a:hlinkClick r:id="rId9" tooltip="←  Live in six weeks" action="ppaction://hlinksldjump"/>
          </p:cNvPr>
          <p:cNvSpPr txBox="1"/>
          <p:nvPr/>
        </p:nvSpPr>
        <p:spPr>
          <a:xfrm>
            <a:off x="640080" y="603504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7D2FE"/>
                </a:solidFill>
              </a:rPr>
              <a:t>←  Live in six weeks</a:t>
            </a:r>
            <a:endParaRPr lang="en-US" sz="1000" dirty="0"/>
          </a:p>
        </p:txBody>
      </p:sp>
      <p:sp>
        <p:nvSpPr>
          <p:cNvPr id="38" name="Text 29">
            <a:hlinkClick r:id="rId10" tooltip="⌂  Back to start" action="ppaction://hlinksldjump"/>
          </p:cNvPr>
          <p:cNvSpPr txBox="1"/>
          <p:nvPr/>
        </p:nvSpPr>
        <p:spPr>
          <a:xfrm>
            <a:off x="2606040" y="6035040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1D6FEB"/>
          </a:solidFill>
          <a:ln>
            <a:solidFill>
              <a:srgbClr val="1D6FEB"/>
            </a:solidFill>
          </a:ln>
        </p:spPr>
        <p:txBody>
          <a:bodyPr wrap="square" lIns="0" tIns="1016" rIns="1016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⌂  Back to start</a:t>
            </a:r>
            <a:endParaRPr lang="en-US" sz="1000" dirty="0"/>
          </a:p>
        </p:txBody>
      </p:sp>
      <p:sp>
        <p:nvSpPr>
          <p:cNvPr id="39" name="Text 30"/>
          <p:cNvSpPr txBox="1"/>
          <p:nvPr/>
        </p:nvSpPr>
        <p:spPr>
          <a:xfrm>
            <a:off x="5943600" y="6035040"/>
            <a:ext cx="5623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LeadPilot  ·  Find the demand. Sync the sale.  ·  October 2026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0607040" y="640080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adPilot">
  <a:themeElements>
    <a:clrScheme name="LeadPilot">
      <a:dk1>
        <a:srgbClr val="0F172A"/>
      </a:dk1>
      <a:lt1>
        <a:srgbClr val="FFFFFF"/>
      </a:lt1>
      <a:dk2>
        <a:srgbClr val="1E1B4B"/>
      </a:dk2>
      <a:lt2>
        <a:srgbClr val="F1F5F9"/>
      </a:lt2>
      <a:accent1>
        <a:srgbClr val="1D6FEB"/>
      </a:accent1>
      <a:accent2>
        <a:srgbClr val="0D9488"/>
      </a:accent2>
      <a:accent3>
        <a:srgbClr val="F59E0B"/>
      </a:accent3>
      <a:accent4>
        <a:srgbClr val="E11D48"/>
      </a:accent4>
      <a:accent5>
        <a:srgbClr val="7C3AED"/>
      </a:accent5>
      <a:accent6>
        <a:srgbClr val="0284C7"/>
      </a:accent6>
      <a:hlink>
        <a:srgbClr val="1D6FEB"/>
      </a:hlink>
      <a:folHlink>
        <a:srgbClr val="7C3AED"/>
      </a:folHlink>
    </a:clrScheme>
    <a:fontScheme name="LeadPilo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LeadPilot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LeadPilot — Sales Intelligence, Lead Generation &amp; Sync</dc:title>
  <dc:subject>PptxGenJS Presentation</dc:subject>
  <dc:creator>Sujay Roy</dc:creator>
  <cp:lastModifiedBy>Sujay Roy</cp:lastModifiedBy>
  <cp:revision>1</cp:revision>
  <dcterms:created xsi:type="dcterms:W3CDTF">2026-10-08T07:51:33Z</dcterms:created>
  <dcterms:modified xsi:type="dcterms:W3CDTF">2026-10-08T07:51:33Z</dcterms:modified>
</cp:coreProperties>
</file>