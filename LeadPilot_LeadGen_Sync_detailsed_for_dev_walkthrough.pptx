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1164eead-64f9-1b1a-5c0a-d506b8d6e9b3}">
          <p14:sldIdLst>
            <p14:sldId id="256"/>
            <p14:sldId id="257"/>
            <p14:sldId id="258"/>
          </p14:sldIdLst>
        </p14:section>
        <p14:section name="The Problem" id="{dab10a62-2d34-6ee0-c582-e07991687891}">
          <p14:sldIdLst>
            <p14:sldId id="259"/>
            <p14:sldId id="260"/>
          </p14:sldIdLst>
        </p14:section>
        <p14:section name="The Platform" id="{37d08d00-c769-7db4-ba27-e21f4e0a1a25}">
          <p14:sldIdLst>
            <p14:sldId id="261"/>
            <p14:sldId id="262"/>
          </p14:sldIdLst>
        </p14:section>
        <p14:section name="Modules" id="{34225ff2-fbeb-d0c2-4046-eb1688d2d3a8}">
          <p14:sldIdLst>
            <p14:sldId id="263"/>
            <p14:sldId id="264"/>
            <p14:sldId id="265"/>
          </p14:sldIdLst>
        </p14:section>
        <p14:section name="Intelligence" id="{02e8785c-9fa9-569b-88cb-08c57571bc8f}">
          <p14:sldIdLst>
            <p14:sldId id="266"/>
            <p14:sldId id="267"/>
            <p14:sldId id="268"/>
          </p14:sldIdLst>
        </p14:section>
        <p14:section name="Outreach &amp; Sync" id="{06ee5582-a001-8a42-86f8-9b6ef4804708}">
          <p14:sldIdLst>
            <p14:sldId id="269"/>
            <p14:sldId id="270"/>
          </p14:sldIdLst>
        </p14:section>
        <p14:section name="Data &amp; Architecture" id="{1967c42e-494c-7d19-df75-fc12bf03e481}">
          <p14:sldIdLst>
            <p14:sldId id="271"/>
            <p14:sldId id="272"/>
          </p14:sldIdLst>
        </p14:section>
        <p14:section name="Security &amp; Rollout" id="{bfd8d3c8-79a2-59ed-35a3-68a0c8f35339}">
          <p14:sldIdLst>
            <p14:sldId id="273"/>
            <p14:sldId id="274"/>
          </p14:sldIdLst>
        </p14:section>
        <p14:section name="Value &amp; Next Steps" id="{b7a7ab4e-9df7-fe69-1bcd-568b1f5f6d5c}">
          <p14:sldIdLst>
            <p14:sldId id="275"/>
            <p14:sldId id="276"/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1D6FEB"/>
            </a:solidFill>
            <a:ln w="31750" cap="flat">
              <a:solidFill>
                <a:srgbClr val="1D6FE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1D6FEB"/>
              </a:solidFill>
              <a:ln w="9525" cap="flat">
                <a:solidFill>
                  <a:srgbClr val="1D6FE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42</c:v>
                </c:pt>
                <c:pt idx="1">
                  <c:v>45</c:v>
                </c:pt>
                <c:pt idx="2">
                  <c:v>44</c:v>
                </c:pt>
                <c:pt idx="3">
                  <c:v>49</c:v>
                </c:pt>
                <c:pt idx="4">
                  <c:v>52</c:v>
                </c:pt>
                <c:pt idx="5">
                  <c:v>50</c:v>
                </c:pt>
                <c:pt idx="6">
                  <c:v>56</c:v>
                </c:pt>
                <c:pt idx="7">
                  <c:v>58</c:v>
                </c:pt>
                <c:pt idx="8">
                  <c:v>61</c:v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Forecast</c:v>
                </c:pt>
              </c:strCache>
            </c:strRef>
          </c:tx>
          <c:spPr>
            <a:solidFill>
              <a:srgbClr val="F59E0B"/>
            </a:solidFill>
            <a:ln w="31750" cap="flat">
              <a:solidFill>
                <a:srgbClr val="F59E0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>61</c:v>
                </c:pt>
                <c:pt idx="9">
                  <c:v>63.5</c:v>
                </c:pt>
                <c:pt idx="10">
                  <c:v>66</c:v>
                </c:pt>
                <c:pt idx="11">
                  <c:v>68.5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5"/>
          <c:min val="3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64748B"/>
                    </a:solidFill>
                    <a:latin typeface="+mn-lt"/>
                  </a:defRPr>
                </a:pPr>
                <a:r>
                  <a:rPr sz="900" b="0" i="0" u="none" strike="noStrike">
                    <a:solidFill>
                      <a:srgbClr val="64748B"/>
                    </a:solidFill>
                    <a:latin typeface="+mn-lt"/>
                  </a:rPr>
                  <a:t>₹ lakh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3415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LeadPilot: sales intelligence, lead generation and two-way sync in one workspace. Every pill on this slide is clickable in Slide Show mode and in the PDF.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Hub slide. Tiles link to the first slide of each section; the ⌂ button on every slide returns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Executive summary: Discover → Decide → Deliver. Each column header links to the relevant section.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 questions in two families. The coverage matrix on slide 12 maps each one to a capability.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Before/after framing. No invented percentages: each row is a mechanism, not a claimed metric.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Inputs on the left are what most clients already have; market &amp; public signals are the one new source LeadPilot adds.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stages. Stage 1 is where lead generation happens; stage 4 is the sync that gives the product its name.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map. Dashboard is the landing page; the other seven link to their detail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the four-step path. Right: an illustrative filter panel; counts are sample values, not client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Scoring is explainable by design: every score shows the signals behind it. Weights shown are defaults.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Chart values are illustrative sample numbers so the layout can be judged; the forecast line continues from the last actual.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Coverage matrix: the ten questions from slide 4 mapped to capabilities with honest availability labels.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alert types. The quoted examples are illustrative wording, not real client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Outreach module. The sequence shown is a template; cadence and channels are configurable per segment.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Sync hub. Connectors listed are the usual Indian SME stack; others are added per client.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model: four entities common to this kind of platform, plus Signal, which carries the public-data leads.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Architecture in four layers. Stack is .NET on Azure; intelligence services are separate so models can be swapped without touching the 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Security posture. Export-anytime and no-shared-training are the two promises clients ask about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Six-week fixed-scope onboarding. Week 4 shrinks to a day if the client starts with Excel exchange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Outcomes framed as mechanisms rather than invented percentages; client-specific numbers come from the pilot.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engagement models. No prices on the slide: they depend on user count, connectors and hosting choice.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three concrete, low-effort next steps. Email link is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4" Type="http://schemas.openxmlformats.org/officeDocument/2006/relationships/slide" Target="slide6.xml"/><Relationship Id="rId5" Type="http://schemas.openxmlformats.org/officeDocument/2006/relationships/slide" Target="slide8.xml"/><Relationship Id="rId6" Type="http://schemas.openxmlformats.org/officeDocument/2006/relationships/slide" Target="slide11.xml"/><Relationship Id="rId7" Type="http://schemas.openxmlformats.org/officeDocument/2006/relationships/slide" Target="slide14.xml"/><Relationship Id="rId8" Type="http://schemas.openxmlformats.org/officeDocument/2006/relationships/slide" Target="slide16.xml"/><Relationship Id="rId9" Type="http://schemas.openxmlformats.org/officeDocument/2006/relationships/slide" Target="slide18.xml"/><Relationship Id="rId10" Type="http://schemas.openxmlformats.org/officeDocument/2006/relationships/slide" Target="slide20.xml"/><Relationship Id="rId12" Type="http://schemas.openxmlformats.org/officeDocument/2006/relationships/slide" Target="slide8.xml"/><Relationship Id="rId13" Type="http://schemas.openxmlformats.org/officeDocument/2006/relationships/slide" Target="slide10.xml"/><Relationship Id="rId14" Type="http://schemas.openxmlformats.org/officeDocument/2006/relationships/slide" Target="slide11.xml"/><Relationship Id="rId15" Type="http://schemas.openxmlformats.org/officeDocument/2006/relationships/slide" Target="slide15.xml"/><Relationship Id="rId16" Type="http://schemas.openxmlformats.org/officeDocument/2006/relationships/slide" Target="slide14.xml"/><Relationship Id="rId17" Type="http://schemas.openxmlformats.org/officeDocument/2006/relationships/slide" Target="slide11.xml"/><Relationship Id="rId18" Type="http://schemas.openxmlformats.org/officeDocument/2006/relationships/slide" Target="slide9.xml"/><Relationship Id="rId19" Type="http://schemas.openxmlformats.org/officeDocument/2006/relationships/slide" Target="slide13.xml"/><Relationship Id="rId20" Type="http://schemas.openxmlformats.org/officeDocument/2006/relationships/slide" Target="slide8.xml"/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11" Type="http://schemas.openxmlformats.org/officeDocument/2006/relationships/image" Target="../media/image-1-3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3" Type="http://schemas.openxmlformats.org/officeDocument/2006/relationships/slide" Target="slide3.xml"/><Relationship Id="rId5" Type="http://schemas.openxmlformats.org/officeDocument/2006/relationships/slide" Target="slide4.xml"/><Relationship Id="rId6" Type="http://schemas.openxmlformats.org/officeDocument/2006/relationships/slide" Target="slide4.xml"/><Relationship Id="rId8" Type="http://schemas.openxmlformats.org/officeDocument/2006/relationships/slide" Target="slide6.xml"/><Relationship Id="rId9" Type="http://schemas.openxmlformats.org/officeDocument/2006/relationships/slide" Target="slide6.xml"/><Relationship Id="rId11" Type="http://schemas.openxmlformats.org/officeDocument/2006/relationships/slide" Target="slide8.xml"/><Relationship Id="rId12" Type="http://schemas.openxmlformats.org/officeDocument/2006/relationships/slide" Target="slide8.xml"/><Relationship Id="rId14" Type="http://schemas.openxmlformats.org/officeDocument/2006/relationships/slide" Target="slide11.xml"/><Relationship Id="rId15" Type="http://schemas.openxmlformats.org/officeDocument/2006/relationships/slide" Target="slide11.xml"/><Relationship Id="rId17" Type="http://schemas.openxmlformats.org/officeDocument/2006/relationships/slide" Target="slide14.xml"/><Relationship Id="rId18" Type="http://schemas.openxmlformats.org/officeDocument/2006/relationships/slide" Target="slide14.xml"/><Relationship Id="rId20" Type="http://schemas.openxmlformats.org/officeDocument/2006/relationships/slide" Target="slide16.xml"/><Relationship Id="rId21" Type="http://schemas.openxmlformats.org/officeDocument/2006/relationships/slide" Target="slide16.xml"/><Relationship Id="rId23" Type="http://schemas.openxmlformats.org/officeDocument/2006/relationships/slide" Target="slide18.xml"/><Relationship Id="rId24" Type="http://schemas.openxmlformats.org/officeDocument/2006/relationships/slide" Target="slide18.xml"/><Relationship Id="rId26" Type="http://schemas.openxmlformats.org/officeDocument/2006/relationships/slide" Target="slide20.xml"/><Relationship Id="rId27" Type="http://schemas.openxmlformats.org/officeDocument/2006/relationships/slide" Target="slide20.xml"/><Relationship Id="rId28" Type="http://schemas.openxmlformats.org/officeDocument/2006/relationships/slide" Target="slide3.xml"/><Relationship Id="rId1" Type="http://schemas.openxmlformats.org/officeDocument/2006/relationships/image" Target="../media/image-2-1.png"/><Relationship Id="rId4" Type="http://schemas.openxmlformats.org/officeDocument/2006/relationships/image" Target="../media/image-2-2.png"/><Relationship Id="rId7" Type="http://schemas.openxmlformats.org/officeDocument/2006/relationships/image" Target="../media/image-2-3.png"/><Relationship Id="rId10" Type="http://schemas.openxmlformats.org/officeDocument/2006/relationships/image" Target="../media/image-2-4.png"/><Relationship Id="rId13" Type="http://schemas.openxmlformats.org/officeDocument/2006/relationships/image" Target="../media/image-2-5.png"/><Relationship Id="rId16" Type="http://schemas.openxmlformats.org/officeDocument/2006/relationships/image" Target="../media/image-2-6.png"/><Relationship Id="rId19" Type="http://schemas.openxmlformats.org/officeDocument/2006/relationships/image" Target="../media/image-2-7.png"/><Relationship Id="rId22" Type="http://schemas.openxmlformats.org/officeDocument/2006/relationships/image" Target="../media/image-2-8.png"/><Relationship Id="rId25" Type="http://schemas.openxmlformats.org/officeDocument/2006/relationships/image" Target="../media/image-2-9.png"/><Relationship Id="rId29" Type="http://schemas.openxmlformats.org/officeDocument/2006/relationships/slideLayout" Target="../slideLayouts/slideLayout1.xml"/><Relationship Id="rId3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3" Type="http://schemas.openxmlformats.org/officeDocument/2006/relationships/slide" Target="slide2.xml"/><Relationship Id="rId4" Type="http://schemas.openxmlformats.org/officeDocument/2006/relationships/slide" Target="slide4.xml"/><Relationship Id="rId6" Type="http://schemas.openxmlformats.org/officeDocument/2006/relationships/slide" Target="slide9.xml"/><Relationship Id="rId8" Type="http://schemas.openxmlformats.org/officeDocument/2006/relationships/slide" Target="slide11.xml"/><Relationship Id="rId10" Type="http://schemas.openxmlformats.org/officeDocument/2006/relationships/slide" Target="slide14.xml"/><Relationship Id="rId2" Type="http://schemas.openxmlformats.org/officeDocument/2006/relationships/image" Target="../media/image-3-1.png"/><Relationship Id="rId5" Type="http://schemas.openxmlformats.org/officeDocument/2006/relationships/image" Target="../media/image-3-2.png"/><Relationship Id="rId7" Type="http://schemas.openxmlformats.org/officeDocument/2006/relationships/image" Target="../media/image-3-3.png"/><Relationship Id="rId9" Type="http://schemas.openxmlformats.org/officeDocument/2006/relationships/image" Target="../media/image-3-4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3" Type="http://schemas.openxmlformats.org/officeDocument/2006/relationships/slide" Target="slide2.xml"/><Relationship Id="rId4" Type="http://schemas.openxmlformats.org/officeDocument/2006/relationships/slide" Target="slide3.xml"/><Relationship Id="rId5" Type="http://schemas.openxmlformats.org/officeDocument/2006/relationships/slide" Target="slide5.xml"/><Relationship Id="rId2" Type="http://schemas.openxmlformats.org/officeDocument/2006/relationships/image" Target="../media/image-4-1.png"/><Relationship Id="rId6" Type="http://schemas.openxmlformats.org/officeDocument/2006/relationships/image" Target="../media/image-4-2.png"/><Relationship Id="rId7" Type="http://schemas.openxmlformats.org/officeDocument/2006/relationships/image" Target="../media/image-4-3.png"/><Relationship Id="rId8" Type="http://schemas.openxmlformats.org/officeDocument/2006/relationships/image" Target="../media/image-4-4.png"/><Relationship Id="rId9" Type="http://schemas.openxmlformats.org/officeDocument/2006/relationships/image" Target="../media/image-4-5.png"/><Relationship Id="rId10" Type="http://schemas.openxmlformats.org/officeDocument/2006/relationships/image" Target="../media/image-4-6.png"/><Relationship Id="rId11" Type="http://schemas.openxmlformats.org/officeDocument/2006/relationships/image" Target="../media/image-4-7.png"/><Relationship Id="rId12" Type="http://schemas.openxmlformats.org/officeDocument/2006/relationships/image" Target="../media/image-4-8.png"/><Relationship Id="rId13" Type="http://schemas.openxmlformats.org/officeDocument/2006/relationships/image" Target="../media/image-4-9.png"/><Relationship Id="rId14" Type="http://schemas.openxmlformats.org/officeDocument/2006/relationships/image" Target="../media/image-4-10.png"/><Relationship Id="rId15" Type="http://schemas.openxmlformats.org/officeDocument/2006/relationships/image" Target="../media/image-4-11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3" Type="http://schemas.openxmlformats.org/officeDocument/2006/relationships/slide" Target="slide2.xml"/><Relationship Id="rId4" Type="http://schemas.openxmlformats.org/officeDocument/2006/relationships/slide" Target="slide4.xml"/><Relationship Id="rId5" Type="http://schemas.openxmlformats.org/officeDocument/2006/relationships/slide" Target="slide6.xml"/><Relationship Id="rId2" Type="http://schemas.openxmlformats.org/officeDocument/2006/relationships/image" Target="../media/image-5-1.png"/><Relationship Id="rId6" Type="http://schemas.openxmlformats.org/officeDocument/2006/relationships/image" Target="../media/image-5-2.png"/><Relationship Id="rId7" Type="http://schemas.openxmlformats.org/officeDocument/2006/relationships/image" Target="../media/image-5-3.png"/><Relationship Id="rId8" Type="http://schemas.openxmlformats.org/officeDocument/2006/relationships/image" Target="../media/image-5-4.png"/><Relationship Id="rId9" Type="http://schemas.openxmlformats.org/officeDocument/2006/relationships/image" Target="../media/image-5-5.png"/><Relationship Id="rId10" Type="http://schemas.openxmlformats.org/officeDocument/2006/relationships/image" Target="../media/image-5-6.png"/><Relationship Id="rId11" Type="http://schemas.openxmlformats.org/officeDocument/2006/relationships/image" Target="../media/image-5-7.png"/><Relationship Id="rId12" Type="http://schemas.openxmlformats.org/officeDocument/2006/relationships/image" Target="../media/image-5-8.png"/><Relationship Id="rId13" Type="http://schemas.openxmlformats.org/officeDocument/2006/relationships/image" Target="../media/image-5-9.png"/><Relationship Id="rId14" Type="http://schemas.openxmlformats.org/officeDocument/2006/relationships/image" Target="../media/image-5-10.png"/><Relationship Id="rId15" Type="http://schemas.openxmlformats.org/officeDocument/2006/relationships/image" Target="../media/image-5-11.png"/><Relationship Id="rId16" Type="http://schemas.openxmlformats.org/officeDocument/2006/relationships/image" Target="../media/image-5-12.png"/><Relationship Id="rId17" Type="http://schemas.openxmlformats.org/officeDocument/2006/relationships/image" Target="../media/image-5-13.png"/><Relationship Id="rId18" Type="http://schemas.openxmlformats.org/officeDocument/2006/relationships/image" Target="../media/image-5-14.png"/><Relationship Id="rId19" Type="http://schemas.openxmlformats.org/officeDocument/2006/relationships/image" Target="../media/image-5-15.png"/><Relationship Id="rId20" Type="http://schemas.openxmlformats.org/officeDocument/2006/relationships/image" Target="../media/image-5-16.png"/><Relationship Id="rId21" Type="http://schemas.openxmlformats.org/officeDocument/2006/relationships/image" Target="../media/image-5-17.png"/><Relationship Id="rId22" Type="http://schemas.openxmlformats.org/officeDocument/2006/relationships/image" Target="../media/image-5-18.png"/><Relationship Id="rId23" Type="http://schemas.openxmlformats.org/officeDocument/2006/relationships/image" Target="../media/image-5-19.png"/><Relationship Id="rId24" Type="http://schemas.openxmlformats.org/officeDocument/2006/relationships/slideLayout" Target="../slideLayouts/slideLayout1.xml"/><Relationship Id="rId2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3" Type="http://schemas.openxmlformats.org/officeDocument/2006/relationships/slide" Target="slide2.xml"/><Relationship Id="rId4" Type="http://schemas.openxmlformats.org/officeDocument/2006/relationships/slide" Target="slide5.xml"/><Relationship Id="rId5" Type="http://schemas.openxmlformats.org/officeDocument/2006/relationships/slide" Target="slide7.xml"/><Relationship Id="rId12" Type="http://schemas.openxmlformats.org/officeDocument/2006/relationships/slide" Target="slide8.xml"/><Relationship Id="rId15" Type="http://schemas.openxmlformats.org/officeDocument/2006/relationships/slide" Target="slide9.xml"/><Relationship Id="rId18" Type="http://schemas.openxmlformats.org/officeDocument/2006/relationships/slide" Target="slide11.xml"/><Relationship Id="rId21" Type="http://schemas.openxmlformats.org/officeDocument/2006/relationships/slide" Target="slide10.xml"/><Relationship Id="rId24" Type="http://schemas.openxmlformats.org/officeDocument/2006/relationships/slide" Target="slide14.xml"/><Relationship Id="rId2" Type="http://schemas.openxmlformats.org/officeDocument/2006/relationships/image" Target="../media/image-6-1.png"/><Relationship Id="rId6" Type="http://schemas.openxmlformats.org/officeDocument/2006/relationships/image" Target="../media/image-6-2.png"/><Relationship Id="rId7" Type="http://schemas.openxmlformats.org/officeDocument/2006/relationships/image" Target="../media/image-6-3.png"/><Relationship Id="rId8" Type="http://schemas.openxmlformats.org/officeDocument/2006/relationships/image" Target="../media/image-6-4.png"/><Relationship Id="rId9" Type="http://schemas.openxmlformats.org/officeDocument/2006/relationships/image" Target="../media/image-6-5.png"/><Relationship Id="rId10" Type="http://schemas.openxmlformats.org/officeDocument/2006/relationships/image" Target="../media/image-6-6.png"/><Relationship Id="rId11" Type="http://schemas.openxmlformats.org/officeDocument/2006/relationships/image" Target="../media/image-6-7.png"/><Relationship Id="rId13" Type="http://schemas.openxmlformats.org/officeDocument/2006/relationships/image" Target="../media/image-6-8.png"/><Relationship Id="rId14" Type="http://schemas.openxmlformats.org/officeDocument/2006/relationships/image" Target="../media/image-6-9.png"/><Relationship Id="rId16" Type="http://schemas.openxmlformats.org/officeDocument/2006/relationships/image" Target="../media/image-6-10.png"/><Relationship Id="rId17" Type="http://schemas.openxmlformats.org/officeDocument/2006/relationships/image" Target="../media/image-6-11.png"/><Relationship Id="rId19" Type="http://schemas.openxmlformats.org/officeDocument/2006/relationships/image" Target="../media/image-6-12.png"/><Relationship Id="rId20" Type="http://schemas.openxmlformats.org/officeDocument/2006/relationships/image" Target="../media/image-6-13.png"/><Relationship Id="rId22" Type="http://schemas.openxmlformats.org/officeDocument/2006/relationships/image" Target="../media/image-6-14.png"/><Relationship Id="rId23" Type="http://schemas.openxmlformats.org/officeDocument/2006/relationships/image" Target="../media/image-6-15.png"/><Relationship Id="rId25" Type="http://schemas.openxmlformats.org/officeDocument/2006/relationships/image" Target="../media/image-6-16.png"/><Relationship Id="rId26" Type="http://schemas.openxmlformats.org/officeDocument/2006/relationships/slideLayout" Target="../slideLayouts/slideLayout1.xml"/><Relationship Id="rId2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3" Type="http://schemas.openxmlformats.org/officeDocument/2006/relationships/slide" Target="slide2.xml"/><Relationship Id="rId4" Type="http://schemas.openxmlformats.org/officeDocument/2006/relationships/slide" Target="slide6.xml"/><Relationship Id="rId5" Type="http://schemas.openxmlformats.org/officeDocument/2006/relationships/slide" Target="slide8.xml"/><Relationship Id="rId2" Type="http://schemas.openxmlformats.org/officeDocument/2006/relationships/image" Target="../media/image-7-1.png"/><Relationship Id="rId6" Type="http://schemas.openxmlformats.org/officeDocument/2006/relationships/image" Target="../media/image-7-2.png"/><Relationship Id="rId7" Type="http://schemas.openxmlformats.org/officeDocument/2006/relationships/image" Target="../media/image-7-3.png"/><Relationship Id="rId8" Type="http://schemas.openxmlformats.org/officeDocument/2006/relationships/image" Target="../media/image-7-4.png"/><Relationship Id="rId9" Type="http://schemas.openxmlformats.org/officeDocument/2006/relationships/image" Target="../media/image-7-5.png"/><Relationship Id="rId10" Type="http://schemas.openxmlformats.org/officeDocument/2006/relationships/image" Target="../media/image-7-6.png"/><Relationship Id="rId11" Type="http://schemas.openxmlformats.org/officeDocument/2006/relationships/image" Target="../media/image-7-7.png"/><Relationship Id="rId12" Type="http://schemas.openxmlformats.org/officeDocument/2006/relationships/image" Target="../media/image-7-8.png"/><Relationship Id="rId13" Type="http://schemas.openxmlformats.org/officeDocument/2006/relationships/image" Target="../media/image-7-9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3" Type="http://schemas.openxmlformats.org/officeDocument/2006/relationships/slide" Target="slide2.xml"/><Relationship Id="rId4" Type="http://schemas.openxmlformats.org/officeDocument/2006/relationships/slide" Target="slide7.xml"/><Relationship Id="rId5" Type="http://schemas.openxmlformats.org/officeDocument/2006/relationships/slide" Target="slide9.xml"/><Relationship Id="rId8" Type="http://schemas.openxmlformats.org/officeDocument/2006/relationships/slide" Target="slide9.xml"/><Relationship Id="rId9" Type="http://schemas.openxmlformats.org/officeDocument/2006/relationships/slide" Target="slide9.xml"/><Relationship Id="rId11" Type="http://schemas.openxmlformats.org/officeDocument/2006/relationships/slide" Target="slide9.xml"/><Relationship Id="rId12" Type="http://schemas.openxmlformats.org/officeDocument/2006/relationships/slide" Target="slide9.xml"/><Relationship Id="rId14" Type="http://schemas.openxmlformats.org/officeDocument/2006/relationships/slide" Target="slide10.xml"/><Relationship Id="rId15" Type="http://schemas.openxmlformats.org/officeDocument/2006/relationships/slide" Target="slide10.xml"/><Relationship Id="rId17" Type="http://schemas.openxmlformats.org/officeDocument/2006/relationships/slide" Target="slide11.xml"/><Relationship Id="rId18" Type="http://schemas.openxmlformats.org/officeDocument/2006/relationships/slide" Target="slide11.xml"/><Relationship Id="rId20" Type="http://schemas.openxmlformats.org/officeDocument/2006/relationships/slide" Target="slide11.xml"/><Relationship Id="rId21" Type="http://schemas.openxmlformats.org/officeDocument/2006/relationships/slide" Target="slide11.xml"/><Relationship Id="rId23" Type="http://schemas.openxmlformats.org/officeDocument/2006/relationships/slide" Target="slide14.xml"/><Relationship Id="rId24" Type="http://schemas.openxmlformats.org/officeDocument/2006/relationships/slide" Target="slide14.xml"/><Relationship Id="rId26" Type="http://schemas.openxmlformats.org/officeDocument/2006/relationships/slide" Target="slide15.xml"/><Relationship Id="rId27" Type="http://schemas.openxmlformats.org/officeDocument/2006/relationships/slide" Target="slide15.xml"/><Relationship Id="rId2" Type="http://schemas.openxmlformats.org/officeDocument/2006/relationships/image" Target="../media/image-8-1.png"/><Relationship Id="rId6" Type="http://schemas.openxmlformats.org/officeDocument/2006/relationships/image" Target="../media/image-8-2.png"/><Relationship Id="rId7" Type="http://schemas.openxmlformats.org/officeDocument/2006/relationships/image" Target="../media/image-8-3.png"/><Relationship Id="rId10" Type="http://schemas.openxmlformats.org/officeDocument/2006/relationships/image" Target="../media/image-8-4.png"/><Relationship Id="rId13" Type="http://schemas.openxmlformats.org/officeDocument/2006/relationships/image" Target="../media/image-8-5.png"/><Relationship Id="rId16" Type="http://schemas.openxmlformats.org/officeDocument/2006/relationships/image" Target="../media/image-8-6.png"/><Relationship Id="rId19" Type="http://schemas.openxmlformats.org/officeDocument/2006/relationships/image" Target="../media/image-8-7.png"/><Relationship Id="rId22" Type="http://schemas.openxmlformats.org/officeDocument/2006/relationships/image" Target="../media/image-8-8.png"/><Relationship Id="rId25" Type="http://schemas.openxmlformats.org/officeDocument/2006/relationships/image" Target="../media/image-8-9.png"/><Relationship Id="rId28" Type="http://schemas.openxmlformats.org/officeDocument/2006/relationships/slideLayout" Target="../slideLayouts/slideLayout1.xml"/><Relationship Id="rId2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3" Type="http://schemas.openxmlformats.org/officeDocument/2006/relationships/slide" Target="slide2.xml"/><Relationship Id="rId4" Type="http://schemas.openxmlformats.org/officeDocument/2006/relationships/slide" Target="slide8.xml"/><Relationship Id="rId5" Type="http://schemas.openxmlformats.org/officeDocument/2006/relationships/slide" Target="slide10.xml"/><Relationship Id="rId2" Type="http://schemas.openxmlformats.org/officeDocument/2006/relationships/image" Target="../media/image-9-1.png"/><Relationship Id="rId6" Type="http://schemas.openxmlformats.org/officeDocument/2006/relationships/image" Target="../media/image-9-2.png"/><Relationship Id="rId7" Type="http://schemas.openxmlformats.org/officeDocument/2006/relationships/image" Target="../media/image-9-3.png"/><Relationship Id="rId8" Type="http://schemas.openxmlformats.org/officeDocument/2006/relationships/image" Target="../media/image-9-4.png"/><Relationship Id="rId9" Type="http://schemas.openxmlformats.org/officeDocument/2006/relationships/image" Target="../media/image-9-5.png"/><Relationship Id="rId10" Type="http://schemas.openxmlformats.org/officeDocument/2006/relationships/image" Target="../media/image-9-6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3" Type="http://schemas.openxmlformats.org/officeDocument/2006/relationships/slide" Target="slide2.xml"/><Relationship Id="rId4" Type="http://schemas.openxmlformats.org/officeDocument/2006/relationships/slide" Target="slide9.xml"/><Relationship Id="rId5" Type="http://schemas.openxmlformats.org/officeDocument/2006/relationships/slide" Target="slide11.xml"/><Relationship Id="rId2" Type="http://schemas.openxmlformats.org/officeDocument/2006/relationships/image" Target="../media/image-10-1.png"/><Relationship Id="rId6" Type="http://schemas.openxmlformats.org/officeDocument/2006/relationships/image" Target="../media/image-10-2.png"/><Relationship Id="rId7" Type="http://schemas.openxmlformats.org/officeDocument/2006/relationships/image" Target="../media/image-10-3.png"/><Relationship Id="rId8" Type="http://schemas.openxmlformats.org/officeDocument/2006/relationships/image" Target="../media/image-10-4.png"/><Relationship Id="rId9" Type="http://schemas.openxmlformats.org/officeDocument/2006/relationships/image" Target="../media/image-10-5.png"/><Relationship Id="rId10" Type="http://schemas.openxmlformats.org/officeDocument/2006/relationships/image" Target="../media/image-10-6.png"/><Relationship Id="rId11" Type="http://schemas.openxmlformats.org/officeDocument/2006/relationships/image" Target="../media/image-10-7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3" Type="http://schemas.openxmlformats.org/officeDocument/2006/relationships/slide" Target="slide2.xml"/><Relationship Id="rId4" Type="http://schemas.openxmlformats.org/officeDocument/2006/relationships/slide" Target="slide10.xml"/><Relationship Id="rId5" Type="http://schemas.openxmlformats.org/officeDocument/2006/relationships/slide" Target="slide12.xml"/><Relationship Id="rId6" Type="http://schemas.openxmlformats.org/officeDocument/2006/relationships/chart" Target="/ppt/charts/chart1.xml"/><Relationship Id="rId2" Type="http://schemas.openxmlformats.org/officeDocument/2006/relationships/image" Target="../media/image-11-1.png"/><Relationship Id="rId7" Type="http://schemas.openxmlformats.org/officeDocument/2006/relationships/image" Target="../media/image-11-2.png"/><Relationship Id="rId8" Type="http://schemas.openxmlformats.org/officeDocument/2006/relationships/image" Target="../media/image-11-3.png"/><Relationship Id="rId9" Type="http://schemas.openxmlformats.org/officeDocument/2006/relationships/image" Target="../media/image-11-4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3" Type="http://schemas.openxmlformats.org/officeDocument/2006/relationships/slide" Target="slide2.xml"/><Relationship Id="rId4" Type="http://schemas.openxmlformats.org/officeDocument/2006/relationships/slide" Target="slide11.xml"/><Relationship Id="rId5" Type="http://schemas.openxmlformats.org/officeDocument/2006/relationships/slide" Target="slide13.xml"/><Relationship Id="rId2" Type="http://schemas.openxmlformats.org/officeDocument/2006/relationships/image" Target="../media/image-12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3" Type="http://schemas.openxmlformats.org/officeDocument/2006/relationships/slide" Target="slide2.xml"/><Relationship Id="rId4" Type="http://schemas.openxmlformats.org/officeDocument/2006/relationships/slide" Target="slide12.xml"/><Relationship Id="rId5" Type="http://schemas.openxmlformats.org/officeDocument/2006/relationships/slide" Target="slide14.xml"/><Relationship Id="rId2" Type="http://schemas.openxmlformats.org/officeDocument/2006/relationships/image" Target="../media/image-13-1.png"/><Relationship Id="rId6" Type="http://schemas.openxmlformats.org/officeDocument/2006/relationships/image" Target="../media/image-13-2.png"/><Relationship Id="rId7" Type="http://schemas.openxmlformats.org/officeDocument/2006/relationships/image" Target="../media/image-13-3.png"/><Relationship Id="rId8" Type="http://schemas.openxmlformats.org/officeDocument/2006/relationships/image" Target="../media/image-13-4.png"/><Relationship Id="rId9" Type="http://schemas.openxmlformats.org/officeDocument/2006/relationships/image" Target="../media/image-13-5.png"/><Relationship Id="rId10" Type="http://schemas.openxmlformats.org/officeDocument/2006/relationships/image" Target="../media/image-13-6.png"/><Relationship Id="rId11" Type="http://schemas.openxmlformats.org/officeDocument/2006/relationships/image" Target="../media/image-13-7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3" Type="http://schemas.openxmlformats.org/officeDocument/2006/relationships/slide" Target="slide2.xml"/><Relationship Id="rId4" Type="http://schemas.openxmlformats.org/officeDocument/2006/relationships/slide" Target="slide13.xml"/><Relationship Id="rId5" Type="http://schemas.openxmlformats.org/officeDocument/2006/relationships/slide" Target="slide15.xml"/><Relationship Id="rId2" Type="http://schemas.openxmlformats.org/officeDocument/2006/relationships/image" Target="../media/image-14-1.png"/><Relationship Id="rId6" Type="http://schemas.openxmlformats.org/officeDocument/2006/relationships/image" Target="../media/image-14-2.png"/><Relationship Id="rId7" Type="http://schemas.openxmlformats.org/officeDocument/2006/relationships/image" Target="../media/image-14-3.png"/><Relationship Id="rId8" Type="http://schemas.openxmlformats.org/officeDocument/2006/relationships/image" Target="../media/image-14-4.png"/><Relationship Id="rId9" Type="http://schemas.openxmlformats.org/officeDocument/2006/relationships/image" Target="../media/image-14-5.png"/><Relationship Id="rId10" Type="http://schemas.openxmlformats.org/officeDocument/2006/relationships/image" Target="../media/image-14-6.png"/><Relationship Id="rId11" Type="http://schemas.openxmlformats.org/officeDocument/2006/relationships/image" Target="../media/image-14-7.png"/><Relationship Id="rId12" Type="http://schemas.openxmlformats.org/officeDocument/2006/relationships/image" Target="../media/image-14-8.png"/><Relationship Id="rId13" Type="http://schemas.openxmlformats.org/officeDocument/2006/relationships/image" Target="../media/image-14-9.png"/><Relationship Id="rId14" Type="http://schemas.openxmlformats.org/officeDocument/2006/relationships/image" Target="../media/image-14-10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3" Type="http://schemas.openxmlformats.org/officeDocument/2006/relationships/slide" Target="slide2.xml"/><Relationship Id="rId4" Type="http://schemas.openxmlformats.org/officeDocument/2006/relationships/slide" Target="slide14.xml"/><Relationship Id="rId5" Type="http://schemas.openxmlformats.org/officeDocument/2006/relationships/slide" Target="slide16.xml"/><Relationship Id="rId2" Type="http://schemas.openxmlformats.org/officeDocument/2006/relationships/image" Target="../media/image-15-1.png"/><Relationship Id="rId6" Type="http://schemas.openxmlformats.org/officeDocument/2006/relationships/image" Target="../media/image-15-2.png"/><Relationship Id="rId7" Type="http://schemas.openxmlformats.org/officeDocument/2006/relationships/image" Target="../media/image-15-3.png"/><Relationship Id="rId8" Type="http://schemas.openxmlformats.org/officeDocument/2006/relationships/image" Target="../media/image-15-4.png"/><Relationship Id="rId9" Type="http://schemas.openxmlformats.org/officeDocument/2006/relationships/image" Target="../media/image-15-5.png"/><Relationship Id="rId10" Type="http://schemas.openxmlformats.org/officeDocument/2006/relationships/image" Target="../media/image-15-6.png"/><Relationship Id="rId11" Type="http://schemas.openxmlformats.org/officeDocument/2006/relationships/image" Target="../media/image-15-7.png"/><Relationship Id="rId12" Type="http://schemas.openxmlformats.org/officeDocument/2006/relationships/image" Target="../media/image-15-8.png"/><Relationship Id="rId13" Type="http://schemas.openxmlformats.org/officeDocument/2006/relationships/image" Target="../media/image-15-9.png"/><Relationship Id="rId14" Type="http://schemas.openxmlformats.org/officeDocument/2006/relationships/image" Target="../media/image-15-10.png"/><Relationship Id="rId15" Type="http://schemas.openxmlformats.org/officeDocument/2006/relationships/image" Target="../media/image-15-11.png"/><Relationship Id="rId16" Type="http://schemas.openxmlformats.org/officeDocument/2006/relationships/image" Target="../media/image-15-12.png"/><Relationship Id="rId17" Type="http://schemas.openxmlformats.org/officeDocument/2006/relationships/image" Target="../media/image-15-13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3" Type="http://schemas.openxmlformats.org/officeDocument/2006/relationships/slide" Target="slide2.xml"/><Relationship Id="rId4" Type="http://schemas.openxmlformats.org/officeDocument/2006/relationships/slide" Target="slide15.xml"/><Relationship Id="rId5" Type="http://schemas.openxmlformats.org/officeDocument/2006/relationships/slide" Target="slide17.xml"/><Relationship Id="rId2" Type="http://schemas.openxmlformats.org/officeDocument/2006/relationships/image" Target="../media/image-16-1.png"/><Relationship Id="rId6" Type="http://schemas.openxmlformats.org/officeDocument/2006/relationships/image" Target="../media/image-16-2.png"/><Relationship Id="rId7" Type="http://schemas.openxmlformats.org/officeDocument/2006/relationships/image" Target="../media/image-16-3.png"/><Relationship Id="rId8" Type="http://schemas.openxmlformats.org/officeDocument/2006/relationships/image" Target="../media/image-16-4.png"/><Relationship Id="rId9" Type="http://schemas.openxmlformats.org/officeDocument/2006/relationships/image" Target="../media/image-16-5.png"/><Relationship Id="rId10" Type="http://schemas.openxmlformats.org/officeDocument/2006/relationships/image" Target="../media/image-16-6.png"/><Relationship Id="rId11" Type="http://schemas.openxmlformats.org/officeDocument/2006/relationships/image" Target="../media/image-16-7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3" Type="http://schemas.openxmlformats.org/officeDocument/2006/relationships/slide" Target="slide2.xml"/><Relationship Id="rId4" Type="http://schemas.openxmlformats.org/officeDocument/2006/relationships/slide" Target="slide16.xml"/><Relationship Id="rId5" Type="http://schemas.openxmlformats.org/officeDocument/2006/relationships/slide" Target="slide18.xml"/><Relationship Id="rId2" Type="http://schemas.openxmlformats.org/officeDocument/2006/relationships/image" Target="../media/image-17-1.png"/><Relationship Id="rId6" Type="http://schemas.openxmlformats.org/officeDocument/2006/relationships/image" Target="../media/image-17-2.png"/><Relationship Id="rId7" Type="http://schemas.openxmlformats.org/officeDocument/2006/relationships/image" Target="../media/image-17-3.png"/><Relationship Id="rId8" Type="http://schemas.openxmlformats.org/officeDocument/2006/relationships/image" Target="../media/image-17-4.png"/><Relationship Id="rId9" Type="http://schemas.openxmlformats.org/officeDocument/2006/relationships/image" Target="../media/image-17-5.png"/><Relationship Id="rId10" Type="http://schemas.openxmlformats.org/officeDocument/2006/relationships/image" Target="../media/image-17-6.png"/><Relationship Id="rId11" Type="http://schemas.openxmlformats.org/officeDocument/2006/relationships/image" Target="../media/image-17-7.png"/><Relationship Id="rId12" Type="http://schemas.openxmlformats.org/officeDocument/2006/relationships/image" Target="../media/image-17-8.png"/><Relationship Id="rId13" Type="http://schemas.openxmlformats.org/officeDocument/2006/relationships/image" Target="../media/image-17-9.png"/><Relationship Id="rId14" Type="http://schemas.openxmlformats.org/officeDocument/2006/relationships/image" Target="../media/image-17-10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3" Type="http://schemas.openxmlformats.org/officeDocument/2006/relationships/slide" Target="slide2.xml"/><Relationship Id="rId4" Type="http://schemas.openxmlformats.org/officeDocument/2006/relationships/slide" Target="slide17.xml"/><Relationship Id="rId5" Type="http://schemas.openxmlformats.org/officeDocument/2006/relationships/slide" Target="slide19.xml"/><Relationship Id="rId2" Type="http://schemas.openxmlformats.org/officeDocument/2006/relationships/image" Target="../media/image-18-1.png"/><Relationship Id="rId6" Type="http://schemas.openxmlformats.org/officeDocument/2006/relationships/image" Target="../media/image-18-2.png"/><Relationship Id="rId7" Type="http://schemas.openxmlformats.org/officeDocument/2006/relationships/image" Target="../media/image-18-3.png"/><Relationship Id="rId8" Type="http://schemas.openxmlformats.org/officeDocument/2006/relationships/image" Target="../media/image-18-4.png"/><Relationship Id="rId9" Type="http://schemas.openxmlformats.org/officeDocument/2006/relationships/image" Target="../media/image-18-5.png"/><Relationship Id="rId10" Type="http://schemas.openxmlformats.org/officeDocument/2006/relationships/image" Target="../media/image-18-6.png"/><Relationship Id="rId11" Type="http://schemas.openxmlformats.org/officeDocument/2006/relationships/image" Target="../media/image-18-7.png"/><Relationship Id="rId12" Type="http://schemas.openxmlformats.org/officeDocument/2006/relationships/image" Target="../media/image-18-8.png"/><Relationship Id="rId13" Type="http://schemas.openxmlformats.org/officeDocument/2006/relationships/image" Target="../media/image-18-9.png"/><Relationship Id="rId14" Type="http://schemas.openxmlformats.org/officeDocument/2006/relationships/image" Target="../media/image-18-10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3" Type="http://schemas.openxmlformats.org/officeDocument/2006/relationships/slide" Target="slide2.xml"/><Relationship Id="rId4" Type="http://schemas.openxmlformats.org/officeDocument/2006/relationships/slide" Target="slide18.xml"/><Relationship Id="rId5" Type="http://schemas.openxmlformats.org/officeDocument/2006/relationships/slide" Target="slide20.xml"/><Relationship Id="rId2" Type="http://schemas.openxmlformats.org/officeDocument/2006/relationships/image" Target="../media/image-19-1.png"/><Relationship Id="rId6" Type="http://schemas.openxmlformats.org/officeDocument/2006/relationships/image" Target="../media/image-19-2.png"/><Relationship Id="rId7" Type="http://schemas.openxmlformats.org/officeDocument/2006/relationships/image" Target="../media/image-19-3.png"/><Relationship Id="rId8" Type="http://schemas.openxmlformats.org/officeDocument/2006/relationships/image" Target="../media/image-19-4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3" Type="http://schemas.openxmlformats.org/officeDocument/2006/relationships/slide" Target="slide2.xml"/><Relationship Id="rId4" Type="http://schemas.openxmlformats.org/officeDocument/2006/relationships/slide" Target="slide19.xml"/><Relationship Id="rId5" Type="http://schemas.openxmlformats.org/officeDocument/2006/relationships/slide" Target="slide21.xml"/><Relationship Id="rId2" Type="http://schemas.openxmlformats.org/officeDocument/2006/relationships/image" Target="../media/image-20-1.png"/><Relationship Id="rId6" Type="http://schemas.openxmlformats.org/officeDocument/2006/relationships/image" Target="../media/image-20-2.png"/><Relationship Id="rId7" Type="http://schemas.openxmlformats.org/officeDocument/2006/relationships/image" Target="../media/image-20-3.png"/><Relationship Id="rId8" Type="http://schemas.openxmlformats.org/officeDocument/2006/relationships/image" Target="../media/image-20-4.png"/><Relationship Id="rId9" Type="http://schemas.openxmlformats.org/officeDocument/2006/relationships/image" Target="../media/image-20-5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3" Type="http://schemas.openxmlformats.org/officeDocument/2006/relationships/slide" Target="slide2.xml"/><Relationship Id="rId4" Type="http://schemas.openxmlformats.org/officeDocument/2006/relationships/slide" Target="slide20.xml"/><Relationship Id="rId5" Type="http://schemas.openxmlformats.org/officeDocument/2006/relationships/slide" Target="slide22.xml"/><Relationship Id="rId2" Type="http://schemas.openxmlformats.org/officeDocument/2006/relationships/image" Target="../media/image-21-1.png"/><Relationship Id="rId6" Type="http://schemas.openxmlformats.org/officeDocument/2006/relationships/image" Target="../media/image-21-2.png"/><Relationship Id="rId7" Type="http://schemas.openxmlformats.org/officeDocument/2006/relationships/image" Target="../media/image-21-3.png"/><Relationship Id="rId8" Type="http://schemas.openxmlformats.org/officeDocument/2006/relationships/image" Target="../media/image-21-4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6" Type="http://schemas.openxmlformats.org/officeDocument/2006/relationships/hyperlink" Target="mailto:sujaydevroy@gmail.com" TargetMode="External"/><Relationship Id="rId9" Type="http://schemas.openxmlformats.org/officeDocument/2006/relationships/slide" Target="slide2.xml"/><Relationship Id="rId10" Type="http://schemas.openxmlformats.org/officeDocument/2006/relationships/slide" Target="slide21.xml"/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7" Type="http://schemas.openxmlformats.org/officeDocument/2006/relationships/image" Target="../media/image-22-6.png"/><Relationship Id="rId8" Type="http://schemas.openxmlformats.org/officeDocument/2006/relationships/image" Target="../media/image-22-7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6949440" y="-1097280"/>
            <a:ext cx="6400800" cy="6400800"/>
          </a:xfrm>
          <a:prstGeom prst="ellipse">
            <a:avLst/>
          </a:prstGeom>
          <a:solidFill>
            <a:srgbClr val="1D6FEB">
              <a:alpha val="18000"/>
            </a:srgbClr>
          </a:solidFill>
          <a:ln w="12700">
            <a:solidFill>
              <a:srgbClr val="1D6FE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61120" y="3108960"/>
            <a:ext cx="4572000" cy="45720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561353" cy="4206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98448" y="502920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Lead</a:t>
            </a:r>
            <a:pPr indent="0" marL="0">
              <a:buNone/>
            </a:pPr>
            <a:r>
              <a:rPr lang="en-US" sz="1700" b="1" dirty="0">
                <a:solidFill>
                  <a:srgbClr val="60A5FA"/>
                </a:solidFill>
              </a:rPr>
              <a:t>Pilot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600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5B4FC"/>
                </a:solidFill>
              </a:rPr>
              <a:t>SALES INTELLIGENCE  ·  LEAD GENERATION  ·  TWO-WAY SYNC</a:t>
            </a:r>
            <a:endParaRPr lang="en-US" sz="11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901952"/>
            <a:ext cx="1281350" cy="9601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103120" y="187452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</a:rPr>
              <a:t>Lead</a:t>
            </a:r>
            <a:pPr indent="0" marL="0">
              <a:buNone/>
            </a:pPr>
            <a:r>
              <a:rPr lang="en-US" sz="6000" b="1" dirty="0">
                <a:solidFill>
                  <a:srgbClr val="60A5FA"/>
                </a:solidFill>
              </a:rPr>
              <a:t>Pilot</a:t>
            </a:r>
            <a:endParaRPr lang="en-US" sz="6000" dirty="0"/>
          </a:p>
        </p:txBody>
      </p:sp>
      <p:sp>
        <p:nvSpPr>
          <p:cNvPr id="10" name="Text 6"/>
          <p:cNvSpPr txBox="1"/>
          <p:nvPr/>
        </p:nvSpPr>
        <p:spPr>
          <a:xfrm>
            <a:off x="640080" y="28803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EEAD4"/>
                </a:solidFill>
              </a:rPr>
              <a:t>Find the demand. Sync the sale.</a:t>
            </a:r>
            <a:endParaRPr lang="en-US" sz="2600" dirty="0"/>
          </a:p>
        </p:txBody>
      </p:sp>
      <p:sp>
        <p:nvSpPr>
          <p:cNvPr id="11" name="Text 7"/>
          <p:cNvSpPr txBox="1"/>
          <p:nvPr/>
        </p:nvSpPr>
        <p:spPr>
          <a:xfrm>
            <a:off x="640080" y="352044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BD5E1"/>
                </a:solidFill>
              </a:rPr>
              <a:t>A single workspace that turns dealer data, sales records and conversation history into a ranked list of who to call next — then keeps your CRM, ERP, WhatsApp and inbox in sync so nothing is re-typed twice.</a:t>
            </a:r>
            <a:endParaRPr lang="en-US" sz="1400" dirty="0"/>
          </a:p>
        </p:txBody>
      </p:sp>
      <p:sp>
        <p:nvSpPr>
          <p:cNvPr id="12" name="Text 8">
            <a:hlinkClick r:id="rId3" tooltip="Jump to The Problem" action="ppaction://hlinksldjump"/>
          </p:cNvPr>
          <p:cNvSpPr txBox="1"/>
          <p:nvPr/>
        </p:nvSpPr>
        <p:spPr>
          <a:xfrm>
            <a:off x="640080" y="4617720"/>
            <a:ext cx="1239012" cy="310896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7D2FE"/>
                </a:solidFill>
              </a:rPr>
              <a:t>The Problem</a:t>
            </a:r>
            <a:endParaRPr lang="en-US" sz="1000" dirty="0"/>
          </a:p>
        </p:txBody>
      </p:sp>
      <p:sp>
        <p:nvSpPr>
          <p:cNvPr id="13" name="Text 9">
            <a:hlinkClick r:id="rId4" tooltip="Jump to The Platform" action="ppaction://hlinksldjump"/>
          </p:cNvPr>
          <p:cNvSpPr txBox="1"/>
          <p:nvPr/>
        </p:nvSpPr>
        <p:spPr>
          <a:xfrm>
            <a:off x="1988820" y="4617720"/>
            <a:ext cx="1316736" cy="310896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7D2FE"/>
                </a:solidFill>
              </a:rPr>
              <a:t>The Platform</a:t>
            </a:r>
            <a:endParaRPr lang="en-US" sz="1000" dirty="0"/>
          </a:p>
        </p:txBody>
      </p:sp>
      <p:sp>
        <p:nvSpPr>
          <p:cNvPr id="14" name="Text 10">
            <a:hlinkClick r:id="rId5" tooltip="Jump to Modules" action="ppaction://hlinksldjump"/>
          </p:cNvPr>
          <p:cNvSpPr txBox="1"/>
          <p:nvPr/>
        </p:nvSpPr>
        <p:spPr>
          <a:xfrm>
            <a:off x="3415284" y="4617720"/>
            <a:ext cx="928116" cy="310896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7D2FE"/>
                </a:solidFill>
              </a:rPr>
              <a:t>Modules</a:t>
            </a:r>
            <a:endParaRPr lang="en-US" sz="1000" dirty="0"/>
          </a:p>
        </p:txBody>
      </p:sp>
      <p:sp>
        <p:nvSpPr>
          <p:cNvPr id="15" name="Text 11">
            <a:hlinkClick r:id="rId6" tooltip="Jump to Intelligence" action="ppaction://hlinksldjump"/>
          </p:cNvPr>
          <p:cNvSpPr txBox="1"/>
          <p:nvPr/>
        </p:nvSpPr>
        <p:spPr>
          <a:xfrm>
            <a:off x="4453128" y="4617720"/>
            <a:ext cx="1316736" cy="310896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7D2FE"/>
                </a:solidFill>
              </a:rPr>
              <a:t>Intelligence</a:t>
            </a:r>
            <a:endParaRPr lang="en-US" sz="1000" dirty="0"/>
          </a:p>
        </p:txBody>
      </p:sp>
      <p:sp>
        <p:nvSpPr>
          <p:cNvPr id="16" name="Text 12">
            <a:hlinkClick r:id="rId7" tooltip="Jump to Outreach &amp; Sync" action="ppaction://hlinksldjump"/>
          </p:cNvPr>
          <p:cNvSpPr txBox="1"/>
          <p:nvPr/>
        </p:nvSpPr>
        <p:spPr>
          <a:xfrm>
            <a:off x="640080" y="5038344"/>
            <a:ext cx="1549908" cy="310896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7D2FE"/>
                </a:solidFill>
              </a:rPr>
              <a:t>Outreach &amp; Sync</a:t>
            </a:r>
            <a:endParaRPr lang="en-US" sz="1000" dirty="0"/>
          </a:p>
        </p:txBody>
      </p:sp>
      <p:sp>
        <p:nvSpPr>
          <p:cNvPr id="17" name="Text 13">
            <a:hlinkClick r:id="rId8" tooltip="Jump to Data &amp; Architecture" action="ppaction://hlinksldjump"/>
          </p:cNvPr>
          <p:cNvSpPr txBox="1"/>
          <p:nvPr/>
        </p:nvSpPr>
        <p:spPr>
          <a:xfrm>
            <a:off x="2299716" y="5038344"/>
            <a:ext cx="1860804" cy="310896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7D2FE"/>
                </a:solidFill>
              </a:rPr>
              <a:t>Data &amp; Architecture</a:t>
            </a:r>
            <a:endParaRPr lang="en-US" sz="1000" dirty="0"/>
          </a:p>
        </p:txBody>
      </p:sp>
      <p:sp>
        <p:nvSpPr>
          <p:cNvPr id="18" name="Text 14">
            <a:hlinkClick r:id="rId9" tooltip="Jump to Security &amp; Rollout" action="ppaction://hlinksldjump"/>
          </p:cNvPr>
          <p:cNvSpPr txBox="1"/>
          <p:nvPr/>
        </p:nvSpPr>
        <p:spPr>
          <a:xfrm>
            <a:off x="4270248" y="5038344"/>
            <a:ext cx="1783080" cy="310896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7D2FE"/>
                </a:solidFill>
              </a:rPr>
              <a:t>Security &amp; Rollout</a:t>
            </a:r>
            <a:endParaRPr lang="en-US" sz="1000" dirty="0"/>
          </a:p>
        </p:txBody>
      </p:sp>
      <p:sp>
        <p:nvSpPr>
          <p:cNvPr id="19" name="Text 15">
            <a:hlinkClick r:id="rId10" tooltip="Jump to Value &amp; Next Steps" action="ppaction://hlinksldjump"/>
          </p:cNvPr>
          <p:cNvSpPr txBox="1"/>
          <p:nvPr/>
        </p:nvSpPr>
        <p:spPr>
          <a:xfrm>
            <a:off x="640080" y="5458968"/>
            <a:ext cx="1783080" cy="310896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7D2FE"/>
                </a:solidFill>
              </a:rPr>
              <a:t>Value &amp; Next Steps</a:t>
            </a:r>
            <a:endParaRPr lang="en-US" sz="1000" dirty="0"/>
          </a:p>
        </p:txBody>
      </p:sp>
      <p:sp>
        <p:nvSpPr>
          <p:cNvPr id="20" name="Text 16"/>
          <p:cNvSpPr txBox="1"/>
          <p:nvPr/>
        </p:nvSpPr>
        <p:spPr>
          <a:xfrm>
            <a:off x="640080" y="60807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Tip: in Slide Show mode (or in the PDF), click pills, tiles, cards and ⌂ buttons to navigate.</a:t>
            </a:r>
            <a:endParaRPr lang="en-US" sz="1000" dirty="0"/>
          </a:p>
        </p:txBody>
      </p:sp>
      <p:sp>
        <p:nvSpPr>
          <p:cNvPr id="21" name="Text 17"/>
          <p:cNvSpPr txBox="1"/>
          <p:nvPr/>
        </p:nvSpPr>
        <p:spPr>
          <a:xfrm>
            <a:off x="9966960" y="6080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October 2026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7040880" y="1188720"/>
            <a:ext cx="4663440" cy="4663440"/>
          </a:xfrm>
          <a:prstGeom prst="ellipse">
            <a:avLst/>
          </a:prstGeom>
          <a:solidFill>
            <a:srgbClr val="0F172A">
              <a:alpha val="0"/>
            </a:srgbClr>
          </a:solidFill>
          <a:ln w="12700">
            <a:solidFill>
              <a:srgbClr val="475569"/>
            </a:solidFill>
            <a:prstDash val="dash"/>
          </a:ln>
        </p:spPr>
      </p:sp>
      <p:sp>
        <p:nvSpPr>
          <p:cNvPr id="23" name="Shape 19"/>
          <p:cNvSpPr/>
          <p:nvPr/>
        </p:nvSpPr>
        <p:spPr>
          <a:xfrm>
            <a:off x="7955280" y="2103120"/>
            <a:ext cx="2834640" cy="2834640"/>
          </a:xfrm>
          <a:prstGeom prst="ellipse">
            <a:avLst/>
          </a:prstGeom>
          <a:solidFill>
            <a:srgbClr val="0F172A">
              <a:alpha val="0"/>
            </a:srgbClr>
          </a:solidFill>
          <a:ln w="12700">
            <a:solidFill>
              <a:srgbClr val="475569"/>
            </a:solidFill>
            <a:prstDash val="dash"/>
          </a:ln>
        </p:spPr>
      </p:sp>
      <p:sp>
        <p:nvSpPr>
          <p:cNvPr id="24" name="Shape 20"/>
          <p:cNvSpPr/>
          <p:nvPr/>
        </p:nvSpPr>
        <p:spPr>
          <a:xfrm>
            <a:off x="8458200" y="2606040"/>
            <a:ext cx="1828800" cy="1828800"/>
          </a:xfrm>
          <a:prstGeom prst="hexagon">
            <a:avLst/>
          </a:prstGeom>
          <a:solidFill>
            <a:srgbClr val="FFFFFF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823960" y="3108960"/>
            <a:ext cx="1098300" cy="822960"/>
          </a:xfrm>
          <a:prstGeom prst="rect">
            <a:avLst/>
          </a:prstGeom>
        </p:spPr>
      </p:pic>
      <p:sp>
        <p:nvSpPr>
          <p:cNvPr id="26" name="Text 21">
            <a:hlinkClick r:id="rId12" tooltip="Jump to Leads" action="ppaction://hlinksldjump"/>
          </p:cNvPr>
          <p:cNvSpPr txBox="1"/>
          <p:nvPr/>
        </p:nvSpPr>
        <p:spPr>
          <a:xfrm>
            <a:off x="8846820" y="850392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solidFill>
              <a:srgbClr val="0D9488"/>
            </a:solidFill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Leads</a:t>
            </a:r>
            <a:endParaRPr lang="en-US" sz="1000" dirty="0"/>
          </a:p>
        </p:txBody>
      </p:sp>
      <p:sp>
        <p:nvSpPr>
          <p:cNvPr id="27" name="Text 22">
            <a:hlinkClick r:id="rId13" tooltip="Jump to Scoring" action="ppaction://hlinksldjump"/>
          </p:cNvPr>
          <p:cNvSpPr txBox="1"/>
          <p:nvPr/>
        </p:nvSpPr>
        <p:spPr>
          <a:xfrm>
            <a:off x="10264140" y="1444752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Scoring</a:t>
            </a:r>
            <a:endParaRPr lang="en-US" sz="1000" dirty="0"/>
          </a:p>
        </p:txBody>
      </p:sp>
      <p:sp>
        <p:nvSpPr>
          <p:cNvPr id="28" name="Text 23">
            <a:hlinkClick r:id="rId14" tooltip="Jump to Forecast" action="ppaction://hlinksldjump"/>
          </p:cNvPr>
          <p:cNvSpPr txBox="1"/>
          <p:nvPr/>
        </p:nvSpPr>
        <p:spPr>
          <a:xfrm>
            <a:off x="10995660" y="2724912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solidFill>
              <a:srgbClr val="7C3AED"/>
            </a:solidFill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Forecast</a:t>
            </a:r>
            <a:endParaRPr lang="en-US" sz="1000" dirty="0"/>
          </a:p>
        </p:txBody>
      </p:sp>
      <p:sp>
        <p:nvSpPr>
          <p:cNvPr id="29" name="Text 24">
            <a:hlinkClick r:id="rId15" tooltip="Jump to Sync" action="ppaction://hlinksldjump"/>
          </p:cNvPr>
          <p:cNvSpPr txBox="1"/>
          <p:nvPr/>
        </p:nvSpPr>
        <p:spPr>
          <a:xfrm>
            <a:off x="11041380" y="4142232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solidFill>
              <a:srgbClr val="0284C7"/>
            </a:solidFill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Sync</a:t>
            </a:r>
            <a:endParaRPr lang="en-US" sz="1000" dirty="0"/>
          </a:p>
        </p:txBody>
      </p:sp>
      <p:sp>
        <p:nvSpPr>
          <p:cNvPr id="30" name="Text 25">
            <a:hlinkClick r:id="rId16" tooltip="Jump to Outreach" action="ppaction://hlinksldjump"/>
          </p:cNvPr>
          <p:cNvSpPr txBox="1"/>
          <p:nvPr/>
        </p:nvSpPr>
        <p:spPr>
          <a:xfrm>
            <a:off x="9806940" y="5239512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>
            <a:solidFill>
              <a:srgbClr val="E11D48"/>
            </a:solidFill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Outreach</a:t>
            </a:r>
            <a:endParaRPr lang="en-US" sz="1000" dirty="0"/>
          </a:p>
        </p:txBody>
      </p:sp>
      <p:sp>
        <p:nvSpPr>
          <p:cNvPr id="31" name="Text 26">
            <a:hlinkClick r:id="rId17" tooltip="Jump to Analytics" action="ppaction://hlinksldjump"/>
          </p:cNvPr>
          <p:cNvSpPr txBox="1"/>
          <p:nvPr/>
        </p:nvSpPr>
        <p:spPr>
          <a:xfrm>
            <a:off x="7932420" y="5559552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solidFill>
              <a:srgbClr val="0D9488"/>
            </a:solidFill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Analytics</a:t>
            </a:r>
            <a:endParaRPr lang="en-US" sz="1000" dirty="0"/>
          </a:p>
        </p:txBody>
      </p:sp>
      <p:sp>
        <p:nvSpPr>
          <p:cNvPr id="32" name="Text 27">
            <a:hlinkClick r:id="rId18" tooltip="Jump to Segments" action="ppaction://hlinksldjump"/>
          </p:cNvPr>
          <p:cNvSpPr txBox="1"/>
          <p:nvPr/>
        </p:nvSpPr>
        <p:spPr>
          <a:xfrm>
            <a:off x="6560820" y="4645152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1D6FEB"/>
          </a:solidFill>
          <a:ln>
            <a:solidFill>
              <a:srgbClr val="1D6FEB"/>
            </a:solidFill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Segments</a:t>
            </a:r>
            <a:endParaRPr lang="en-US" sz="1000" dirty="0"/>
          </a:p>
        </p:txBody>
      </p:sp>
      <p:sp>
        <p:nvSpPr>
          <p:cNvPr id="33" name="Text 28">
            <a:hlinkClick r:id="rId19" tooltip="Jump to Alerts" action="ppaction://hlinksldjump"/>
          </p:cNvPr>
          <p:cNvSpPr txBox="1"/>
          <p:nvPr/>
        </p:nvSpPr>
        <p:spPr>
          <a:xfrm>
            <a:off x="6515100" y="2907792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Alerts</a:t>
            </a:r>
            <a:endParaRPr lang="en-US" sz="1000" dirty="0"/>
          </a:p>
        </p:txBody>
      </p:sp>
      <p:sp>
        <p:nvSpPr>
          <p:cNvPr id="34" name="Text 29">
            <a:hlinkClick r:id="rId20" tooltip="Jump to Dashboard" action="ppaction://hlinksldjump"/>
          </p:cNvPr>
          <p:cNvSpPr txBox="1"/>
          <p:nvPr/>
        </p:nvSpPr>
        <p:spPr>
          <a:xfrm>
            <a:off x="7018020" y="1627632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solidFill>
              <a:srgbClr val="0284C7"/>
            </a:solidFill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Dashboard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Navigator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Click a tile to jump to a section — every slide has a ⌂ Navigator button to return here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0" y="420624"/>
            <a:ext cx="561353" cy="42062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991088" y="420624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Lead</a:t>
            </a:r>
            <a:pPr indent="0" marL="0">
              <a:buNone/>
            </a:pPr>
            <a:r>
              <a:rPr lang="en-US" sz="1700" b="1" dirty="0">
                <a:solidFill>
                  <a:srgbClr val="1D6FEB"/>
                </a:solidFill>
              </a:rPr>
              <a:t>Pilot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327648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1D6FEB"/>
          </a:solidFill>
          <a:ln>
            <a:solidFill>
              <a:srgbClr val="1D6FEB"/>
            </a:solidFill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⌂  Navigator</a:t>
            </a:r>
            <a:endParaRPr lang="en-US" sz="1000" dirty="0"/>
          </a:p>
        </p:txBody>
      </p:sp>
      <p:sp>
        <p:nvSpPr>
          <p:cNvPr id="7" name="Text 4">
            <a:hlinkClick r:id="rId3" tooltip="Next: Executive summary" action="ppaction://hlinksldjump"/>
          </p:cNvPr>
          <p:cNvSpPr txBox="1"/>
          <p:nvPr/>
        </p:nvSpPr>
        <p:spPr>
          <a:xfrm>
            <a:off x="1920240" y="6327648"/>
            <a:ext cx="1623060" cy="329184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</a:rPr>
              <a:t>Executive summary  →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327648"/>
            <a:ext cx="1033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2 / 22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1508760"/>
            <a:ext cx="2651760" cy="2011680"/>
          </a:xfrm>
          <a:prstGeom prst="roundRect">
            <a:avLst>
              <a:gd name="adj" fmla="val 4545"/>
            </a:avLst>
          </a:prstGeom>
          <a:solidFill>
            <a:srgbClr val="FFF1F2"/>
          </a:solidFill>
          <a:ln w="12700">
            <a:solidFill>
              <a:srgbClr val="FFF1F2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49808" y="1709928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532" y="1834652"/>
            <a:ext cx="317480" cy="3174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49808" y="24048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11D48"/>
                </a:solidFill>
              </a:rPr>
              <a:t>SLIDES 4 – 5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749808" y="262432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The Problem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749808" y="295351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The questions sales leaders can’t answer today, and what it costs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2286000" y="17099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11D48"/>
                </a:solidFill>
              </a:rPr>
              <a:t>Open  →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3364992" y="1508760"/>
            <a:ext cx="2651760" cy="2011680"/>
          </a:xfrm>
          <a:prstGeom prst="roundRect">
            <a:avLst>
              <a:gd name="adj" fmla="val 4545"/>
            </a:avLst>
          </a:prstGeom>
          <a:solidFill>
            <a:srgbClr val="EBF2FF"/>
          </a:solidFill>
          <a:ln w="12700">
            <a:solidFill>
              <a:srgbClr val="EBF2FF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566160" y="1709928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1D6FEB"/>
          </a:solidFill>
          <a:ln w="12700">
            <a:solidFill>
              <a:srgbClr val="1D6FEB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90884" y="1834652"/>
            <a:ext cx="317480" cy="31748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3566160" y="24048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D6FEB"/>
                </a:solidFill>
              </a:rPr>
              <a:t>SLIDES 6 – 7</a:t>
            </a:r>
            <a:endParaRPr lang="en-US" sz="900" dirty="0"/>
          </a:p>
        </p:txBody>
      </p:sp>
      <p:sp>
        <p:nvSpPr>
          <p:cNvPr id="20" name="Text 15"/>
          <p:cNvSpPr txBox="1"/>
          <p:nvPr/>
        </p:nvSpPr>
        <p:spPr>
          <a:xfrm>
            <a:off x="3566160" y="262432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The Platform</a:t>
            </a:r>
            <a:endParaRPr lang="en-US" sz="1700" dirty="0"/>
          </a:p>
        </p:txBody>
      </p:sp>
      <p:sp>
        <p:nvSpPr>
          <p:cNvPr id="21" name="Text 16"/>
          <p:cNvSpPr txBox="1"/>
          <p:nvPr/>
        </p:nvSpPr>
        <p:spPr>
          <a:xfrm>
            <a:off x="3566160" y="295351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One workspace; the four-stage discover → sync pipeline</a:t>
            </a:r>
            <a:endParaRPr lang="en-US" sz="1100" dirty="0"/>
          </a:p>
        </p:txBody>
      </p:sp>
      <p:sp>
        <p:nvSpPr>
          <p:cNvPr id="22" name="Text 17"/>
          <p:cNvSpPr txBox="1"/>
          <p:nvPr/>
        </p:nvSpPr>
        <p:spPr>
          <a:xfrm>
            <a:off x="5102352" y="17099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D6FEB"/>
                </a:solidFill>
              </a:rPr>
              <a:t>Open  →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6181344" y="1508760"/>
            <a:ext cx="2651760" cy="2011680"/>
          </a:xfrm>
          <a:prstGeom prst="roundRect">
            <a:avLst>
              <a:gd name="adj" fmla="val 4545"/>
            </a:avLst>
          </a:prstGeom>
          <a:solidFill>
            <a:srgbClr val="F0FDFA"/>
          </a:solidFill>
          <a:ln w="12700">
            <a:solidFill>
              <a:srgbClr val="F0FDFA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382512" y="1709928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7236" y="1834652"/>
            <a:ext cx="317480" cy="31748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6382512" y="24048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D9488"/>
                </a:solidFill>
              </a:rPr>
              <a:t>SLIDES 8 – 10</a:t>
            </a:r>
            <a:endParaRPr lang="en-US" sz="900" dirty="0"/>
          </a:p>
        </p:txBody>
      </p:sp>
      <p:sp>
        <p:nvSpPr>
          <p:cNvPr id="27" name="Text 21"/>
          <p:cNvSpPr txBox="1"/>
          <p:nvPr/>
        </p:nvSpPr>
        <p:spPr>
          <a:xfrm>
            <a:off x="6382512" y="262432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Modules</a:t>
            </a:r>
            <a:endParaRPr lang="en-US" sz="1700" dirty="0"/>
          </a:p>
        </p:txBody>
      </p:sp>
      <p:sp>
        <p:nvSpPr>
          <p:cNvPr id="28" name="Text 22"/>
          <p:cNvSpPr txBox="1"/>
          <p:nvPr/>
        </p:nvSpPr>
        <p:spPr>
          <a:xfrm>
            <a:off x="6382512" y="295351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Eight modules; segmentation; lead scoring</a:t>
            </a:r>
            <a:endParaRPr lang="en-US" sz="1100" dirty="0"/>
          </a:p>
        </p:txBody>
      </p:sp>
      <p:sp>
        <p:nvSpPr>
          <p:cNvPr id="29" name="Text 23"/>
          <p:cNvSpPr txBox="1"/>
          <p:nvPr/>
        </p:nvSpPr>
        <p:spPr>
          <a:xfrm>
            <a:off x="7918704" y="17099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Open  →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8997696" y="1508760"/>
            <a:ext cx="2651760" cy="2011680"/>
          </a:xfrm>
          <a:prstGeom prst="roundRect">
            <a:avLst>
              <a:gd name="adj" fmla="val 4545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0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9198864" y="1709928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323588" y="1834652"/>
            <a:ext cx="317480" cy="317480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9198864" y="24048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C3AED"/>
                </a:solidFill>
              </a:rPr>
              <a:t>SLIDES 11 – 13</a:t>
            </a:r>
            <a:endParaRPr lang="en-US" sz="900" dirty="0"/>
          </a:p>
        </p:txBody>
      </p:sp>
      <p:sp>
        <p:nvSpPr>
          <p:cNvPr id="34" name="Text 27"/>
          <p:cNvSpPr txBox="1"/>
          <p:nvPr/>
        </p:nvSpPr>
        <p:spPr>
          <a:xfrm>
            <a:off x="9198864" y="262432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Intelligence</a:t>
            </a:r>
            <a:endParaRPr lang="en-US" sz="1700" dirty="0"/>
          </a:p>
        </p:txBody>
      </p:sp>
      <p:sp>
        <p:nvSpPr>
          <p:cNvPr id="35" name="Text 28"/>
          <p:cNvSpPr txBox="1"/>
          <p:nvPr/>
        </p:nvSpPr>
        <p:spPr>
          <a:xfrm>
            <a:off x="9198864" y="295351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Analytics, 3-month forecast, coverage matrix, alerts</a:t>
            </a:r>
            <a:endParaRPr lang="en-US" sz="1100" dirty="0"/>
          </a:p>
        </p:txBody>
      </p:sp>
      <p:sp>
        <p:nvSpPr>
          <p:cNvPr id="36" name="Text 29"/>
          <p:cNvSpPr txBox="1"/>
          <p:nvPr/>
        </p:nvSpPr>
        <p:spPr>
          <a:xfrm>
            <a:off x="10735056" y="17099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Open  →</a:t>
            </a:r>
            <a:endParaRPr lang="en-US" sz="1000" dirty="0"/>
          </a:p>
        </p:txBody>
      </p:sp>
      <p:sp>
        <p:nvSpPr>
          <p:cNvPr id="37" name="Shape 30"/>
          <p:cNvSpPr/>
          <p:nvPr/>
        </p:nvSpPr>
        <p:spPr>
          <a:xfrm>
            <a:off x="548640" y="3685032"/>
            <a:ext cx="2651760" cy="2011680"/>
          </a:xfrm>
          <a:prstGeom prst="roundRect">
            <a:avLst>
              <a:gd name="adj" fmla="val 4545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0000"/>
              </a:srgbClr>
            </a:outerShdw>
          </a:effectLst>
        </p:spPr>
      </p:sp>
      <p:sp>
        <p:nvSpPr>
          <p:cNvPr id="38" name="Shape 31"/>
          <p:cNvSpPr/>
          <p:nvPr/>
        </p:nvSpPr>
        <p:spPr>
          <a:xfrm>
            <a:off x="749808" y="3886200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74532" y="4010924"/>
            <a:ext cx="317480" cy="317480"/>
          </a:xfrm>
          <a:prstGeom prst="rect">
            <a:avLst/>
          </a:prstGeom>
        </p:spPr>
      </p:pic>
      <p:sp>
        <p:nvSpPr>
          <p:cNvPr id="40" name="Text 32"/>
          <p:cNvSpPr txBox="1"/>
          <p:nvPr/>
        </p:nvSpPr>
        <p:spPr>
          <a:xfrm>
            <a:off x="749808" y="458114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9E0B"/>
                </a:solidFill>
              </a:rPr>
              <a:t>SLIDES 14 – 15</a:t>
            </a:r>
            <a:endParaRPr lang="en-US" sz="900" dirty="0"/>
          </a:p>
        </p:txBody>
      </p:sp>
      <p:sp>
        <p:nvSpPr>
          <p:cNvPr id="41" name="Text 33"/>
          <p:cNvSpPr txBox="1"/>
          <p:nvPr/>
        </p:nvSpPr>
        <p:spPr>
          <a:xfrm>
            <a:off x="749808" y="480060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Outreach &amp; Sync</a:t>
            </a:r>
            <a:endParaRPr lang="en-US" sz="1700" dirty="0"/>
          </a:p>
        </p:txBody>
      </p:sp>
      <p:sp>
        <p:nvSpPr>
          <p:cNvPr id="42" name="Text 34"/>
          <p:cNvSpPr txBox="1"/>
          <p:nvPr/>
        </p:nvSpPr>
        <p:spPr>
          <a:xfrm>
            <a:off x="749808" y="512978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Email / WhatsApp / call workflows; two-way sync with CRM &amp; ERP</a:t>
            </a:r>
            <a:endParaRPr lang="en-US" sz="1100" dirty="0"/>
          </a:p>
        </p:txBody>
      </p:sp>
      <p:sp>
        <p:nvSpPr>
          <p:cNvPr id="43" name="Text 35"/>
          <p:cNvSpPr txBox="1"/>
          <p:nvPr/>
        </p:nvSpPr>
        <p:spPr>
          <a:xfrm>
            <a:off x="2286000" y="38862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Open  →</a:t>
            </a:r>
            <a:endParaRPr lang="en-US" sz="1000" dirty="0"/>
          </a:p>
        </p:txBody>
      </p:sp>
      <p:sp>
        <p:nvSpPr>
          <p:cNvPr id="44" name="Shape 36"/>
          <p:cNvSpPr/>
          <p:nvPr/>
        </p:nvSpPr>
        <p:spPr>
          <a:xfrm>
            <a:off x="3364992" y="3685032"/>
            <a:ext cx="2651760" cy="2011680"/>
          </a:xfrm>
          <a:prstGeom prst="roundRect">
            <a:avLst>
              <a:gd name="adj" fmla="val 4545"/>
            </a:avLst>
          </a:prstGeom>
          <a:solidFill>
            <a:srgbClr val="F0F9FF"/>
          </a:solidFill>
          <a:ln w="12700">
            <a:solidFill>
              <a:srgbClr val="F0F9FF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0000"/>
              </a:srgbClr>
            </a:outerShdw>
          </a:effectLst>
        </p:spPr>
      </p:sp>
      <p:sp>
        <p:nvSpPr>
          <p:cNvPr id="45" name="Shape 37"/>
          <p:cNvSpPr/>
          <p:nvPr/>
        </p:nvSpPr>
        <p:spPr>
          <a:xfrm>
            <a:off x="3566160" y="3886200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46" name="Image 6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690884" y="4010924"/>
            <a:ext cx="317480" cy="317480"/>
          </a:xfrm>
          <a:prstGeom prst="rect">
            <a:avLst/>
          </a:prstGeom>
        </p:spPr>
      </p:pic>
      <p:sp>
        <p:nvSpPr>
          <p:cNvPr id="47" name="Text 38"/>
          <p:cNvSpPr txBox="1"/>
          <p:nvPr/>
        </p:nvSpPr>
        <p:spPr>
          <a:xfrm>
            <a:off x="3566160" y="458114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284C7"/>
                </a:solidFill>
              </a:rPr>
              <a:t>SLIDES 16 – 17</a:t>
            </a:r>
            <a:endParaRPr lang="en-US" sz="900" dirty="0"/>
          </a:p>
        </p:txBody>
      </p:sp>
      <p:sp>
        <p:nvSpPr>
          <p:cNvPr id="48" name="Text 39"/>
          <p:cNvSpPr txBox="1"/>
          <p:nvPr/>
        </p:nvSpPr>
        <p:spPr>
          <a:xfrm>
            <a:off x="3566160" y="480060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Data &amp; Architecture</a:t>
            </a:r>
            <a:endParaRPr lang="en-US" sz="1700" dirty="0"/>
          </a:p>
        </p:txBody>
      </p:sp>
      <p:sp>
        <p:nvSpPr>
          <p:cNvPr id="49" name="Text 40"/>
          <p:cNvSpPr txBox="1"/>
          <p:nvPr/>
        </p:nvSpPr>
        <p:spPr>
          <a:xfrm>
            <a:off x="3566160" y="512978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The data model and the cloud architecture behind it</a:t>
            </a:r>
            <a:endParaRPr lang="en-US" sz="1100" dirty="0"/>
          </a:p>
        </p:txBody>
      </p:sp>
      <p:sp>
        <p:nvSpPr>
          <p:cNvPr id="50" name="Text 41"/>
          <p:cNvSpPr txBox="1"/>
          <p:nvPr/>
        </p:nvSpPr>
        <p:spPr>
          <a:xfrm>
            <a:off x="5102352" y="38862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284C7"/>
                </a:solidFill>
              </a:rPr>
              <a:t>Open  →</a:t>
            </a:r>
            <a:endParaRPr lang="en-US" sz="1000" dirty="0"/>
          </a:p>
        </p:txBody>
      </p:sp>
      <p:sp>
        <p:nvSpPr>
          <p:cNvPr id="51" name="Shape 42"/>
          <p:cNvSpPr/>
          <p:nvPr/>
        </p:nvSpPr>
        <p:spPr>
          <a:xfrm>
            <a:off x="6181344" y="3685032"/>
            <a:ext cx="2651760" cy="2011680"/>
          </a:xfrm>
          <a:prstGeom prst="roundRect">
            <a:avLst>
              <a:gd name="adj" fmla="val 4545"/>
            </a:avLst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0000"/>
              </a:srgbClr>
            </a:outerShdw>
          </a:effectLst>
        </p:spPr>
      </p:sp>
      <p:sp>
        <p:nvSpPr>
          <p:cNvPr id="52" name="Shape 43"/>
          <p:cNvSpPr/>
          <p:nvPr/>
        </p:nvSpPr>
        <p:spPr>
          <a:xfrm>
            <a:off x="6382512" y="3886200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53" name="Image 7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507236" y="4010924"/>
            <a:ext cx="317480" cy="317480"/>
          </a:xfrm>
          <a:prstGeom prst="rect">
            <a:avLst/>
          </a:prstGeom>
        </p:spPr>
      </p:pic>
      <p:sp>
        <p:nvSpPr>
          <p:cNvPr id="54" name="Text 44"/>
          <p:cNvSpPr txBox="1"/>
          <p:nvPr/>
        </p:nvSpPr>
        <p:spPr>
          <a:xfrm>
            <a:off x="6382512" y="458114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6A34A"/>
                </a:solidFill>
              </a:rPr>
              <a:t>SLIDES 18 – 19</a:t>
            </a:r>
            <a:endParaRPr lang="en-US" sz="900" dirty="0"/>
          </a:p>
        </p:txBody>
      </p:sp>
      <p:sp>
        <p:nvSpPr>
          <p:cNvPr id="55" name="Text 45"/>
          <p:cNvSpPr txBox="1"/>
          <p:nvPr/>
        </p:nvSpPr>
        <p:spPr>
          <a:xfrm>
            <a:off x="6382512" y="480060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Security &amp; Rollout</a:t>
            </a:r>
            <a:endParaRPr lang="en-US" sz="1700" dirty="0"/>
          </a:p>
        </p:txBody>
      </p:sp>
      <p:sp>
        <p:nvSpPr>
          <p:cNvPr id="56" name="Text 46"/>
          <p:cNvSpPr txBox="1"/>
          <p:nvPr/>
        </p:nvSpPr>
        <p:spPr>
          <a:xfrm>
            <a:off x="6382512" y="512978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Data ownership, access control, six-week go-live plan</a:t>
            </a:r>
            <a:endParaRPr lang="en-US" sz="1100" dirty="0"/>
          </a:p>
        </p:txBody>
      </p:sp>
      <p:sp>
        <p:nvSpPr>
          <p:cNvPr id="57" name="Text 47"/>
          <p:cNvSpPr txBox="1"/>
          <p:nvPr/>
        </p:nvSpPr>
        <p:spPr>
          <a:xfrm>
            <a:off x="7918704" y="38862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Open  →</a:t>
            </a:r>
            <a:endParaRPr lang="en-US" sz="1000" dirty="0"/>
          </a:p>
        </p:txBody>
      </p:sp>
      <p:sp>
        <p:nvSpPr>
          <p:cNvPr id="58" name="Shape 48"/>
          <p:cNvSpPr/>
          <p:nvPr/>
        </p:nvSpPr>
        <p:spPr>
          <a:xfrm>
            <a:off x="8997696" y="3685032"/>
            <a:ext cx="2651760" cy="2011680"/>
          </a:xfrm>
          <a:prstGeom prst="roundRect">
            <a:avLst>
              <a:gd name="adj" fmla="val 4545"/>
            </a:avLst>
          </a:prstGeom>
          <a:solidFill>
            <a:srgbClr val="EBF2FF"/>
          </a:solidFill>
          <a:ln w="12700">
            <a:solidFill>
              <a:srgbClr val="EBF2FF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0000"/>
              </a:srgbClr>
            </a:outerShdw>
          </a:effectLst>
        </p:spPr>
      </p:sp>
      <p:sp>
        <p:nvSpPr>
          <p:cNvPr id="59" name="Shape 49"/>
          <p:cNvSpPr/>
          <p:nvPr/>
        </p:nvSpPr>
        <p:spPr>
          <a:xfrm>
            <a:off x="9198864" y="3886200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pic>
        <p:nvPicPr>
          <p:cNvPr id="60" name="Image 8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323588" y="4010924"/>
            <a:ext cx="317480" cy="317480"/>
          </a:xfrm>
          <a:prstGeom prst="rect">
            <a:avLst/>
          </a:prstGeom>
        </p:spPr>
      </p:pic>
      <p:sp>
        <p:nvSpPr>
          <p:cNvPr id="61" name="Text 50"/>
          <p:cNvSpPr txBox="1"/>
          <p:nvPr/>
        </p:nvSpPr>
        <p:spPr>
          <a:xfrm>
            <a:off x="9198864" y="458114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E40AF"/>
                </a:solidFill>
              </a:rPr>
              <a:t>SLIDES 20 – 22</a:t>
            </a:r>
            <a:endParaRPr lang="en-US" sz="900" dirty="0"/>
          </a:p>
        </p:txBody>
      </p:sp>
      <p:sp>
        <p:nvSpPr>
          <p:cNvPr id="62" name="Text 51"/>
          <p:cNvSpPr txBox="1"/>
          <p:nvPr/>
        </p:nvSpPr>
        <p:spPr>
          <a:xfrm>
            <a:off x="9198864" y="480060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Value &amp; Next Steps</a:t>
            </a:r>
            <a:endParaRPr lang="en-US" sz="1700" dirty="0"/>
          </a:p>
        </p:txBody>
      </p:sp>
      <p:sp>
        <p:nvSpPr>
          <p:cNvPr id="63" name="Text 52"/>
          <p:cNvSpPr txBox="1"/>
          <p:nvPr/>
        </p:nvSpPr>
        <p:spPr>
          <a:xfrm>
            <a:off x="9198864" y="512978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Outcomes, engagement options, how to start</a:t>
            </a:r>
            <a:endParaRPr lang="en-US" sz="1100" dirty="0"/>
          </a:p>
        </p:txBody>
      </p:sp>
      <p:sp>
        <p:nvSpPr>
          <p:cNvPr id="64" name="Text 53"/>
          <p:cNvSpPr txBox="1"/>
          <p:nvPr/>
        </p:nvSpPr>
        <p:spPr>
          <a:xfrm>
            <a:off x="10735056" y="38862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40AF"/>
                </a:solidFill>
              </a:rPr>
              <a:t>Open  →</a:t>
            </a:r>
            <a:endParaRPr lang="en-US" sz="1000" dirty="0"/>
          </a:p>
        </p:txBody>
      </p:sp>
      <p:sp>
        <p:nvSpPr>
          <p:cNvPr id="65" name="Text 54"/>
          <p:cNvSpPr txBox="1"/>
          <p:nvPr/>
        </p:nvSpPr>
        <p:spPr>
          <a:xfrm>
            <a:off x="548640" y="5788152"/>
            <a:ext cx="11091672" cy="384048"/>
          </a:xfrm>
          <a:prstGeom prst="roundRect">
            <a:avLst>
              <a:gd name="adj" fmla="val 50000"/>
            </a:avLst>
          </a:prstGeom>
          <a:solidFill>
            <a:srgbClr val="1E1B4B"/>
          </a:solidFill>
          <a:ln>
            <a:solidFill>
              <a:srgbClr val="1E1B4B"/>
            </a:solidFill>
          </a:ln>
        </p:spPr>
        <p:txBody>
          <a:bodyPr wrap="square" lIns="0" tIns="2540" rIns="254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Executive summary — the whole story on one slide (slide 3)  →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LeadPilot in one view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Discover who to sell to, decide what to sell them, deliver the outreach — with every system kept in sync</a:t>
            </a:r>
            <a:endParaRPr lang="en-US" sz="1400" dirty="0"/>
          </a:p>
        </p:txBody>
      </p:sp>
      <p:sp>
        <p:nvSpPr>
          <p:cNvPr id="4" name="Text 2">
            <a:hlinkClick r:id="rId1" tooltip="Back to Navigator" action="ppaction://hlinksldjump"/>
          </p:cNvPr>
          <p:cNvSpPr txBox="1"/>
          <p:nvPr/>
        </p:nvSpPr>
        <p:spPr>
          <a:xfrm>
            <a:off x="8732520" y="475488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EBF2FF"/>
          </a:solidFill>
          <a:ln>
            <a:solidFill>
              <a:srgbClr val="EBF2FF"/>
            </a:solidFill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40AF"/>
                </a:solidFill>
              </a:rPr>
              <a:t>OVERVIEW</a:t>
            </a:r>
            <a:endParaRPr lang="en-US" sz="9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20624"/>
            <a:ext cx="561353" cy="4206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991088" y="420624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Lead</a:t>
            </a:r>
            <a:pPr indent="0" marL="0">
              <a:buNone/>
            </a:pPr>
            <a:r>
              <a:rPr lang="en-US" sz="1700" b="1" dirty="0">
                <a:solidFill>
                  <a:srgbClr val="1D6FEB"/>
                </a:solidFill>
              </a:rPr>
              <a:t>Pilot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327648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1D6FEB"/>
          </a:solidFill>
          <a:ln>
            <a:solidFill>
              <a:srgbClr val="1D6FEB"/>
            </a:solidFill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⌂  Navigator</a:t>
            </a:r>
            <a:endParaRPr lang="en-US" sz="1000" dirty="0"/>
          </a:p>
        </p:txBody>
      </p:sp>
      <p:sp>
        <p:nvSpPr>
          <p:cNvPr id="8" name="Text 5">
            <a:hlinkClick r:id="rId4" tooltip="Next: Sales questions" action="ppaction://hlinksldjump"/>
          </p:cNvPr>
          <p:cNvSpPr txBox="1"/>
          <p:nvPr/>
        </p:nvSpPr>
        <p:spPr>
          <a:xfrm>
            <a:off x="1920240" y="6327648"/>
            <a:ext cx="1485900" cy="329184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</a:rPr>
              <a:t>Sales questions  →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327648"/>
            <a:ext cx="1033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3 / 22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48640" y="1508760"/>
            <a:ext cx="11091672" cy="914400"/>
          </a:xfrm>
          <a:prstGeom prst="roundRect">
            <a:avLst>
              <a:gd name="adj" fmla="val 10000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2960" y="16002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FFFFF"/>
                </a:solidFill>
              </a:rPr>
              <a:t>LeadPilot turns the dealer list, the sales Excel and the WhatsApp / email history your team already has into a ranked, evidence-backed list of who to call next — and writes every action back to your CRM and ERP automatically.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48640" y="2651760"/>
            <a:ext cx="3566160" cy="2697480"/>
          </a:xfrm>
          <a:prstGeom prst="roundRect">
            <a:avLst>
              <a:gd name="adj" fmla="val 3390"/>
            </a:avLst>
          </a:prstGeom>
          <a:solidFill>
            <a:srgbClr val="F0FDFA"/>
          </a:solidFill>
          <a:ln w="12700">
            <a:solidFill>
              <a:srgbClr val="F0FDFA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77240" y="288036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941" y="3001061"/>
            <a:ext cx="307238" cy="30723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463040" y="2880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Discover</a:t>
            </a:r>
            <a:endParaRPr lang="en-US" sz="2000" dirty="0"/>
          </a:p>
        </p:txBody>
      </p:sp>
      <p:sp>
        <p:nvSpPr>
          <p:cNvPr id="16" name="Text 12"/>
          <p:cNvSpPr txBox="1"/>
          <p:nvPr/>
        </p:nvSpPr>
        <p:spPr>
          <a:xfrm>
            <a:off x="1463040" y="32004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Search, segment and enrich every account and lead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777240" y="379476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334155"/>
                </a:solidFill>
              </a:rPr>
              <a:t>Full-text search across dealers, cities, contacts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334155"/>
                </a:solidFill>
              </a:rPr>
              <a:t>Cascading filters with live facet counts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334155"/>
                </a:solidFill>
              </a:rPr>
              <a:t>New leads from public &amp; market signals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4311396" y="2651760"/>
            <a:ext cx="3566160" cy="2697480"/>
          </a:xfrm>
          <a:prstGeom prst="roundRect">
            <a:avLst>
              <a:gd name="adj" fmla="val 3390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539996" y="288036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0697" y="3001061"/>
            <a:ext cx="307238" cy="307238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5225796" y="2880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Decide</a:t>
            </a:r>
            <a:endParaRPr lang="en-US" sz="2000" dirty="0"/>
          </a:p>
        </p:txBody>
      </p:sp>
      <p:sp>
        <p:nvSpPr>
          <p:cNvPr id="22" name="Text 17"/>
          <p:cNvSpPr txBox="1"/>
          <p:nvPr/>
        </p:nvSpPr>
        <p:spPr>
          <a:xfrm>
            <a:off x="5225796" y="32004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Analytics, forecast and scoring on your own data</a:t>
            </a:r>
            <a:endParaRPr lang="en-US" sz="1100" dirty="0"/>
          </a:p>
        </p:txBody>
      </p:sp>
      <p:sp>
        <p:nvSpPr>
          <p:cNvPr id="23" name="Text 18"/>
          <p:cNvSpPr txBox="1"/>
          <p:nvPr/>
        </p:nvSpPr>
        <p:spPr>
          <a:xfrm>
            <a:off x="4539996" y="379476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334155"/>
                </a:solidFill>
              </a:rPr>
              <a:t>Sales by country, product and month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334155"/>
                </a:solidFill>
              </a:rPr>
              <a:t>3-month revenue &amp; quantity forecast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334155"/>
                </a:solidFill>
              </a:rPr>
              <a:t>Lead score: engagement + fit + history</a:t>
            </a:r>
            <a:endParaRPr lang="en-US" sz="1250" dirty="0"/>
          </a:p>
        </p:txBody>
      </p:sp>
      <p:sp>
        <p:nvSpPr>
          <p:cNvPr id="24" name="Shape 19"/>
          <p:cNvSpPr/>
          <p:nvPr/>
        </p:nvSpPr>
        <p:spPr>
          <a:xfrm>
            <a:off x="8074152" y="2651760"/>
            <a:ext cx="3566160" cy="2697480"/>
          </a:xfrm>
          <a:prstGeom prst="roundRect">
            <a:avLst>
              <a:gd name="adj" fmla="val 3390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8302752" y="288036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23453" y="3001061"/>
            <a:ext cx="307238" cy="307238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8988552" y="2880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Deliver</a:t>
            </a:r>
            <a:endParaRPr lang="en-US" sz="2000" dirty="0"/>
          </a:p>
        </p:txBody>
      </p:sp>
      <p:sp>
        <p:nvSpPr>
          <p:cNvPr id="28" name="Text 22"/>
          <p:cNvSpPr txBox="1"/>
          <p:nvPr/>
        </p:nvSpPr>
        <p:spPr>
          <a:xfrm>
            <a:off x="8988552" y="32004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Outreach and two-way sync, no double entry</a:t>
            </a:r>
            <a:endParaRPr lang="en-US" sz="1100" dirty="0"/>
          </a:p>
        </p:txBody>
      </p:sp>
      <p:sp>
        <p:nvSpPr>
          <p:cNvPr id="29" name="Text 23"/>
          <p:cNvSpPr txBox="1"/>
          <p:nvPr/>
        </p:nvSpPr>
        <p:spPr>
          <a:xfrm>
            <a:off x="8302752" y="379476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334155"/>
                </a:solidFill>
              </a:rPr>
              <a:t>Email / WhatsApp / call / meeting logging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334155"/>
                </a:solidFill>
              </a:rPr>
              <a:t>Send-and-track sequences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334155"/>
                </a:solidFill>
              </a:rPr>
              <a:t>Sync with CRM, ERP, Excel and inbox</a:t>
            </a:r>
            <a:endParaRPr lang="en-US" sz="1250" dirty="0"/>
          </a:p>
        </p:txBody>
      </p:sp>
      <p:sp>
        <p:nvSpPr>
          <p:cNvPr id="30" name="Shape 24"/>
          <p:cNvSpPr/>
          <p:nvPr/>
        </p:nvSpPr>
        <p:spPr>
          <a:xfrm>
            <a:off x="548640" y="5532120"/>
            <a:ext cx="2057400" cy="640080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713232" y="5559552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6FEB"/>
                </a:solidFill>
              </a:rPr>
              <a:t>1</a:t>
            </a:r>
            <a:endParaRPr lang="en-US" sz="1800" dirty="0"/>
          </a:p>
        </p:txBody>
      </p:sp>
      <p:sp>
        <p:nvSpPr>
          <p:cNvPr id="32" name="Text 26"/>
          <p:cNvSpPr txBox="1"/>
          <p:nvPr/>
        </p:nvSpPr>
        <p:spPr>
          <a:xfrm>
            <a:off x="713232" y="587044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workspace</a:t>
            </a:r>
            <a:endParaRPr lang="en-US" sz="1050" dirty="0"/>
          </a:p>
        </p:txBody>
      </p:sp>
      <p:sp>
        <p:nvSpPr>
          <p:cNvPr id="33" name="Shape 27"/>
          <p:cNvSpPr/>
          <p:nvPr/>
        </p:nvSpPr>
        <p:spPr>
          <a:xfrm>
            <a:off x="2807208" y="5532120"/>
            <a:ext cx="2057400" cy="640080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2971800" y="5559552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6FEB"/>
                </a:solidFill>
              </a:rPr>
              <a:t>4</a:t>
            </a:r>
            <a:endParaRPr lang="en-US" sz="1800" dirty="0"/>
          </a:p>
        </p:txBody>
      </p:sp>
      <p:sp>
        <p:nvSpPr>
          <p:cNvPr id="35" name="Text 29"/>
          <p:cNvSpPr txBox="1"/>
          <p:nvPr/>
        </p:nvSpPr>
        <p:spPr>
          <a:xfrm>
            <a:off x="2971800" y="587044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stage pipeline</a:t>
            </a:r>
            <a:endParaRPr lang="en-US" sz="1050" dirty="0"/>
          </a:p>
        </p:txBody>
      </p:sp>
      <p:sp>
        <p:nvSpPr>
          <p:cNvPr id="36" name="Shape 30"/>
          <p:cNvSpPr/>
          <p:nvPr/>
        </p:nvSpPr>
        <p:spPr>
          <a:xfrm>
            <a:off x="5065776" y="5532120"/>
            <a:ext cx="2057400" cy="640080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Text 31"/>
          <p:cNvSpPr txBox="1"/>
          <p:nvPr/>
        </p:nvSpPr>
        <p:spPr>
          <a:xfrm>
            <a:off x="5230368" y="5559552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6FEB"/>
                </a:solidFill>
              </a:rPr>
              <a:t>8</a:t>
            </a:r>
            <a:endParaRPr lang="en-US" sz="1800" dirty="0"/>
          </a:p>
        </p:txBody>
      </p:sp>
      <p:sp>
        <p:nvSpPr>
          <p:cNvPr id="38" name="Text 32"/>
          <p:cNvSpPr txBox="1"/>
          <p:nvPr/>
        </p:nvSpPr>
        <p:spPr>
          <a:xfrm>
            <a:off x="5230368" y="587044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modules</a:t>
            </a:r>
            <a:endParaRPr lang="en-US" sz="1050" dirty="0"/>
          </a:p>
        </p:txBody>
      </p:sp>
      <p:sp>
        <p:nvSpPr>
          <p:cNvPr id="39" name="Shape 33"/>
          <p:cNvSpPr/>
          <p:nvPr/>
        </p:nvSpPr>
        <p:spPr>
          <a:xfrm>
            <a:off x="7324344" y="5532120"/>
            <a:ext cx="2057400" cy="640080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Text 34"/>
          <p:cNvSpPr txBox="1"/>
          <p:nvPr/>
        </p:nvSpPr>
        <p:spPr>
          <a:xfrm>
            <a:off x="7488936" y="5559552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6FEB"/>
                </a:solidFill>
              </a:rPr>
              <a:t>3-month</a:t>
            </a:r>
            <a:endParaRPr lang="en-US" sz="1800" dirty="0"/>
          </a:p>
        </p:txBody>
      </p:sp>
      <p:sp>
        <p:nvSpPr>
          <p:cNvPr id="41" name="Text 35"/>
          <p:cNvSpPr txBox="1"/>
          <p:nvPr/>
        </p:nvSpPr>
        <p:spPr>
          <a:xfrm>
            <a:off x="7488936" y="587044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rolling forecast</a:t>
            </a:r>
            <a:endParaRPr lang="en-US" sz="1050" dirty="0"/>
          </a:p>
        </p:txBody>
      </p:sp>
      <p:sp>
        <p:nvSpPr>
          <p:cNvPr id="42" name="Shape 36"/>
          <p:cNvSpPr/>
          <p:nvPr/>
        </p:nvSpPr>
        <p:spPr>
          <a:xfrm>
            <a:off x="9582912" y="5532120"/>
            <a:ext cx="2057400" cy="640080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3" name="Text 37"/>
          <p:cNvSpPr txBox="1"/>
          <p:nvPr/>
        </p:nvSpPr>
        <p:spPr>
          <a:xfrm>
            <a:off x="9747504" y="5559552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6FEB"/>
                </a:solidFill>
              </a:rPr>
              <a:t>2-way</a:t>
            </a:r>
            <a:endParaRPr lang="en-US" sz="1800" dirty="0"/>
          </a:p>
        </p:txBody>
      </p:sp>
      <p:sp>
        <p:nvSpPr>
          <p:cNvPr id="44" name="Text 38"/>
          <p:cNvSpPr txBox="1"/>
          <p:nvPr/>
        </p:nvSpPr>
        <p:spPr>
          <a:xfrm>
            <a:off x="9747504" y="587044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sync with your systems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The questions every sales leader asks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Manual analysis, personal memory and basic reports leave most of these unanswered — or answered too late to act</a:t>
            </a:r>
            <a:endParaRPr lang="en-US" sz="1400" dirty="0"/>
          </a:p>
        </p:txBody>
      </p:sp>
      <p:sp>
        <p:nvSpPr>
          <p:cNvPr id="4" name="Text 2">
            <a:hlinkClick r:id="rId1" tooltip="Back to Navigator" action="ppaction://hlinksldjump"/>
          </p:cNvPr>
          <p:cNvSpPr txBox="1"/>
          <p:nvPr/>
        </p:nvSpPr>
        <p:spPr>
          <a:xfrm>
            <a:off x="8732520" y="475488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EBF2FF"/>
          </a:solidFill>
          <a:ln>
            <a:solidFill>
              <a:srgbClr val="EBF2FF"/>
            </a:solidFill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40AF"/>
                </a:solidFill>
              </a:rPr>
              <a:t>THE PROBLEM</a:t>
            </a:r>
            <a:endParaRPr lang="en-US" sz="9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20624"/>
            <a:ext cx="561353" cy="4206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991088" y="420624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Lead</a:t>
            </a:r>
            <a:pPr indent="0" marL="0">
              <a:buNone/>
            </a:pPr>
            <a:r>
              <a:rPr lang="en-US" sz="1700" b="1" dirty="0">
                <a:solidFill>
                  <a:srgbClr val="1D6FEB"/>
                </a:solidFill>
              </a:rPr>
              <a:t>Pilot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327648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1D6FEB"/>
          </a:solidFill>
          <a:ln>
            <a:solidFill>
              <a:srgbClr val="1D6FEB"/>
            </a:solidFill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⌂  Navigator</a:t>
            </a:r>
            <a:endParaRPr lang="en-US" sz="1000" dirty="0"/>
          </a:p>
        </p:txBody>
      </p:sp>
      <p:sp>
        <p:nvSpPr>
          <p:cNvPr id="8" name="Text 5">
            <a:hlinkClick r:id="rId4" tooltip="Previous: Executive summary" action="ppaction://hlinksldjump"/>
          </p:cNvPr>
          <p:cNvSpPr txBox="1"/>
          <p:nvPr/>
        </p:nvSpPr>
        <p:spPr>
          <a:xfrm>
            <a:off x="1920240" y="6327648"/>
            <a:ext cx="1623060" cy="329184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</a:rPr>
              <a:t>←  Executive summary</a:t>
            </a:r>
            <a:endParaRPr lang="en-US" sz="1000" dirty="0"/>
          </a:p>
        </p:txBody>
      </p:sp>
      <p:sp>
        <p:nvSpPr>
          <p:cNvPr id="9" name="Text 6">
            <a:hlinkClick r:id="rId5" tooltip="Next: Today vs LeadPilot" action="ppaction://hlinksldjump"/>
          </p:cNvPr>
          <p:cNvSpPr txBox="1"/>
          <p:nvPr/>
        </p:nvSpPr>
        <p:spPr>
          <a:xfrm>
            <a:off x="3680460" y="6327648"/>
            <a:ext cx="1691640" cy="329184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</a:rPr>
              <a:t>Today vs LeadPilot  →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0607040" y="6327648"/>
            <a:ext cx="1033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4 / 22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150876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6FEB"/>
                </a:solidFill>
              </a:rPr>
              <a:t>PERFORMANCE &amp; PLANNING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1874520"/>
            <a:ext cx="5422392" cy="676656"/>
          </a:xfrm>
          <a:prstGeom prst="roundRect">
            <a:avLst>
              <a:gd name="adj" fmla="val 13514"/>
            </a:avLst>
          </a:prstGeom>
          <a:solidFill>
            <a:srgbClr val="EBF2FF"/>
          </a:solidFill>
          <a:ln w="12700">
            <a:solidFill>
              <a:srgbClr val="EBF2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85800" y="198424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1D6FEB"/>
          </a:solidFill>
          <a:ln w="12700">
            <a:solidFill>
              <a:srgbClr val="1D6FEB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384" y="2084832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325880" y="1874520"/>
            <a:ext cx="4526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What are our current and historical sales trends?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548640" y="2660904"/>
            <a:ext cx="5422392" cy="676656"/>
          </a:xfrm>
          <a:prstGeom prst="roundRect">
            <a:avLst>
              <a:gd name="adj" fmla="val 13514"/>
            </a:avLst>
          </a:prstGeom>
          <a:solidFill>
            <a:srgbClr val="EBF2FF"/>
          </a:solidFill>
          <a:ln w="12700">
            <a:solidFill>
              <a:srgbClr val="EBF2FF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85800" y="277063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1D6FEB"/>
          </a:solidFill>
          <a:ln w="12700">
            <a:solidFill>
              <a:srgbClr val="1D6FEB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6384" y="2871216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325880" y="2660904"/>
            <a:ext cx="4526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What sales can we realistically expect next quarter?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548640" y="3447288"/>
            <a:ext cx="5422392" cy="676656"/>
          </a:xfrm>
          <a:prstGeom prst="roundRect">
            <a:avLst>
              <a:gd name="adj" fmla="val 13514"/>
            </a:avLst>
          </a:prstGeom>
          <a:solidFill>
            <a:srgbClr val="EBF2FF"/>
          </a:solidFill>
          <a:ln w="12700">
            <a:solidFill>
              <a:srgbClr val="EBF2FF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85800" y="3557016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1D6FEB"/>
          </a:solidFill>
          <a:ln w="12700">
            <a:solidFill>
              <a:srgbClr val="1D6FEB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6384" y="3657600"/>
            <a:ext cx="256032" cy="256032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325880" y="3447288"/>
            <a:ext cx="4526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Which orders are pending, completed or delayed?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548640" y="4233672"/>
            <a:ext cx="5422392" cy="676656"/>
          </a:xfrm>
          <a:prstGeom prst="roundRect">
            <a:avLst>
              <a:gd name="adj" fmla="val 13514"/>
            </a:avLst>
          </a:prstGeom>
          <a:solidFill>
            <a:srgbClr val="EBF2FF"/>
          </a:solidFill>
          <a:ln w="12700">
            <a:solidFill>
              <a:srgbClr val="EBF2FF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685800" y="434340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1D6FEB"/>
          </a:solidFill>
          <a:ln w="12700">
            <a:solidFill>
              <a:srgbClr val="1D6FEB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6384" y="4443984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325880" y="4233672"/>
            <a:ext cx="4526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Which customers are buying more — and which are slipping?</a:t>
            </a:r>
            <a:endParaRPr lang="en-US" sz="1400" dirty="0"/>
          </a:p>
        </p:txBody>
      </p:sp>
      <p:sp>
        <p:nvSpPr>
          <p:cNvPr id="28" name="Shape 21"/>
          <p:cNvSpPr/>
          <p:nvPr/>
        </p:nvSpPr>
        <p:spPr>
          <a:xfrm>
            <a:off x="548640" y="5020056"/>
            <a:ext cx="5422392" cy="676656"/>
          </a:xfrm>
          <a:prstGeom prst="roundRect">
            <a:avLst>
              <a:gd name="adj" fmla="val 13514"/>
            </a:avLst>
          </a:prstGeom>
          <a:solidFill>
            <a:srgbClr val="EBF2FF"/>
          </a:solidFill>
          <a:ln w="12700">
            <a:solidFill>
              <a:srgbClr val="EBF2FF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685800" y="5129784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1D6FEB"/>
          </a:solidFill>
          <a:ln w="12700">
            <a:solidFill>
              <a:srgbClr val="1D6FEB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6384" y="5230368"/>
            <a:ext cx="256032" cy="256032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1325880" y="5020056"/>
            <a:ext cx="4526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Which products will see higher demand?</a:t>
            </a:r>
            <a:endParaRPr lang="en-US" sz="1400" dirty="0"/>
          </a:p>
        </p:txBody>
      </p:sp>
      <p:sp>
        <p:nvSpPr>
          <p:cNvPr id="32" name="Text 24"/>
          <p:cNvSpPr txBox="1"/>
          <p:nvPr/>
        </p:nvSpPr>
        <p:spPr>
          <a:xfrm>
            <a:off x="6217920" y="150876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</a:rPr>
              <a:t>TARGETING &amp; OPPORTUNITY</a:t>
            </a:r>
            <a:endParaRPr lang="en-US" sz="1100" dirty="0"/>
          </a:p>
        </p:txBody>
      </p:sp>
      <p:sp>
        <p:nvSpPr>
          <p:cNvPr id="33" name="Shape 25"/>
          <p:cNvSpPr/>
          <p:nvPr/>
        </p:nvSpPr>
        <p:spPr>
          <a:xfrm>
            <a:off x="6217920" y="1874520"/>
            <a:ext cx="5422392" cy="676656"/>
          </a:xfrm>
          <a:prstGeom prst="roundRect">
            <a:avLst>
              <a:gd name="adj" fmla="val 13514"/>
            </a:avLst>
          </a:prstGeom>
          <a:solidFill>
            <a:srgbClr val="F0FDFA"/>
          </a:solidFill>
          <a:ln w="12700">
            <a:solidFill>
              <a:srgbClr val="F0FDFA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6355080" y="198424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55664" y="2084832"/>
            <a:ext cx="256032" cy="256032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6995160" y="1874520"/>
            <a:ext cx="4526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Which existing customers could buy more products?</a:t>
            </a:r>
            <a:endParaRPr lang="en-US" sz="1400" dirty="0"/>
          </a:p>
        </p:txBody>
      </p:sp>
      <p:sp>
        <p:nvSpPr>
          <p:cNvPr id="37" name="Shape 28"/>
          <p:cNvSpPr/>
          <p:nvPr/>
        </p:nvSpPr>
        <p:spPr>
          <a:xfrm>
            <a:off x="6217920" y="2660904"/>
            <a:ext cx="5422392" cy="676656"/>
          </a:xfrm>
          <a:prstGeom prst="roundRect">
            <a:avLst>
              <a:gd name="adj" fmla="val 13514"/>
            </a:avLst>
          </a:prstGeom>
          <a:solidFill>
            <a:srgbClr val="F0FDFA"/>
          </a:solidFill>
          <a:ln w="12700">
            <a:solidFill>
              <a:srgbClr val="F0FDFA"/>
            </a:solidFill>
            <a:prstDash val="solid"/>
          </a:ln>
        </p:spPr>
      </p:sp>
      <p:sp>
        <p:nvSpPr>
          <p:cNvPr id="38" name="Shape 29"/>
          <p:cNvSpPr/>
          <p:nvPr/>
        </p:nvSpPr>
        <p:spPr>
          <a:xfrm>
            <a:off x="6355080" y="277063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55664" y="2871216"/>
            <a:ext cx="256032" cy="256032"/>
          </a:xfrm>
          <a:prstGeom prst="rect">
            <a:avLst/>
          </a:prstGeom>
        </p:spPr>
      </p:pic>
      <p:sp>
        <p:nvSpPr>
          <p:cNvPr id="40" name="Text 30"/>
          <p:cNvSpPr txBox="1"/>
          <p:nvPr/>
        </p:nvSpPr>
        <p:spPr>
          <a:xfrm>
            <a:off x="6995160" y="2660904"/>
            <a:ext cx="4526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Which regions perform well or have untapped potential?</a:t>
            </a:r>
            <a:endParaRPr lang="en-US" sz="1400" dirty="0"/>
          </a:p>
        </p:txBody>
      </p:sp>
      <p:sp>
        <p:nvSpPr>
          <p:cNvPr id="41" name="Shape 31"/>
          <p:cNvSpPr/>
          <p:nvPr/>
        </p:nvSpPr>
        <p:spPr>
          <a:xfrm>
            <a:off x="6217920" y="3447288"/>
            <a:ext cx="5422392" cy="676656"/>
          </a:xfrm>
          <a:prstGeom prst="roundRect">
            <a:avLst>
              <a:gd name="adj" fmla="val 13514"/>
            </a:avLst>
          </a:prstGeom>
          <a:solidFill>
            <a:srgbClr val="F0FDFA"/>
          </a:solidFill>
          <a:ln w="12700">
            <a:solidFill>
              <a:srgbClr val="F0FDFA"/>
            </a:solidFill>
            <a:prstDash val="solid"/>
          </a:ln>
        </p:spPr>
      </p:sp>
      <p:sp>
        <p:nvSpPr>
          <p:cNvPr id="42" name="Shape 32"/>
          <p:cNvSpPr/>
          <p:nvPr/>
        </p:nvSpPr>
        <p:spPr>
          <a:xfrm>
            <a:off x="6355080" y="3557016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43" name="Image 8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55664" y="3657600"/>
            <a:ext cx="256032" cy="256032"/>
          </a:xfrm>
          <a:prstGeom prst="rect">
            <a:avLst/>
          </a:prstGeom>
        </p:spPr>
      </p:pic>
      <p:sp>
        <p:nvSpPr>
          <p:cNvPr id="44" name="Text 33"/>
          <p:cNvSpPr txBox="1"/>
          <p:nvPr/>
        </p:nvSpPr>
        <p:spPr>
          <a:xfrm>
            <a:off x="6995160" y="3447288"/>
            <a:ext cx="4526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Which customers should we target next, and why?</a:t>
            </a:r>
            <a:endParaRPr lang="en-US" sz="1400" dirty="0"/>
          </a:p>
        </p:txBody>
      </p:sp>
      <p:sp>
        <p:nvSpPr>
          <p:cNvPr id="45" name="Shape 34"/>
          <p:cNvSpPr/>
          <p:nvPr/>
        </p:nvSpPr>
        <p:spPr>
          <a:xfrm>
            <a:off x="6217920" y="4233672"/>
            <a:ext cx="5422392" cy="676656"/>
          </a:xfrm>
          <a:prstGeom prst="roundRect">
            <a:avLst>
              <a:gd name="adj" fmla="val 13514"/>
            </a:avLst>
          </a:prstGeom>
          <a:solidFill>
            <a:srgbClr val="F0FDFA"/>
          </a:solidFill>
          <a:ln w="12700">
            <a:solidFill>
              <a:srgbClr val="F0FDFA"/>
            </a:solidFill>
            <a:prstDash val="solid"/>
          </a:ln>
        </p:spPr>
      </p:sp>
      <p:sp>
        <p:nvSpPr>
          <p:cNvPr id="46" name="Shape 35"/>
          <p:cNvSpPr/>
          <p:nvPr/>
        </p:nvSpPr>
        <p:spPr>
          <a:xfrm>
            <a:off x="6355080" y="434340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47" name="Image 9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55664" y="4443984"/>
            <a:ext cx="256032" cy="256032"/>
          </a:xfrm>
          <a:prstGeom prst="rect">
            <a:avLst/>
          </a:prstGeom>
        </p:spPr>
      </p:pic>
      <p:sp>
        <p:nvSpPr>
          <p:cNvPr id="48" name="Text 36"/>
          <p:cNvSpPr txBox="1"/>
          <p:nvPr/>
        </p:nvSpPr>
        <p:spPr>
          <a:xfrm>
            <a:off x="6995160" y="4233672"/>
            <a:ext cx="4526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Where are we losing opportunities after first contact?</a:t>
            </a:r>
            <a:endParaRPr lang="en-US" sz="1400" dirty="0"/>
          </a:p>
        </p:txBody>
      </p:sp>
      <p:sp>
        <p:nvSpPr>
          <p:cNvPr id="49" name="Shape 37"/>
          <p:cNvSpPr/>
          <p:nvPr/>
        </p:nvSpPr>
        <p:spPr>
          <a:xfrm>
            <a:off x="6217920" y="5020056"/>
            <a:ext cx="5422392" cy="676656"/>
          </a:xfrm>
          <a:prstGeom prst="roundRect">
            <a:avLst>
              <a:gd name="adj" fmla="val 13514"/>
            </a:avLst>
          </a:prstGeom>
          <a:solidFill>
            <a:srgbClr val="F0FDFA"/>
          </a:solidFill>
          <a:ln w="12700">
            <a:solidFill>
              <a:srgbClr val="F0FDFA"/>
            </a:solidFill>
            <a:prstDash val="solid"/>
          </a:ln>
        </p:spPr>
      </p:sp>
      <p:sp>
        <p:nvSpPr>
          <p:cNvPr id="50" name="Shape 38"/>
          <p:cNvSpPr/>
          <p:nvPr/>
        </p:nvSpPr>
        <p:spPr>
          <a:xfrm>
            <a:off x="6355080" y="5129784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51" name="Image 10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55664" y="5230368"/>
            <a:ext cx="256032" cy="256032"/>
          </a:xfrm>
          <a:prstGeom prst="rect">
            <a:avLst/>
          </a:prstGeom>
        </p:spPr>
      </p:pic>
      <p:sp>
        <p:nvSpPr>
          <p:cNvPr id="52" name="Text 39"/>
          <p:cNvSpPr txBox="1"/>
          <p:nvPr/>
        </p:nvSpPr>
        <p:spPr>
          <a:xfrm>
            <a:off x="6995160" y="5020056"/>
            <a:ext cx="4526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Which similar companies could bring new business?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What the status quo costs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Spreadsheets, memory and gut feel work — until the team grows, the data grows, or the best rep leaves</a:t>
            </a:r>
            <a:endParaRPr lang="en-US" sz="1400" dirty="0"/>
          </a:p>
        </p:txBody>
      </p:sp>
      <p:sp>
        <p:nvSpPr>
          <p:cNvPr id="4" name="Text 2">
            <a:hlinkClick r:id="rId1" tooltip="Back to Navigator" action="ppaction://hlinksldjump"/>
          </p:cNvPr>
          <p:cNvSpPr txBox="1"/>
          <p:nvPr/>
        </p:nvSpPr>
        <p:spPr>
          <a:xfrm>
            <a:off x="8732520" y="475488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EBF2FF"/>
          </a:solidFill>
          <a:ln>
            <a:solidFill>
              <a:srgbClr val="EBF2FF"/>
            </a:solidFill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40AF"/>
                </a:solidFill>
              </a:rPr>
              <a:t>THE PROBLEM</a:t>
            </a:r>
            <a:endParaRPr lang="en-US" sz="9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20624"/>
            <a:ext cx="561353" cy="4206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991088" y="420624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Lead</a:t>
            </a:r>
            <a:pPr indent="0" marL="0">
              <a:buNone/>
            </a:pPr>
            <a:r>
              <a:rPr lang="en-US" sz="1700" b="1" dirty="0">
                <a:solidFill>
                  <a:srgbClr val="1D6FEB"/>
                </a:solidFill>
              </a:rPr>
              <a:t>Pilot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327648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1D6FEB"/>
          </a:solidFill>
          <a:ln>
            <a:solidFill>
              <a:srgbClr val="1D6FEB"/>
            </a:solidFill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⌂  Navigator</a:t>
            </a:r>
            <a:endParaRPr lang="en-US" sz="1000" dirty="0"/>
          </a:p>
        </p:txBody>
      </p:sp>
      <p:sp>
        <p:nvSpPr>
          <p:cNvPr id="8" name="Text 5">
            <a:hlinkClick r:id="rId4" tooltip="Previous: Sales questions" action="ppaction://hlinksldjump"/>
          </p:cNvPr>
          <p:cNvSpPr txBox="1"/>
          <p:nvPr/>
        </p:nvSpPr>
        <p:spPr>
          <a:xfrm>
            <a:off x="1920240" y="6327648"/>
            <a:ext cx="1485900" cy="329184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</a:rPr>
              <a:t>←  Sales questions</a:t>
            </a:r>
            <a:endParaRPr lang="en-US" sz="1000" dirty="0"/>
          </a:p>
        </p:txBody>
      </p:sp>
      <p:sp>
        <p:nvSpPr>
          <p:cNvPr id="9" name="Text 6">
            <a:hlinkClick r:id="rId5" tooltip="Next: One workspace" action="ppaction://hlinksldjump"/>
          </p:cNvPr>
          <p:cNvSpPr txBox="1"/>
          <p:nvPr/>
        </p:nvSpPr>
        <p:spPr>
          <a:xfrm>
            <a:off x="3543300" y="6327648"/>
            <a:ext cx="1348740" cy="329184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</a:rPr>
              <a:t>One workspace  →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0607040" y="6327648"/>
            <a:ext cx="1033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5 / 22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48640" y="1508760"/>
            <a:ext cx="5148072" cy="365760"/>
          </a:xfrm>
          <a:prstGeom prst="roundRect">
            <a:avLst>
              <a:gd name="adj" fmla="val 25000"/>
            </a:avLst>
          </a:prstGeom>
          <a:solidFill>
            <a:srgbClr val="FFF1F2"/>
          </a:solidFill>
          <a:ln w="12700">
            <a:solidFill>
              <a:srgbClr val="FFF1F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1520" y="1508760"/>
            <a:ext cx="5148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11D48"/>
                </a:solidFill>
              </a:rPr>
              <a:t>TODAY: SPREADSHEETS, MEMORY, GUT FEEL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492240" y="1508760"/>
            <a:ext cx="5148072" cy="365760"/>
          </a:xfrm>
          <a:prstGeom prst="roundRect">
            <a:avLst>
              <a:gd name="adj" fmla="val 25000"/>
            </a:avLst>
          </a:prstGeom>
          <a:solidFill>
            <a:srgbClr val="F0FDFA"/>
          </a:solidFill>
          <a:ln w="12700">
            <a:solidFill>
              <a:srgbClr val="F0FDF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675120" y="1508760"/>
            <a:ext cx="5148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D9488"/>
                </a:solidFill>
              </a:rPr>
              <a:t>WITH LEADPILOT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48640" y="1965960"/>
            <a:ext cx="5148072" cy="566928"/>
          </a:xfrm>
          <a:prstGeom prst="roundRect">
            <a:avLst>
              <a:gd name="adj" fmla="val 16129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85800" y="2084832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220" y="2157252"/>
            <a:ext cx="184343" cy="184343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143000" y="1965960"/>
            <a:ext cx="4416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Dealer data lives in five Excel files and three phones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6492240" y="1965960"/>
            <a:ext cx="5148072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629400" y="2084832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01820" y="2157252"/>
            <a:ext cx="184343" cy="184343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7086600" y="1965960"/>
            <a:ext cx="4416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One account list, de-duplicated, with ownership and history</a:t>
            </a:r>
            <a:endParaRPr lang="en-US" sz="125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3600" y="2121408"/>
            <a:ext cx="274320" cy="274320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548640" y="2624328"/>
            <a:ext cx="5148072" cy="566928"/>
          </a:xfrm>
          <a:prstGeom prst="roundRect">
            <a:avLst>
              <a:gd name="adj" fmla="val 16129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685800" y="274320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8220" y="2815620"/>
            <a:ext cx="184343" cy="184343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143000" y="2624328"/>
            <a:ext cx="4416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“Who should I call today?” is answered by habit</a:t>
            </a:r>
            <a:endParaRPr lang="en-US" sz="1250" dirty="0"/>
          </a:p>
        </p:txBody>
      </p:sp>
      <p:sp>
        <p:nvSpPr>
          <p:cNvPr id="28" name="Shape 21"/>
          <p:cNvSpPr/>
          <p:nvPr/>
        </p:nvSpPr>
        <p:spPr>
          <a:xfrm>
            <a:off x="6492240" y="2624328"/>
            <a:ext cx="5148072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0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6629400" y="274320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01820" y="2815620"/>
            <a:ext cx="184343" cy="184343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7086600" y="2624328"/>
            <a:ext cx="4416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A ranked call list every morning, with the reason for each pick</a:t>
            </a:r>
            <a:endParaRPr lang="en-US" sz="1250" dirty="0"/>
          </a:p>
        </p:txBody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43600" y="2779776"/>
            <a:ext cx="274320" cy="274320"/>
          </a:xfrm>
          <a:prstGeom prst="rect">
            <a:avLst/>
          </a:prstGeom>
        </p:spPr>
      </p:pic>
      <p:sp>
        <p:nvSpPr>
          <p:cNvPr id="33" name="Shape 24"/>
          <p:cNvSpPr/>
          <p:nvPr/>
        </p:nvSpPr>
        <p:spPr>
          <a:xfrm>
            <a:off x="548640" y="3282696"/>
            <a:ext cx="5148072" cy="566928"/>
          </a:xfrm>
          <a:prstGeom prst="roundRect">
            <a:avLst>
              <a:gd name="adj" fmla="val 16129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Shape 25"/>
          <p:cNvSpPr/>
          <p:nvPr/>
        </p:nvSpPr>
        <p:spPr>
          <a:xfrm>
            <a:off x="685800" y="3401568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8220" y="3473988"/>
            <a:ext cx="184343" cy="184343"/>
          </a:xfrm>
          <a:prstGeom prst="rect">
            <a:avLst/>
          </a:prstGeom>
        </p:spPr>
      </p:pic>
      <p:sp>
        <p:nvSpPr>
          <p:cNvPr id="36" name="Text 26"/>
          <p:cNvSpPr txBox="1"/>
          <p:nvPr/>
        </p:nvSpPr>
        <p:spPr>
          <a:xfrm>
            <a:off x="1143000" y="3282696"/>
            <a:ext cx="4416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Forecasts are last year’s number plus a hunch</a:t>
            </a:r>
            <a:endParaRPr lang="en-US" sz="1250" dirty="0"/>
          </a:p>
        </p:txBody>
      </p:sp>
      <p:sp>
        <p:nvSpPr>
          <p:cNvPr id="37" name="Shape 27"/>
          <p:cNvSpPr/>
          <p:nvPr/>
        </p:nvSpPr>
        <p:spPr>
          <a:xfrm>
            <a:off x="6492240" y="3282696"/>
            <a:ext cx="5148072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0000"/>
              </a:srgbClr>
            </a:outerShdw>
          </a:effectLst>
        </p:spPr>
      </p:sp>
      <p:sp>
        <p:nvSpPr>
          <p:cNvPr id="38" name="Shape 28"/>
          <p:cNvSpPr/>
          <p:nvPr/>
        </p:nvSpPr>
        <p:spPr>
          <a:xfrm>
            <a:off x="6629400" y="3401568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39" name="Image 8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01820" y="3473988"/>
            <a:ext cx="184343" cy="184343"/>
          </a:xfrm>
          <a:prstGeom prst="rect">
            <a:avLst/>
          </a:prstGeom>
        </p:spPr>
      </p:pic>
      <p:sp>
        <p:nvSpPr>
          <p:cNvPr id="40" name="Text 29"/>
          <p:cNvSpPr txBox="1"/>
          <p:nvPr/>
        </p:nvSpPr>
        <p:spPr>
          <a:xfrm>
            <a:off x="7086600" y="3282696"/>
            <a:ext cx="4416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Regression on your monthly actuals, refreshed as data lands</a:t>
            </a:r>
            <a:endParaRPr lang="en-US" sz="1250" dirty="0"/>
          </a:p>
        </p:txBody>
      </p:sp>
      <p:pic>
        <p:nvPicPr>
          <p:cNvPr id="41" name="Image 9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943600" y="3438144"/>
            <a:ext cx="274320" cy="274320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548640" y="3941064"/>
            <a:ext cx="5148072" cy="566928"/>
          </a:xfrm>
          <a:prstGeom prst="roundRect">
            <a:avLst>
              <a:gd name="adj" fmla="val 16129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3" name="Shape 31"/>
          <p:cNvSpPr/>
          <p:nvPr/>
        </p:nvSpPr>
        <p:spPr>
          <a:xfrm>
            <a:off x="685800" y="4059936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pic>
        <p:nvPicPr>
          <p:cNvPr id="44" name="Image 10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58220" y="4132356"/>
            <a:ext cx="184343" cy="184343"/>
          </a:xfrm>
          <a:prstGeom prst="rect">
            <a:avLst/>
          </a:prstGeom>
        </p:spPr>
      </p:pic>
      <p:sp>
        <p:nvSpPr>
          <p:cNvPr id="45" name="Text 32"/>
          <p:cNvSpPr txBox="1"/>
          <p:nvPr/>
        </p:nvSpPr>
        <p:spPr>
          <a:xfrm>
            <a:off x="1143000" y="3941064"/>
            <a:ext cx="4416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Follow-ups are missed after the first message</a:t>
            </a:r>
            <a:endParaRPr lang="en-US" sz="1250" dirty="0"/>
          </a:p>
        </p:txBody>
      </p:sp>
      <p:sp>
        <p:nvSpPr>
          <p:cNvPr id="46" name="Shape 33"/>
          <p:cNvSpPr/>
          <p:nvPr/>
        </p:nvSpPr>
        <p:spPr>
          <a:xfrm>
            <a:off x="6492240" y="3941064"/>
            <a:ext cx="5148072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0000"/>
              </a:srgbClr>
            </a:outerShdw>
          </a:effectLst>
        </p:spPr>
      </p:sp>
      <p:sp>
        <p:nvSpPr>
          <p:cNvPr id="47" name="Shape 34"/>
          <p:cNvSpPr/>
          <p:nvPr/>
        </p:nvSpPr>
        <p:spPr>
          <a:xfrm>
            <a:off x="6629400" y="4059936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48" name="Image 11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701820" y="4132356"/>
            <a:ext cx="184343" cy="184343"/>
          </a:xfrm>
          <a:prstGeom prst="rect">
            <a:avLst/>
          </a:prstGeom>
        </p:spPr>
      </p:pic>
      <p:sp>
        <p:nvSpPr>
          <p:cNvPr id="49" name="Text 35"/>
          <p:cNvSpPr txBox="1"/>
          <p:nvPr/>
        </p:nvSpPr>
        <p:spPr>
          <a:xfrm>
            <a:off x="7086600" y="3941064"/>
            <a:ext cx="4416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Sequences and reminders; pipeline leakage is visible</a:t>
            </a:r>
            <a:endParaRPr lang="en-US" sz="1250" dirty="0"/>
          </a:p>
        </p:txBody>
      </p:sp>
      <p:pic>
        <p:nvPicPr>
          <p:cNvPr id="50" name="Image 12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943600" y="4096512"/>
            <a:ext cx="274320" cy="274320"/>
          </a:xfrm>
          <a:prstGeom prst="rect">
            <a:avLst/>
          </a:prstGeom>
        </p:spPr>
      </p:pic>
      <p:sp>
        <p:nvSpPr>
          <p:cNvPr id="51" name="Shape 36"/>
          <p:cNvSpPr/>
          <p:nvPr/>
        </p:nvSpPr>
        <p:spPr>
          <a:xfrm>
            <a:off x="548640" y="4599432"/>
            <a:ext cx="5148072" cy="566928"/>
          </a:xfrm>
          <a:prstGeom prst="roundRect">
            <a:avLst>
              <a:gd name="adj" fmla="val 16129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2" name="Shape 37"/>
          <p:cNvSpPr/>
          <p:nvPr/>
        </p:nvSpPr>
        <p:spPr>
          <a:xfrm>
            <a:off x="685800" y="4718304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pic>
        <p:nvPicPr>
          <p:cNvPr id="53" name="Image 13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58220" y="4790724"/>
            <a:ext cx="184343" cy="184343"/>
          </a:xfrm>
          <a:prstGeom prst="rect">
            <a:avLst/>
          </a:prstGeom>
        </p:spPr>
      </p:pic>
      <p:sp>
        <p:nvSpPr>
          <p:cNvPr id="54" name="Text 38"/>
          <p:cNvSpPr txBox="1"/>
          <p:nvPr/>
        </p:nvSpPr>
        <p:spPr>
          <a:xfrm>
            <a:off x="1143000" y="4599432"/>
            <a:ext cx="4416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CRM, ERP and WhatsApp never agree</a:t>
            </a:r>
            <a:endParaRPr lang="en-US" sz="1250" dirty="0"/>
          </a:p>
        </p:txBody>
      </p:sp>
      <p:sp>
        <p:nvSpPr>
          <p:cNvPr id="55" name="Shape 39"/>
          <p:cNvSpPr/>
          <p:nvPr/>
        </p:nvSpPr>
        <p:spPr>
          <a:xfrm>
            <a:off x="6492240" y="4599432"/>
            <a:ext cx="5148072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0000"/>
              </a:srgbClr>
            </a:outerShdw>
          </a:effectLst>
        </p:spPr>
      </p:sp>
      <p:sp>
        <p:nvSpPr>
          <p:cNvPr id="56" name="Shape 40"/>
          <p:cNvSpPr/>
          <p:nvPr/>
        </p:nvSpPr>
        <p:spPr>
          <a:xfrm>
            <a:off x="6629400" y="4718304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57" name="Image 14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701820" y="4790724"/>
            <a:ext cx="184343" cy="184343"/>
          </a:xfrm>
          <a:prstGeom prst="rect">
            <a:avLst/>
          </a:prstGeom>
        </p:spPr>
      </p:pic>
      <p:sp>
        <p:nvSpPr>
          <p:cNvPr id="58" name="Text 41"/>
          <p:cNvSpPr txBox="1"/>
          <p:nvPr/>
        </p:nvSpPr>
        <p:spPr>
          <a:xfrm>
            <a:off x="7086600" y="4599432"/>
            <a:ext cx="4416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Two-way sync; your systems stay the source of truth</a:t>
            </a:r>
            <a:endParaRPr lang="en-US" sz="1250" dirty="0"/>
          </a:p>
        </p:txBody>
      </p:sp>
      <p:pic>
        <p:nvPicPr>
          <p:cNvPr id="59" name="Image 15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943600" y="4754880"/>
            <a:ext cx="274320" cy="274320"/>
          </a:xfrm>
          <a:prstGeom prst="rect">
            <a:avLst/>
          </a:prstGeom>
        </p:spPr>
      </p:pic>
      <p:sp>
        <p:nvSpPr>
          <p:cNvPr id="60" name="Shape 42"/>
          <p:cNvSpPr/>
          <p:nvPr/>
        </p:nvSpPr>
        <p:spPr>
          <a:xfrm>
            <a:off x="548640" y="5257800"/>
            <a:ext cx="5148072" cy="566928"/>
          </a:xfrm>
          <a:prstGeom prst="roundRect">
            <a:avLst>
              <a:gd name="adj" fmla="val 16129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1" name="Shape 43"/>
          <p:cNvSpPr/>
          <p:nvPr/>
        </p:nvSpPr>
        <p:spPr>
          <a:xfrm>
            <a:off x="685800" y="5376672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pic>
        <p:nvPicPr>
          <p:cNvPr id="62" name="Image 16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58220" y="5449092"/>
            <a:ext cx="184343" cy="184343"/>
          </a:xfrm>
          <a:prstGeom prst="rect">
            <a:avLst/>
          </a:prstGeom>
        </p:spPr>
      </p:pic>
      <p:sp>
        <p:nvSpPr>
          <p:cNvPr id="63" name="Text 44"/>
          <p:cNvSpPr txBox="1"/>
          <p:nvPr/>
        </p:nvSpPr>
        <p:spPr>
          <a:xfrm>
            <a:off x="1143000" y="5257800"/>
            <a:ext cx="4416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Reports take a week and are stale on arrival</a:t>
            </a:r>
            <a:endParaRPr lang="en-US" sz="1250" dirty="0"/>
          </a:p>
        </p:txBody>
      </p:sp>
      <p:sp>
        <p:nvSpPr>
          <p:cNvPr id="64" name="Shape 45"/>
          <p:cNvSpPr/>
          <p:nvPr/>
        </p:nvSpPr>
        <p:spPr>
          <a:xfrm>
            <a:off x="6492240" y="5257800"/>
            <a:ext cx="5148072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0000"/>
              </a:srgbClr>
            </a:outerShdw>
          </a:effectLst>
        </p:spPr>
      </p:sp>
      <p:sp>
        <p:nvSpPr>
          <p:cNvPr id="65" name="Shape 46"/>
          <p:cNvSpPr/>
          <p:nvPr/>
        </p:nvSpPr>
        <p:spPr>
          <a:xfrm>
            <a:off x="6629400" y="5376672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66" name="Image 17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701820" y="5449092"/>
            <a:ext cx="184343" cy="184343"/>
          </a:xfrm>
          <a:prstGeom prst="rect">
            <a:avLst/>
          </a:prstGeom>
        </p:spPr>
      </p:pic>
      <p:sp>
        <p:nvSpPr>
          <p:cNvPr id="67" name="Text 47"/>
          <p:cNvSpPr txBox="1"/>
          <p:nvPr/>
        </p:nvSpPr>
        <p:spPr>
          <a:xfrm>
            <a:off x="7086600" y="5257800"/>
            <a:ext cx="4416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Live dashboard: dealers, regions, products, messages</a:t>
            </a:r>
            <a:endParaRPr lang="en-US" sz="1250" dirty="0"/>
          </a:p>
        </p:txBody>
      </p:sp>
      <p:pic>
        <p:nvPicPr>
          <p:cNvPr id="68" name="Image 18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943600" y="5413248"/>
            <a:ext cx="274320" cy="274320"/>
          </a:xfrm>
          <a:prstGeom prst="rect">
            <a:avLst/>
          </a:prstGeom>
        </p:spPr>
      </p:pic>
      <p:sp>
        <p:nvSpPr>
          <p:cNvPr id="69" name="Text 48"/>
          <p:cNvSpPr txBox="1"/>
          <p:nvPr/>
        </p:nvSpPr>
        <p:spPr>
          <a:xfrm>
            <a:off x="548640" y="59436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The hidden cost is not the spreadsheet — it is the deal that nobody followed up because nobody knew it was there.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One workspace for data, insight and outreach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LeadPilot combines the data you already own with public market signals, in one web and mobile application</a:t>
            </a:r>
            <a:endParaRPr lang="en-US" sz="1400" dirty="0"/>
          </a:p>
        </p:txBody>
      </p:sp>
      <p:sp>
        <p:nvSpPr>
          <p:cNvPr id="4" name="Text 2">
            <a:hlinkClick r:id="rId1" tooltip="Back to Navigator" action="ppaction://hlinksldjump"/>
          </p:cNvPr>
          <p:cNvSpPr txBox="1"/>
          <p:nvPr/>
        </p:nvSpPr>
        <p:spPr>
          <a:xfrm>
            <a:off x="8732520" y="475488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EBF2FF"/>
          </a:solidFill>
          <a:ln>
            <a:solidFill>
              <a:srgbClr val="EBF2FF"/>
            </a:solidFill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40AF"/>
                </a:solidFill>
              </a:rPr>
              <a:t>THE PLATFORM</a:t>
            </a:r>
            <a:endParaRPr lang="en-US" sz="9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20624"/>
            <a:ext cx="561353" cy="4206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991088" y="420624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Lead</a:t>
            </a:r>
            <a:pPr indent="0" marL="0">
              <a:buNone/>
            </a:pPr>
            <a:r>
              <a:rPr lang="en-US" sz="1700" b="1" dirty="0">
                <a:solidFill>
                  <a:srgbClr val="1D6FEB"/>
                </a:solidFill>
              </a:rPr>
              <a:t>Pilot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327648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1D6FEB"/>
          </a:solidFill>
          <a:ln>
            <a:solidFill>
              <a:srgbClr val="1D6FEB"/>
            </a:solidFill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⌂  Navigator</a:t>
            </a:r>
            <a:endParaRPr lang="en-US" sz="1000" dirty="0"/>
          </a:p>
        </p:txBody>
      </p:sp>
      <p:sp>
        <p:nvSpPr>
          <p:cNvPr id="8" name="Text 5">
            <a:hlinkClick r:id="rId4" tooltip="Previous: Today vs LeadPilot" action="ppaction://hlinksldjump"/>
          </p:cNvPr>
          <p:cNvSpPr txBox="1"/>
          <p:nvPr/>
        </p:nvSpPr>
        <p:spPr>
          <a:xfrm>
            <a:off x="1920240" y="6327648"/>
            <a:ext cx="1691640" cy="329184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</a:rPr>
              <a:t>←  Today vs LeadPilot</a:t>
            </a:r>
            <a:endParaRPr lang="en-US" sz="1000" dirty="0"/>
          </a:p>
        </p:txBody>
      </p:sp>
      <p:sp>
        <p:nvSpPr>
          <p:cNvPr id="9" name="Text 6">
            <a:hlinkClick r:id="rId5" tooltip="Next: How it works" action="ppaction://hlinksldjump"/>
          </p:cNvPr>
          <p:cNvSpPr txBox="1"/>
          <p:nvPr/>
        </p:nvSpPr>
        <p:spPr>
          <a:xfrm>
            <a:off x="3749040" y="6327648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</a:rPr>
              <a:t>How it works  →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0607040" y="6327648"/>
            <a:ext cx="1033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6 / 22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15087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D9488"/>
                </a:solidFill>
              </a:rPr>
              <a:t>CONNECTED INPUTS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4526280" y="15087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D6FEB"/>
                </a:solidFill>
              </a:rPr>
              <a:t>SHARED PLATFORM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8412480" y="15087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</a:rPr>
              <a:t>SALES WORKFLOWS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48640" y="1874520"/>
            <a:ext cx="3200400" cy="786384"/>
          </a:xfrm>
          <a:prstGeom prst="roundRect">
            <a:avLst>
              <a:gd name="adj" fmla="val 11628"/>
            </a:avLst>
          </a:prstGeom>
          <a:solidFill>
            <a:srgbClr val="F0FDFA"/>
          </a:solidFill>
          <a:ln w="12700">
            <a:solidFill>
              <a:srgbClr val="F0FDF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85800" y="203911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384" y="2139696"/>
            <a:ext cx="256032" cy="256032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280160" y="198424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Dealer / account database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1280160" y="2276856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Existing customers, prospects, contacts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3749040" y="2267712"/>
            <a:ext cx="777240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48640" y="2825496"/>
            <a:ext cx="3200400" cy="786384"/>
          </a:xfrm>
          <a:prstGeom prst="roundRect">
            <a:avLst>
              <a:gd name="adj" fmla="val 11628"/>
            </a:avLst>
          </a:prstGeom>
          <a:solidFill>
            <a:srgbClr val="F0FDFA"/>
          </a:solidFill>
          <a:ln w="12700">
            <a:solidFill>
              <a:srgbClr val="F0FDFA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85800" y="299008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6384" y="3090672"/>
            <a:ext cx="256032" cy="256032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1280160" y="2935224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Sales records</a:t>
            </a:r>
            <a:endParaRPr lang="en-US" sz="1300" dirty="0"/>
          </a:p>
        </p:txBody>
      </p:sp>
      <p:sp>
        <p:nvSpPr>
          <p:cNvPr id="24" name="Text 19"/>
          <p:cNvSpPr txBox="1"/>
          <p:nvPr/>
        </p:nvSpPr>
        <p:spPr>
          <a:xfrm>
            <a:off x="1280160" y="322783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Excel upload or ERP / Tally export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3749040" y="3218688"/>
            <a:ext cx="777240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548640" y="3776472"/>
            <a:ext cx="3200400" cy="786384"/>
          </a:xfrm>
          <a:prstGeom prst="roundRect">
            <a:avLst>
              <a:gd name="adj" fmla="val 11628"/>
            </a:avLst>
          </a:prstGeom>
          <a:solidFill>
            <a:srgbClr val="F0FDFA"/>
          </a:solidFill>
          <a:ln w="12700">
            <a:solidFill>
              <a:srgbClr val="F0FDFA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685800" y="3941064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6384" y="4041648"/>
            <a:ext cx="256032" cy="256032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1280160" y="388620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Communication history</a:t>
            </a:r>
            <a:endParaRPr lang="en-US" sz="1300" dirty="0"/>
          </a:p>
        </p:txBody>
      </p:sp>
      <p:sp>
        <p:nvSpPr>
          <p:cNvPr id="30" name="Text 24"/>
          <p:cNvSpPr txBox="1"/>
          <p:nvPr/>
        </p:nvSpPr>
        <p:spPr>
          <a:xfrm>
            <a:off x="1280160" y="417880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Email, WhatsApp, calls, meetings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3749040" y="4169664"/>
            <a:ext cx="777240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548640" y="4727448"/>
            <a:ext cx="3200400" cy="786384"/>
          </a:xfrm>
          <a:prstGeom prst="roundRect">
            <a:avLst>
              <a:gd name="adj" fmla="val 11628"/>
            </a:avLst>
          </a:prstGeom>
          <a:solidFill>
            <a:srgbClr val="F0FDFA"/>
          </a:solidFill>
          <a:ln w="12700">
            <a:solidFill>
              <a:srgbClr val="F0FDFA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685800" y="489204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6384" y="4992624"/>
            <a:ext cx="256032" cy="256032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1280160" y="483717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Market &amp; public signals</a:t>
            </a:r>
            <a:endParaRPr lang="en-US" sz="1300" dirty="0"/>
          </a:p>
        </p:txBody>
      </p:sp>
      <p:sp>
        <p:nvSpPr>
          <p:cNvPr id="36" name="Text 29"/>
          <p:cNvSpPr txBox="1"/>
          <p:nvPr/>
        </p:nvSpPr>
        <p:spPr>
          <a:xfrm>
            <a:off x="1280160" y="5129784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Tenders, registrations, expansions, news</a:t>
            </a:r>
            <a:endParaRPr lang="en-US" sz="1100" dirty="0"/>
          </a:p>
        </p:txBody>
      </p:sp>
      <p:sp>
        <p:nvSpPr>
          <p:cNvPr id="37" name="Shape 30"/>
          <p:cNvSpPr/>
          <p:nvPr/>
        </p:nvSpPr>
        <p:spPr>
          <a:xfrm>
            <a:off x="3749040" y="5120640"/>
            <a:ext cx="777240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4526280" y="1874520"/>
            <a:ext cx="3200400" cy="3639312"/>
          </a:xfrm>
          <a:prstGeom prst="roundRect">
            <a:avLst>
              <a:gd name="adj" fmla="val 2857"/>
            </a:avLst>
          </a:prstGeom>
          <a:solidFill>
            <a:srgbClr val="1D6FEB"/>
          </a:solidFill>
          <a:ln w="12700">
            <a:solidFill>
              <a:srgbClr val="1D6FEB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0000"/>
              </a:srgbClr>
            </a:outerShdw>
          </a:effectLst>
        </p:spPr>
      </p:sp>
      <p:sp>
        <p:nvSpPr>
          <p:cNvPr id="39" name="Shape 32"/>
          <p:cNvSpPr/>
          <p:nvPr/>
        </p:nvSpPr>
        <p:spPr>
          <a:xfrm>
            <a:off x="5623560" y="2103120"/>
            <a:ext cx="100584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87568" y="2176272"/>
            <a:ext cx="903046" cy="676656"/>
          </a:xfrm>
          <a:prstGeom prst="rect">
            <a:avLst/>
          </a:prstGeom>
        </p:spPr>
      </p:pic>
      <p:sp>
        <p:nvSpPr>
          <p:cNvPr id="41" name="Text 33"/>
          <p:cNvSpPr txBox="1"/>
          <p:nvPr/>
        </p:nvSpPr>
        <p:spPr>
          <a:xfrm>
            <a:off x="4709160" y="29718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LeadPilot core</a:t>
            </a:r>
            <a:endParaRPr lang="en-US" sz="2000" dirty="0"/>
          </a:p>
        </p:txBody>
      </p:sp>
      <p:sp>
        <p:nvSpPr>
          <p:cNvPr id="42" name="Text 34"/>
          <p:cNvSpPr txBox="1"/>
          <p:nvPr/>
        </p:nvSpPr>
        <p:spPr>
          <a:xfrm>
            <a:off x="4800600" y="3474720"/>
            <a:ext cx="2743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E0E7FF"/>
                </a:solidFill>
              </a:rPr>
              <a:t>Unify &amp; de-duplicate accounts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E0E7FF"/>
                </a:solidFill>
              </a:rPr>
              <a:t>Enrich with signals &amp; firmographics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E0E7FF"/>
                </a:solidFill>
              </a:rPr>
              <a:t>Score every lead, rank every day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E0E7FF"/>
                </a:solidFill>
              </a:rPr>
              <a:t>Forecast revenue &amp; demand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E0E7FF"/>
                </a:solidFill>
              </a:rPr>
              <a:t>Sync every action back out</a:t>
            </a:r>
            <a:endParaRPr lang="en-US" sz="1250" dirty="0"/>
          </a:p>
        </p:txBody>
      </p:sp>
      <p:sp>
        <p:nvSpPr>
          <p:cNvPr id="43" name="Shape 35"/>
          <p:cNvSpPr/>
          <p:nvPr/>
        </p:nvSpPr>
        <p:spPr>
          <a:xfrm>
            <a:off x="8412480" y="1874520"/>
            <a:ext cx="3227832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44" name="Shape 36"/>
          <p:cNvSpPr/>
          <p:nvPr/>
        </p:nvSpPr>
        <p:spPr>
          <a:xfrm>
            <a:off x="8549640" y="1984248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45" name="Image 6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38154" y="2072762"/>
            <a:ext cx="225308" cy="225308"/>
          </a:xfrm>
          <a:prstGeom prst="rect">
            <a:avLst/>
          </a:prstGeom>
        </p:spPr>
      </p:pic>
      <p:sp>
        <p:nvSpPr>
          <p:cNvPr id="46" name="Text 37"/>
          <p:cNvSpPr txBox="1"/>
          <p:nvPr/>
        </p:nvSpPr>
        <p:spPr>
          <a:xfrm>
            <a:off x="9098280" y="1874520"/>
            <a:ext cx="22219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Dashboard &amp; KPIs</a:t>
            </a:r>
            <a:endParaRPr lang="en-US" sz="1300" dirty="0"/>
          </a:p>
        </p:txBody>
      </p:sp>
      <p:pic>
        <p:nvPicPr>
          <p:cNvPr id="47" name="Image 7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274552" y="2075688"/>
            <a:ext cx="219456" cy="219456"/>
          </a:xfrm>
          <a:prstGeom prst="rect">
            <a:avLst/>
          </a:prstGeom>
        </p:spPr>
      </p:pic>
      <p:sp>
        <p:nvSpPr>
          <p:cNvPr id="48" name="Shape 38"/>
          <p:cNvSpPr/>
          <p:nvPr/>
        </p:nvSpPr>
        <p:spPr>
          <a:xfrm>
            <a:off x="7726680" y="2185416"/>
            <a:ext cx="658368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</a:ln>
        </p:spPr>
      </p:sp>
      <p:sp>
        <p:nvSpPr>
          <p:cNvPr id="49" name="Shape 39"/>
          <p:cNvSpPr/>
          <p:nvPr/>
        </p:nvSpPr>
        <p:spPr>
          <a:xfrm>
            <a:off x="8412480" y="2628900"/>
            <a:ext cx="3227832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50" name="Shape 40"/>
          <p:cNvSpPr/>
          <p:nvPr/>
        </p:nvSpPr>
        <p:spPr>
          <a:xfrm>
            <a:off x="8549640" y="2738628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51" name="Image 8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638154" y="2827142"/>
            <a:ext cx="225308" cy="225308"/>
          </a:xfrm>
          <a:prstGeom prst="rect">
            <a:avLst/>
          </a:prstGeom>
        </p:spPr>
      </p:pic>
      <p:sp>
        <p:nvSpPr>
          <p:cNvPr id="52" name="Text 41"/>
          <p:cNvSpPr txBox="1"/>
          <p:nvPr/>
        </p:nvSpPr>
        <p:spPr>
          <a:xfrm>
            <a:off x="9098280" y="2628900"/>
            <a:ext cx="22219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Filtering &amp; segmentation</a:t>
            </a:r>
            <a:endParaRPr lang="en-US" sz="1300" dirty="0"/>
          </a:p>
        </p:txBody>
      </p:sp>
      <p:pic>
        <p:nvPicPr>
          <p:cNvPr id="53" name="Image 9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274552" y="2830068"/>
            <a:ext cx="219456" cy="219456"/>
          </a:xfrm>
          <a:prstGeom prst="rect">
            <a:avLst/>
          </a:prstGeom>
        </p:spPr>
      </p:pic>
      <p:sp>
        <p:nvSpPr>
          <p:cNvPr id="54" name="Shape 42"/>
          <p:cNvSpPr/>
          <p:nvPr/>
        </p:nvSpPr>
        <p:spPr>
          <a:xfrm>
            <a:off x="7726680" y="2939796"/>
            <a:ext cx="658368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</a:ln>
        </p:spPr>
      </p:sp>
      <p:sp>
        <p:nvSpPr>
          <p:cNvPr id="55" name="Shape 43"/>
          <p:cNvSpPr/>
          <p:nvPr/>
        </p:nvSpPr>
        <p:spPr>
          <a:xfrm>
            <a:off x="8412480" y="3383280"/>
            <a:ext cx="3227832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56" name="Shape 44"/>
          <p:cNvSpPr/>
          <p:nvPr/>
        </p:nvSpPr>
        <p:spPr>
          <a:xfrm>
            <a:off x="8549640" y="3493008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57" name="Image 10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638154" y="3581522"/>
            <a:ext cx="225308" cy="225308"/>
          </a:xfrm>
          <a:prstGeom prst="rect">
            <a:avLst/>
          </a:prstGeom>
        </p:spPr>
      </p:pic>
      <p:sp>
        <p:nvSpPr>
          <p:cNvPr id="58" name="Text 45"/>
          <p:cNvSpPr txBox="1"/>
          <p:nvPr/>
        </p:nvSpPr>
        <p:spPr>
          <a:xfrm>
            <a:off x="9098280" y="3383280"/>
            <a:ext cx="22219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Analytics &amp; forecasting</a:t>
            </a:r>
            <a:endParaRPr lang="en-US" sz="1300" dirty="0"/>
          </a:p>
        </p:txBody>
      </p:sp>
      <p:pic>
        <p:nvPicPr>
          <p:cNvPr id="59" name="Image 11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274552" y="3584448"/>
            <a:ext cx="219456" cy="219456"/>
          </a:xfrm>
          <a:prstGeom prst="rect">
            <a:avLst/>
          </a:prstGeom>
        </p:spPr>
      </p:pic>
      <p:sp>
        <p:nvSpPr>
          <p:cNvPr id="60" name="Shape 46"/>
          <p:cNvSpPr/>
          <p:nvPr/>
        </p:nvSpPr>
        <p:spPr>
          <a:xfrm>
            <a:off x="7726680" y="3694176"/>
            <a:ext cx="658368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</a:ln>
        </p:spPr>
      </p:sp>
      <p:sp>
        <p:nvSpPr>
          <p:cNvPr id="61" name="Shape 47"/>
          <p:cNvSpPr/>
          <p:nvPr/>
        </p:nvSpPr>
        <p:spPr>
          <a:xfrm>
            <a:off x="8412480" y="4137660"/>
            <a:ext cx="3227832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62" name="Shape 48"/>
          <p:cNvSpPr/>
          <p:nvPr/>
        </p:nvSpPr>
        <p:spPr>
          <a:xfrm>
            <a:off x="8549640" y="4247388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63" name="Image 12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638154" y="4335902"/>
            <a:ext cx="225308" cy="225308"/>
          </a:xfrm>
          <a:prstGeom prst="rect">
            <a:avLst/>
          </a:prstGeom>
        </p:spPr>
      </p:pic>
      <p:sp>
        <p:nvSpPr>
          <p:cNvPr id="64" name="Text 49"/>
          <p:cNvSpPr txBox="1"/>
          <p:nvPr/>
        </p:nvSpPr>
        <p:spPr>
          <a:xfrm>
            <a:off x="9098280" y="4137660"/>
            <a:ext cx="22219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Lead scoring &amp; next actions</a:t>
            </a:r>
            <a:endParaRPr lang="en-US" sz="1300" dirty="0"/>
          </a:p>
        </p:txBody>
      </p:sp>
      <p:pic>
        <p:nvPicPr>
          <p:cNvPr id="65" name="Image 13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1274552" y="4338828"/>
            <a:ext cx="219456" cy="219456"/>
          </a:xfrm>
          <a:prstGeom prst="rect">
            <a:avLst/>
          </a:prstGeom>
        </p:spPr>
      </p:pic>
      <p:sp>
        <p:nvSpPr>
          <p:cNvPr id="66" name="Shape 50"/>
          <p:cNvSpPr/>
          <p:nvPr/>
        </p:nvSpPr>
        <p:spPr>
          <a:xfrm>
            <a:off x="7726680" y="4448556"/>
            <a:ext cx="658368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</a:ln>
        </p:spPr>
      </p:sp>
      <p:sp>
        <p:nvSpPr>
          <p:cNvPr id="67" name="Shape 51"/>
          <p:cNvSpPr/>
          <p:nvPr/>
        </p:nvSpPr>
        <p:spPr>
          <a:xfrm>
            <a:off x="8412480" y="4892040"/>
            <a:ext cx="3227832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68" name="Shape 52"/>
          <p:cNvSpPr/>
          <p:nvPr/>
        </p:nvSpPr>
        <p:spPr>
          <a:xfrm>
            <a:off x="8549640" y="5001768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69" name="Image 14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638154" y="5090282"/>
            <a:ext cx="225308" cy="225308"/>
          </a:xfrm>
          <a:prstGeom prst="rect">
            <a:avLst/>
          </a:prstGeom>
        </p:spPr>
      </p:pic>
      <p:sp>
        <p:nvSpPr>
          <p:cNvPr id="70" name="Text 53"/>
          <p:cNvSpPr txBox="1"/>
          <p:nvPr/>
        </p:nvSpPr>
        <p:spPr>
          <a:xfrm>
            <a:off x="9098280" y="4892040"/>
            <a:ext cx="22219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Outreach &amp; two-way sync</a:t>
            </a:r>
            <a:endParaRPr lang="en-US" sz="1300" dirty="0"/>
          </a:p>
        </p:txBody>
      </p:sp>
      <p:pic>
        <p:nvPicPr>
          <p:cNvPr id="71" name="Image 15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1274552" y="5093208"/>
            <a:ext cx="219456" cy="219456"/>
          </a:xfrm>
          <a:prstGeom prst="rect">
            <a:avLst/>
          </a:prstGeom>
        </p:spPr>
      </p:pic>
      <p:sp>
        <p:nvSpPr>
          <p:cNvPr id="72" name="Shape 54"/>
          <p:cNvSpPr/>
          <p:nvPr/>
        </p:nvSpPr>
        <p:spPr>
          <a:xfrm>
            <a:off x="7726680" y="5202936"/>
            <a:ext cx="658368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</a:ln>
        </p:spPr>
      </p:sp>
      <p:sp>
        <p:nvSpPr>
          <p:cNvPr id="73" name="Text 55"/>
          <p:cNvSpPr txBox="1"/>
          <p:nvPr/>
        </p:nvSpPr>
        <p:spPr>
          <a:xfrm>
            <a:off x="548640" y="5760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Workflow cards link to the module slides.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How it works: four stages, one loop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Every stage feeds the next; every action your team takes feeds back into the score</a:t>
            </a:r>
            <a:endParaRPr lang="en-US" sz="1400" dirty="0"/>
          </a:p>
        </p:txBody>
      </p:sp>
      <p:sp>
        <p:nvSpPr>
          <p:cNvPr id="4" name="Text 2">
            <a:hlinkClick r:id="rId1" tooltip="Back to Navigator" action="ppaction://hlinksldjump"/>
          </p:cNvPr>
          <p:cNvSpPr txBox="1"/>
          <p:nvPr/>
        </p:nvSpPr>
        <p:spPr>
          <a:xfrm>
            <a:off x="8732520" y="475488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EBF2FF"/>
          </a:solidFill>
          <a:ln>
            <a:solidFill>
              <a:srgbClr val="EBF2FF"/>
            </a:solidFill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40AF"/>
                </a:solidFill>
              </a:rPr>
              <a:t>THE PLATFORM</a:t>
            </a:r>
            <a:endParaRPr lang="en-US" sz="9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20624"/>
            <a:ext cx="561353" cy="4206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991088" y="420624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Lead</a:t>
            </a:r>
            <a:pPr indent="0" marL="0">
              <a:buNone/>
            </a:pPr>
            <a:r>
              <a:rPr lang="en-US" sz="1700" b="1" dirty="0">
                <a:solidFill>
                  <a:srgbClr val="1D6FEB"/>
                </a:solidFill>
              </a:rPr>
              <a:t>Pilot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327648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1D6FEB"/>
          </a:solidFill>
          <a:ln>
            <a:solidFill>
              <a:srgbClr val="1D6FEB"/>
            </a:solidFill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⌂  Navigator</a:t>
            </a:r>
            <a:endParaRPr lang="en-US" sz="1000" dirty="0"/>
          </a:p>
        </p:txBody>
      </p:sp>
      <p:sp>
        <p:nvSpPr>
          <p:cNvPr id="8" name="Text 5">
            <a:hlinkClick r:id="rId4" tooltip="Previous: One workspace" action="ppaction://hlinksldjump"/>
          </p:cNvPr>
          <p:cNvSpPr txBox="1"/>
          <p:nvPr/>
        </p:nvSpPr>
        <p:spPr>
          <a:xfrm>
            <a:off x="1920240" y="6327648"/>
            <a:ext cx="1348740" cy="329184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</a:rPr>
              <a:t>←  One workspace</a:t>
            </a:r>
            <a:endParaRPr lang="en-US" sz="1000" dirty="0"/>
          </a:p>
        </p:txBody>
      </p:sp>
      <p:sp>
        <p:nvSpPr>
          <p:cNvPr id="9" name="Text 6">
            <a:hlinkClick r:id="rId5" tooltip="Next: Module map" action="ppaction://hlinksldjump"/>
          </p:cNvPr>
          <p:cNvSpPr txBox="1"/>
          <p:nvPr/>
        </p:nvSpPr>
        <p:spPr>
          <a:xfrm>
            <a:off x="3406140" y="6327648"/>
            <a:ext cx="1143000" cy="329184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</a:rPr>
              <a:t>Module map  →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0607040" y="6327648"/>
            <a:ext cx="1033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7 / 22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48640" y="1554480"/>
            <a:ext cx="2633472" cy="3429000"/>
          </a:xfrm>
          <a:prstGeom prst="roundRect">
            <a:avLst>
              <a:gd name="adj" fmla="val 3472"/>
            </a:avLst>
          </a:prstGeom>
          <a:solidFill>
            <a:srgbClr val="F0FDFA"/>
          </a:solidFill>
          <a:ln w="12700">
            <a:solidFill>
              <a:srgbClr val="F0FDFA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0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777240" y="17373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D9488"/>
                </a:solidFill>
              </a:rPr>
              <a:t>01</a:t>
            </a:r>
            <a:endParaRPr lang="en-US" sz="2800" dirty="0"/>
          </a:p>
        </p:txBody>
      </p:sp>
      <p:sp>
        <p:nvSpPr>
          <p:cNvPr id="13" name="Shape 10"/>
          <p:cNvSpPr/>
          <p:nvPr/>
        </p:nvSpPr>
        <p:spPr>
          <a:xfrm>
            <a:off x="2404872" y="1755648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25573" y="1876349"/>
            <a:ext cx="307238" cy="30723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77240" y="2286000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</a:rPr>
              <a:t>Discover</a:t>
            </a:r>
            <a:endParaRPr lang="en-US" sz="1900" dirty="0"/>
          </a:p>
        </p:txBody>
      </p:sp>
      <p:sp>
        <p:nvSpPr>
          <p:cNvPr id="16" name="Text 12"/>
          <p:cNvSpPr txBox="1"/>
          <p:nvPr/>
        </p:nvSpPr>
        <p:spPr>
          <a:xfrm>
            <a:off x="777240" y="2743200"/>
            <a:ext cx="222199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334155"/>
                </a:solidFill>
              </a:rPr>
              <a:t>Import dealer lists, Excel sales, ERP exports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334155"/>
                </a:solidFill>
              </a:rPr>
              <a:t>Crawl public portals &amp; market sources for new accounts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334155"/>
                </a:solidFill>
              </a:rPr>
              <a:t>Match &amp; de-duplicate into one golden record</a:t>
            </a:r>
            <a:endParaRPr lang="en-US" sz="12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45536" y="3131820"/>
            <a:ext cx="274320" cy="27432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3364992" y="1554480"/>
            <a:ext cx="2633472" cy="3429000"/>
          </a:xfrm>
          <a:prstGeom prst="roundRect">
            <a:avLst>
              <a:gd name="adj" fmla="val 3472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0000"/>
              </a:srgbClr>
            </a:outerShdw>
          </a:effectLst>
        </p:spPr>
      </p:sp>
      <p:sp>
        <p:nvSpPr>
          <p:cNvPr id="19" name="Text 14"/>
          <p:cNvSpPr txBox="1"/>
          <p:nvPr/>
        </p:nvSpPr>
        <p:spPr>
          <a:xfrm>
            <a:off x="3593592" y="17373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7C3AED"/>
                </a:solidFill>
              </a:rPr>
              <a:t>02</a:t>
            </a:r>
            <a:endParaRPr lang="en-US" sz="2800" dirty="0"/>
          </a:p>
        </p:txBody>
      </p:sp>
      <p:sp>
        <p:nvSpPr>
          <p:cNvPr id="20" name="Shape 15"/>
          <p:cNvSpPr/>
          <p:nvPr/>
        </p:nvSpPr>
        <p:spPr>
          <a:xfrm>
            <a:off x="5221224" y="1755648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41925" y="1876349"/>
            <a:ext cx="307238" cy="30723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3593592" y="2286000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</a:rPr>
              <a:t>Enrich &amp; Score</a:t>
            </a:r>
            <a:endParaRPr lang="en-US" sz="1900" dirty="0"/>
          </a:p>
        </p:txBody>
      </p:sp>
      <p:sp>
        <p:nvSpPr>
          <p:cNvPr id="23" name="Text 17"/>
          <p:cNvSpPr txBox="1"/>
          <p:nvPr/>
        </p:nvSpPr>
        <p:spPr>
          <a:xfrm>
            <a:off x="3593592" y="2743200"/>
            <a:ext cx="222199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334155"/>
                </a:solidFill>
              </a:rPr>
              <a:t>Add sector, region, size and contact completeness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334155"/>
                </a:solidFill>
              </a:rPr>
              <a:t>Combine engagement, purchase history and fit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334155"/>
                </a:solidFill>
              </a:rPr>
              <a:t>Produce a 0–100 score with a plain-language reason</a:t>
            </a:r>
            <a:endParaRPr lang="en-US" sz="120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61888" y="3131820"/>
            <a:ext cx="274320" cy="274320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6181344" y="1554480"/>
            <a:ext cx="2633472" cy="3429000"/>
          </a:xfrm>
          <a:prstGeom prst="roundRect">
            <a:avLst>
              <a:gd name="adj" fmla="val 3472"/>
            </a:avLst>
          </a:prstGeom>
          <a:solidFill>
            <a:srgbClr val="EBF2FF"/>
          </a:solidFill>
          <a:ln w="12700">
            <a:solidFill>
              <a:srgbClr val="EBF2FF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0000"/>
              </a:srgbClr>
            </a:outerShdw>
          </a:effectLst>
        </p:spPr>
      </p:sp>
      <p:sp>
        <p:nvSpPr>
          <p:cNvPr id="26" name="Text 19"/>
          <p:cNvSpPr txBox="1"/>
          <p:nvPr/>
        </p:nvSpPr>
        <p:spPr>
          <a:xfrm>
            <a:off x="6409944" y="17373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D6FEB"/>
                </a:solidFill>
              </a:rPr>
              <a:t>03</a:t>
            </a:r>
            <a:endParaRPr lang="en-US" sz="2800" dirty="0"/>
          </a:p>
        </p:txBody>
      </p:sp>
      <p:sp>
        <p:nvSpPr>
          <p:cNvPr id="27" name="Shape 20"/>
          <p:cNvSpPr/>
          <p:nvPr/>
        </p:nvSpPr>
        <p:spPr>
          <a:xfrm>
            <a:off x="8037576" y="1755648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1D6FEB"/>
          </a:solidFill>
          <a:ln w="12700">
            <a:solidFill>
              <a:srgbClr val="1D6FEB"/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58277" y="1876349"/>
            <a:ext cx="307238" cy="307238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6409944" y="2286000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</a:rPr>
              <a:t>Decide</a:t>
            </a:r>
            <a:endParaRPr lang="en-US" sz="1900" dirty="0"/>
          </a:p>
        </p:txBody>
      </p:sp>
      <p:sp>
        <p:nvSpPr>
          <p:cNvPr id="30" name="Text 22"/>
          <p:cNvSpPr txBox="1"/>
          <p:nvPr/>
        </p:nvSpPr>
        <p:spPr>
          <a:xfrm>
            <a:off x="6409944" y="2743200"/>
            <a:ext cx="222199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334155"/>
                </a:solidFill>
              </a:rPr>
              <a:t>Trends by country, product and month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334155"/>
                </a:solidFill>
              </a:rPr>
              <a:t>3-month forecast of revenue &amp; quantity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334155"/>
                </a:solidFill>
              </a:rPr>
              <a:t>Alerts: rising, slipping, cross-sell, leakage</a:t>
            </a:r>
            <a:endParaRPr lang="en-US" sz="1200" dirty="0"/>
          </a:p>
        </p:txBody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78240" y="3131820"/>
            <a:ext cx="274320" cy="274320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8997696" y="1554480"/>
            <a:ext cx="2633472" cy="3429000"/>
          </a:xfrm>
          <a:prstGeom prst="roundRect">
            <a:avLst>
              <a:gd name="adj" fmla="val 3472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0000"/>
              </a:srgbClr>
            </a:outerShdw>
          </a:effectLst>
        </p:spPr>
      </p:sp>
      <p:sp>
        <p:nvSpPr>
          <p:cNvPr id="33" name="Text 24"/>
          <p:cNvSpPr txBox="1"/>
          <p:nvPr/>
        </p:nvSpPr>
        <p:spPr>
          <a:xfrm>
            <a:off x="9226296" y="17373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</a:rPr>
              <a:t>04</a:t>
            </a:r>
            <a:endParaRPr lang="en-US" sz="2800" dirty="0"/>
          </a:p>
        </p:txBody>
      </p:sp>
      <p:sp>
        <p:nvSpPr>
          <p:cNvPr id="34" name="Shape 25"/>
          <p:cNvSpPr/>
          <p:nvPr/>
        </p:nvSpPr>
        <p:spPr>
          <a:xfrm>
            <a:off x="10853928" y="1755648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974629" y="1876349"/>
            <a:ext cx="307238" cy="307238"/>
          </a:xfrm>
          <a:prstGeom prst="rect">
            <a:avLst/>
          </a:prstGeom>
        </p:spPr>
      </p:pic>
      <p:sp>
        <p:nvSpPr>
          <p:cNvPr id="36" name="Text 26"/>
          <p:cNvSpPr txBox="1"/>
          <p:nvPr/>
        </p:nvSpPr>
        <p:spPr>
          <a:xfrm>
            <a:off x="9226296" y="2286000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</a:rPr>
              <a:t>Sync &amp; Act</a:t>
            </a:r>
            <a:endParaRPr lang="en-US" sz="1900" dirty="0"/>
          </a:p>
        </p:txBody>
      </p:sp>
      <p:sp>
        <p:nvSpPr>
          <p:cNvPr id="37" name="Text 27"/>
          <p:cNvSpPr txBox="1"/>
          <p:nvPr/>
        </p:nvSpPr>
        <p:spPr>
          <a:xfrm>
            <a:off x="9226296" y="2743200"/>
            <a:ext cx="222199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334155"/>
                </a:solidFill>
              </a:rPr>
              <a:t>Ranked call list and sequences per rep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334155"/>
                </a:solidFill>
              </a:rPr>
              <a:t>One-click email, WhatsApp, call, meeting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334155"/>
                </a:solidFill>
              </a:rPr>
              <a:t>Every touch written back to CRM / ERP</a:t>
            </a:r>
            <a:endParaRPr lang="en-US" sz="1200" dirty="0"/>
          </a:p>
        </p:txBody>
      </p:sp>
      <p:sp>
        <p:nvSpPr>
          <p:cNvPr id="38" name="Shape 28"/>
          <p:cNvSpPr/>
          <p:nvPr/>
        </p:nvSpPr>
        <p:spPr>
          <a:xfrm>
            <a:off x="548640" y="5212080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39" name="Shape 29"/>
          <p:cNvSpPr/>
          <p:nvPr/>
        </p:nvSpPr>
        <p:spPr>
          <a:xfrm>
            <a:off x="777240" y="5376672"/>
            <a:ext cx="530352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0" name="Image 8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93917" y="5493349"/>
            <a:ext cx="296997" cy="296997"/>
          </a:xfrm>
          <a:prstGeom prst="rect">
            <a:avLst/>
          </a:prstGeom>
        </p:spPr>
      </p:pic>
      <p:sp>
        <p:nvSpPr>
          <p:cNvPr id="41" name="Text 30"/>
          <p:cNvSpPr txBox="1"/>
          <p:nvPr/>
        </p:nvSpPr>
        <p:spPr>
          <a:xfrm>
            <a:off x="1508760" y="5303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Closed loop, human in control</a:t>
            </a:r>
            <a:endParaRPr lang="en-US" sz="1400" dirty="0"/>
          </a:p>
        </p:txBody>
      </p:sp>
      <p:sp>
        <p:nvSpPr>
          <p:cNvPr id="42" name="Text 31"/>
          <p:cNvSpPr txBox="1"/>
          <p:nvPr/>
        </p:nvSpPr>
        <p:spPr>
          <a:xfrm>
            <a:off x="1508760" y="559612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7D2FE"/>
                </a:solidFill>
              </a:rPr>
              <a:t>Replies, orders and lost deals flow back into the score, so the ranking gets sharper every week. Every recommendation shows its evidence and source; your team makes the call.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Eight modules, one login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Everything a sales team needs between “who exists” and “what happened” — each card links to its detail slide where one exists</a:t>
            </a:r>
            <a:endParaRPr lang="en-US" sz="1400" dirty="0"/>
          </a:p>
        </p:txBody>
      </p:sp>
      <p:sp>
        <p:nvSpPr>
          <p:cNvPr id="4" name="Text 2">
            <a:hlinkClick r:id="rId1" tooltip="Back to Navigator" action="ppaction://hlinksldjump"/>
          </p:cNvPr>
          <p:cNvSpPr txBox="1"/>
          <p:nvPr/>
        </p:nvSpPr>
        <p:spPr>
          <a:xfrm>
            <a:off x="8732520" y="475488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EBF2FF"/>
          </a:solidFill>
          <a:ln>
            <a:solidFill>
              <a:srgbClr val="EBF2FF"/>
            </a:solidFill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40AF"/>
                </a:solidFill>
              </a:rPr>
              <a:t>MODULES</a:t>
            </a:r>
            <a:endParaRPr lang="en-US" sz="9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20624"/>
            <a:ext cx="561353" cy="4206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991088" y="420624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Lead</a:t>
            </a:r>
            <a:pPr indent="0" marL="0">
              <a:buNone/>
            </a:pPr>
            <a:r>
              <a:rPr lang="en-US" sz="1700" b="1" dirty="0">
                <a:solidFill>
                  <a:srgbClr val="1D6FEB"/>
                </a:solidFill>
              </a:rPr>
              <a:t>Pilot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327648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1D6FEB"/>
          </a:solidFill>
          <a:ln>
            <a:solidFill>
              <a:srgbClr val="1D6FEB"/>
            </a:solidFill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⌂  Navigator</a:t>
            </a:r>
            <a:endParaRPr lang="en-US" sz="1000" dirty="0"/>
          </a:p>
        </p:txBody>
      </p:sp>
      <p:sp>
        <p:nvSpPr>
          <p:cNvPr id="8" name="Text 5">
            <a:hlinkClick r:id="rId4" tooltip="Previous: How it works" action="ppaction://hlinksldjump"/>
          </p:cNvPr>
          <p:cNvSpPr txBox="1"/>
          <p:nvPr/>
        </p:nvSpPr>
        <p:spPr>
          <a:xfrm>
            <a:off x="1920240" y="6327648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</a:rPr>
              <a:t>←  How it works</a:t>
            </a:r>
            <a:endParaRPr lang="en-US" sz="1000" dirty="0"/>
          </a:p>
        </p:txBody>
      </p:sp>
      <p:sp>
        <p:nvSpPr>
          <p:cNvPr id="9" name="Text 6">
            <a:hlinkClick r:id="rId5" tooltip="Next: Segmentation" action="ppaction://hlinksldjump"/>
          </p:cNvPr>
          <p:cNvSpPr txBox="1"/>
          <p:nvPr/>
        </p:nvSpPr>
        <p:spPr>
          <a:xfrm>
            <a:off x="3337560" y="6327648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</a:rPr>
              <a:t>Segmentation  →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0607040" y="6327648"/>
            <a:ext cx="1033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8 / 22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48640" y="1508760"/>
            <a:ext cx="2651760" cy="2057400"/>
          </a:xfrm>
          <a:prstGeom prst="roundRect">
            <a:avLst>
              <a:gd name="adj" fmla="val 4444"/>
            </a:avLst>
          </a:prstGeom>
          <a:solidFill>
            <a:srgbClr val="EBF2FF"/>
          </a:solidFill>
          <a:ln w="12700">
            <a:solidFill>
              <a:srgbClr val="EBF2FF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49808" y="1709928"/>
            <a:ext cx="512064" cy="512064"/>
          </a:xfrm>
          <a:prstGeom prst="roundRect">
            <a:avLst>
              <a:gd name="adj" fmla="val 22000"/>
            </a:avLst>
          </a:prstGeom>
          <a:solidFill>
            <a:srgbClr val="1D6FEB"/>
          </a:solidFill>
          <a:ln w="12700">
            <a:solidFill>
              <a:srgbClr val="1D6FEB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2462" y="1822582"/>
            <a:ext cx="286756" cy="28675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371600" y="1709928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Dashboard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749808" y="3182112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D6FEB"/>
                </a:solidFill>
              </a:rPr>
              <a:t>Home screen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749808" y="2350008"/>
            <a:ext cx="22494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34155"/>
                </a:solidFill>
              </a:rPr>
              <a:t>KPIs for total / active dealers, countries, regions and messages, plus recent activity and today’s call list.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3362249" y="1508760"/>
            <a:ext cx="2651760" cy="2057400"/>
          </a:xfrm>
          <a:prstGeom prst="roundRect">
            <a:avLst>
              <a:gd name="adj" fmla="val 4444"/>
            </a:avLst>
          </a:prstGeom>
          <a:solidFill>
            <a:srgbClr val="F0FDFA"/>
          </a:solidFill>
          <a:ln w="12700">
            <a:solidFill>
              <a:srgbClr val="F0FDFA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563417" y="1709928"/>
            <a:ext cx="512064" cy="512064"/>
          </a:xfrm>
          <a:prstGeom prst="roundRect">
            <a:avLst>
              <a:gd name="adj" fmla="val 22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76071" y="1822582"/>
            <a:ext cx="286756" cy="286756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4185209" y="1709928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Leads &amp; Accounts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3563417" y="3182112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Slide 9  →</a:t>
            </a:r>
            <a:endParaRPr lang="en-US" sz="1000" dirty="0"/>
          </a:p>
        </p:txBody>
      </p:sp>
      <p:sp>
        <p:nvSpPr>
          <p:cNvPr id="22" name="Text 17"/>
          <p:cNvSpPr txBox="1"/>
          <p:nvPr/>
        </p:nvSpPr>
        <p:spPr>
          <a:xfrm>
            <a:off x="3563417" y="2350008"/>
            <a:ext cx="22494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34155"/>
                </a:solidFill>
              </a:rPr>
              <a:t>Search and filter accounts, open rich profiles, review products, contacts, verification date and full history.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6175858" y="1508760"/>
            <a:ext cx="2651760" cy="2057400"/>
          </a:xfrm>
          <a:prstGeom prst="roundRect">
            <a:avLst>
              <a:gd name="adj" fmla="val 4444"/>
            </a:avLst>
          </a:prstGeom>
          <a:solidFill>
            <a:srgbClr val="F0F9FF"/>
          </a:solidFill>
          <a:ln w="12700">
            <a:solidFill>
              <a:srgbClr val="F0F9FF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377026" y="1709928"/>
            <a:ext cx="512064" cy="512064"/>
          </a:xfrm>
          <a:prstGeom prst="roundRect">
            <a:avLst>
              <a:gd name="adj" fmla="val 22000"/>
            </a:avLst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89680" y="1822582"/>
            <a:ext cx="286756" cy="28675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6998818" y="1709928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Segmentation</a:t>
            </a:r>
            <a:endParaRPr lang="en-US" sz="1500" dirty="0"/>
          </a:p>
        </p:txBody>
      </p:sp>
      <p:sp>
        <p:nvSpPr>
          <p:cNvPr id="27" name="Text 21"/>
          <p:cNvSpPr txBox="1"/>
          <p:nvPr/>
        </p:nvSpPr>
        <p:spPr>
          <a:xfrm>
            <a:off x="6377026" y="3182112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284C7"/>
                </a:solidFill>
              </a:rPr>
              <a:t>Slide 9  →</a:t>
            </a:r>
            <a:endParaRPr lang="en-US" sz="1000" dirty="0"/>
          </a:p>
        </p:txBody>
      </p:sp>
      <p:sp>
        <p:nvSpPr>
          <p:cNvPr id="28" name="Text 22"/>
          <p:cNvSpPr txBox="1"/>
          <p:nvPr/>
        </p:nvSpPr>
        <p:spPr>
          <a:xfrm>
            <a:off x="6377026" y="2350008"/>
            <a:ext cx="22494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34155"/>
                </a:solidFill>
              </a:rPr>
              <a:t>Cascading Country → Region and Sector → Sub-sector filters, status and dealer type, with live facet counts.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8989466" y="1508760"/>
            <a:ext cx="2651760" cy="2057400"/>
          </a:xfrm>
          <a:prstGeom prst="roundRect">
            <a:avLst>
              <a:gd name="adj" fmla="val 4444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0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9190634" y="1709928"/>
            <a:ext cx="512064" cy="512064"/>
          </a:xfrm>
          <a:prstGeom prst="roundRect">
            <a:avLst>
              <a:gd name="adj" fmla="val 22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303288" y="1822582"/>
            <a:ext cx="286756" cy="286756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9812426" y="1709928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Lead Scoring</a:t>
            </a:r>
            <a:endParaRPr lang="en-US" sz="1500" dirty="0"/>
          </a:p>
        </p:txBody>
      </p:sp>
      <p:sp>
        <p:nvSpPr>
          <p:cNvPr id="33" name="Text 26"/>
          <p:cNvSpPr txBox="1"/>
          <p:nvPr/>
        </p:nvSpPr>
        <p:spPr>
          <a:xfrm>
            <a:off x="9190634" y="3182112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Slide 10  →</a:t>
            </a:r>
            <a:endParaRPr lang="en-US" sz="1000" dirty="0"/>
          </a:p>
        </p:txBody>
      </p:sp>
      <p:sp>
        <p:nvSpPr>
          <p:cNvPr id="34" name="Text 27"/>
          <p:cNvSpPr txBox="1"/>
          <p:nvPr/>
        </p:nvSpPr>
        <p:spPr>
          <a:xfrm>
            <a:off x="9190634" y="2350008"/>
            <a:ext cx="22494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34155"/>
                </a:solidFill>
              </a:rPr>
              <a:t>0–100 score from engagement, purchase history, fit and recency; Hot / Warm / Nurture bands with reasons.</a:t>
            </a:r>
            <a:endParaRPr lang="en-US" sz="1150" dirty="0"/>
          </a:p>
        </p:txBody>
      </p:sp>
      <p:sp>
        <p:nvSpPr>
          <p:cNvPr id="35" name="Shape 28"/>
          <p:cNvSpPr/>
          <p:nvPr/>
        </p:nvSpPr>
        <p:spPr>
          <a:xfrm>
            <a:off x="548640" y="3749040"/>
            <a:ext cx="2651760" cy="2057400"/>
          </a:xfrm>
          <a:prstGeom prst="roundRect">
            <a:avLst>
              <a:gd name="adj" fmla="val 4444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0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749808" y="3950208"/>
            <a:ext cx="512064" cy="512064"/>
          </a:xfrm>
          <a:prstGeom prst="roundRect">
            <a:avLst>
              <a:gd name="adj" fmla="val 22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62462" y="4062862"/>
            <a:ext cx="286756" cy="286756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1371600" y="3950208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Sales Analytics</a:t>
            </a:r>
            <a:endParaRPr lang="en-US" sz="1500" dirty="0"/>
          </a:p>
        </p:txBody>
      </p:sp>
      <p:sp>
        <p:nvSpPr>
          <p:cNvPr id="39" name="Text 31"/>
          <p:cNvSpPr txBox="1"/>
          <p:nvPr/>
        </p:nvSpPr>
        <p:spPr>
          <a:xfrm>
            <a:off x="749808" y="5422392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Slide 11  →</a:t>
            </a:r>
            <a:endParaRPr lang="en-US" sz="1000" dirty="0"/>
          </a:p>
        </p:txBody>
      </p:sp>
      <p:sp>
        <p:nvSpPr>
          <p:cNvPr id="40" name="Text 32"/>
          <p:cNvSpPr txBox="1"/>
          <p:nvPr/>
        </p:nvSpPr>
        <p:spPr>
          <a:xfrm>
            <a:off x="749808" y="4590288"/>
            <a:ext cx="22494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34155"/>
                </a:solidFill>
              </a:rPr>
              <a:t>Upload sales data; totals and trends by country, product and month; multi-currency aware.</a:t>
            </a:r>
            <a:endParaRPr lang="en-US" sz="1150" dirty="0"/>
          </a:p>
        </p:txBody>
      </p:sp>
      <p:sp>
        <p:nvSpPr>
          <p:cNvPr id="41" name="Shape 33"/>
          <p:cNvSpPr/>
          <p:nvPr/>
        </p:nvSpPr>
        <p:spPr>
          <a:xfrm>
            <a:off x="3362249" y="3749040"/>
            <a:ext cx="2651760" cy="2057400"/>
          </a:xfrm>
          <a:prstGeom prst="roundRect">
            <a:avLst>
              <a:gd name="adj" fmla="val 4444"/>
            </a:avLst>
          </a:prstGeom>
          <a:solidFill>
            <a:srgbClr val="EBF2FF"/>
          </a:solidFill>
          <a:ln w="12700">
            <a:solidFill>
              <a:srgbClr val="EBF2FF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0000"/>
              </a:srgbClr>
            </a:outerShdw>
          </a:effectLst>
        </p:spPr>
      </p:sp>
      <p:sp>
        <p:nvSpPr>
          <p:cNvPr id="42" name="Shape 34"/>
          <p:cNvSpPr/>
          <p:nvPr/>
        </p:nvSpPr>
        <p:spPr>
          <a:xfrm>
            <a:off x="3563417" y="3950208"/>
            <a:ext cx="512064" cy="512064"/>
          </a:xfrm>
          <a:prstGeom prst="roundRect">
            <a:avLst>
              <a:gd name="adj" fmla="val 22000"/>
            </a:avLst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pic>
        <p:nvPicPr>
          <p:cNvPr id="43" name="Image 6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676071" y="4062862"/>
            <a:ext cx="286756" cy="286756"/>
          </a:xfrm>
          <a:prstGeom prst="rect">
            <a:avLst/>
          </a:prstGeom>
        </p:spPr>
      </p:pic>
      <p:sp>
        <p:nvSpPr>
          <p:cNvPr id="44" name="Text 35"/>
          <p:cNvSpPr txBox="1"/>
          <p:nvPr/>
        </p:nvSpPr>
        <p:spPr>
          <a:xfrm>
            <a:off x="4185209" y="3950208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AI Forecast</a:t>
            </a:r>
            <a:endParaRPr lang="en-US" sz="1500" dirty="0"/>
          </a:p>
        </p:txBody>
      </p:sp>
      <p:sp>
        <p:nvSpPr>
          <p:cNvPr id="45" name="Text 36"/>
          <p:cNvSpPr txBox="1"/>
          <p:nvPr/>
        </p:nvSpPr>
        <p:spPr>
          <a:xfrm>
            <a:off x="3563417" y="5422392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40AF"/>
                </a:solidFill>
              </a:rPr>
              <a:t>Slide 11  →</a:t>
            </a:r>
            <a:endParaRPr lang="en-US" sz="1000" dirty="0"/>
          </a:p>
        </p:txBody>
      </p:sp>
      <p:sp>
        <p:nvSpPr>
          <p:cNvPr id="46" name="Text 37"/>
          <p:cNvSpPr txBox="1"/>
          <p:nvPr/>
        </p:nvSpPr>
        <p:spPr>
          <a:xfrm>
            <a:off x="3563417" y="4590288"/>
            <a:ext cx="22494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34155"/>
                </a:solidFill>
              </a:rPr>
              <a:t>3-month projection of revenue and quantity from historical-trend regression, with direction and % change.</a:t>
            </a:r>
            <a:endParaRPr lang="en-US" sz="1150" dirty="0"/>
          </a:p>
        </p:txBody>
      </p:sp>
      <p:sp>
        <p:nvSpPr>
          <p:cNvPr id="47" name="Shape 38"/>
          <p:cNvSpPr/>
          <p:nvPr/>
        </p:nvSpPr>
        <p:spPr>
          <a:xfrm>
            <a:off x="6175858" y="3749040"/>
            <a:ext cx="2651760" cy="2057400"/>
          </a:xfrm>
          <a:prstGeom prst="roundRect">
            <a:avLst>
              <a:gd name="adj" fmla="val 4444"/>
            </a:avLst>
          </a:prstGeom>
          <a:solidFill>
            <a:srgbClr val="FFF1F2"/>
          </a:solidFill>
          <a:ln w="12700">
            <a:solidFill>
              <a:srgbClr val="FFF1F2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0000"/>
              </a:srgbClr>
            </a:outerShdw>
          </a:effectLst>
        </p:spPr>
      </p:sp>
      <p:sp>
        <p:nvSpPr>
          <p:cNvPr id="48" name="Shape 39"/>
          <p:cNvSpPr/>
          <p:nvPr/>
        </p:nvSpPr>
        <p:spPr>
          <a:xfrm>
            <a:off x="6377026" y="3950208"/>
            <a:ext cx="512064" cy="512064"/>
          </a:xfrm>
          <a:prstGeom prst="roundRect">
            <a:avLst>
              <a:gd name="adj" fmla="val 22000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pic>
        <p:nvPicPr>
          <p:cNvPr id="49" name="Image 7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489680" y="4062862"/>
            <a:ext cx="286756" cy="286756"/>
          </a:xfrm>
          <a:prstGeom prst="rect">
            <a:avLst/>
          </a:prstGeom>
        </p:spPr>
      </p:pic>
      <p:sp>
        <p:nvSpPr>
          <p:cNvPr id="50" name="Text 40"/>
          <p:cNvSpPr txBox="1"/>
          <p:nvPr/>
        </p:nvSpPr>
        <p:spPr>
          <a:xfrm>
            <a:off x="6998818" y="3950208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Outreach</a:t>
            </a:r>
            <a:endParaRPr lang="en-US" sz="1500" dirty="0"/>
          </a:p>
        </p:txBody>
      </p:sp>
      <p:sp>
        <p:nvSpPr>
          <p:cNvPr id="51" name="Text 41"/>
          <p:cNvSpPr txBox="1"/>
          <p:nvPr/>
        </p:nvSpPr>
        <p:spPr>
          <a:xfrm>
            <a:off x="6377026" y="5422392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11D48"/>
                </a:solidFill>
              </a:rPr>
              <a:t>Slide 14  →</a:t>
            </a:r>
            <a:endParaRPr lang="en-US" sz="1000" dirty="0"/>
          </a:p>
        </p:txBody>
      </p:sp>
      <p:sp>
        <p:nvSpPr>
          <p:cNvPr id="52" name="Text 42"/>
          <p:cNvSpPr txBox="1"/>
          <p:nvPr/>
        </p:nvSpPr>
        <p:spPr>
          <a:xfrm>
            <a:off x="6377026" y="4590288"/>
            <a:ext cx="22494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34155"/>
                </a:solidFill>
              </a:rPr>
              <a:t>Log and send Email / WhatsApp / Call / Meeting per account; sequences, templates and send-and-track status.</a:t>
            </a:r>
            <a:endParaRPr lang="en-US" sz="1150" dirty="0"/>
          </a:p>
        </p:txBody>
      </p:sp>
      <p:sp>
        <p:nvSpPr>
          <p:cNvPr id="53" name="Shape 43"/>
          <p:cNvSpPr/>
          <p:nvPr/>
        </p:nvSpPr>
        <p:spPr>
          <a:xfrm>
            <a:off x="8989466" y="3749040"/>
            <a:ext cx="2651760" cy="2057400"/>
          </a:xfrm>
          <a:prstGeom prst="roundRect">
            <a:avLst>
              <a:gd name="adj" fmla="val 4444"/>
            </a:avLst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0000"/>
              </a:srgbClr>
            </a:outerShdw>
          </a:effectLst>
        </p:spPr>
      </p:sp>
      <p:sp>
        <p:nvSpPr>
          <p:cNvPr id="54" name="Shape 44"/>
          <p:cNvSpPr/>
          <p:nvPr/>
        </p:nvSpPr>
        <p:spPr>
          <a:xfrm>
            <a:off x="9190634" y="3950208"/>
            <a:ext cx="512064" cy="512064"/>
          </a:xfrm>
          <a:prstGeom prst="roundRect">
            <a:avLst>
              <a:gd name="adj" fmla="val 22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55" name="Image 8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303288" y="4062862"/>
            <a:ext cx="286756" cy="286756"/>
          </a:xfrm>
          <a:prstGeom prst="rect">
            <a:avLst/>
          </a:prstGeom>
        </p:spPr>
      </p:pic>
      <p:sp>
        <p:nvSpPr>
          <p:cNvPr id="56" name="Text 45"/>
          <p:cNvSpPr txBox="1"/>
          <p:nvPr/>
        </p:nvSpPr>
        <p:spPr>
          <a:xfrm>
            <a:off x="9812426" y="3950208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Sync &amp; Integrations</a:t>
            </a:r>
            <a:endParaRPr lang="en-US" sz="1500" dirty="0"/>
          </a:p>
        </p:txBody>
      </p:sp>
      <p:sp>
        <p:nvSpPr>
          <p:cNvPr id="57" name="Text 46"/>
          <p:cNvSpPr txBox="1"/>
          <p:nvPr/>
        </p:nvSpPr>
        <p:spPr>
          <a:xfrm>
            <a:off x="9190634" y="5422392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Slide 15  →</a:t>
            </a:r>
            <a:endParaRPr lang="en-US" sz="1000" dirty="0"/>
          </a:p>
        </p:txBody>
      </p:sp>
      <p:sp>
        <p:nvSpPr>
          <p:cNvPr id="58" name="Text 47"/>
          <p:cNvSpPr txBox="1"/>
          <p:nvPr/>
        </p:nvSpPr>
        <p:spPr>
          <a:xfrm>
            <a:off x="9190634" y="4590288"/>
            <a:ext cx="22494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34155"/>
                </a:solidFill>
              </a:rPr>
              <a:t>Two-way sync with CRM, ERP / Tally, Excel, WhatsApp Business and mailbox; conflict rules and audit trail.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Lead targeting &amp; segmentation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A clear path from search to outreach — and the size of every segment before the team acts on it</a:t>
            </a:r>
            <a:endParaRPr lang="en-US" sz="1400" dirty="0"/>
          </a:p>
        </p:txBody>
      </p:sp>
      <p:sp>
        <p:nvSpPr>
          <p:cNvPr id="4" name="Text 2">
            <a:hlinkClick r:id="rId1" tooltip="Back to Navigator" action="ppaction://hlinksldjump"/>
          </p:cNvPr>
          <p:cNvSpPr txBox="1"/>
          <p:nvPr/>
        </p:nvSpPr>
        <p:spPr>
          <a:xfrm>
            <a:off x="8732520" y="475488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EBF2FF"/>
          </a:solidFill>
          <a:ln>
            <a:solidFill>
              <a:srgbClr val="EBF2FF"/>
            </a:solidFill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40AF"/>
                </a:solidFill>
              </a:rPr>
              <a:t>MODULES</a:t>
            </a:r>
            <a:endParaRPr lang="en-US" sz="9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20624"/>
            <a:ext cx="561353" cy="4206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991088" y="420624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Lead</a:t>
            </a:r>
            <a:pPr indent="0" marL="0">
              <a:buNone/>
            </a:pPr>
            <a:r>
              <a:rPr lang="en-US" sz="1700" b="1" dirty="0">
                <a:solidFill>
                  <a:srgbClr val="1D6FEB"/>
                </a:solidFill>
              </a:rPr>
              <a:t>Pilot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327648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1D6FEB"/>
          </a:solidFill>
          <a:ln>
            <a:solidFill>
              <a:srgbClr val="1D6FEB"/>
            </a:solidFill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⌂  Navigator</a:t>
            </a:r>
            <a:endParaRPr lang="en-US" sz="1000" dirty="0"/>
          </a:p>
        </p:txBody>
      </p:sp>
      <p:sp>
        <p:nvSpPr>
          <p:cNvPr id="8" name="Text 5">
            <a:hlinkClick r:id="rId4" tooltip="Previous: Module map" action="ppaction://hlinksldjump"/>
          </p:cNvPr>
          <p:cNvSpPr txBox="1"/>
          <p:nvPr/>
        </p:nvSpPr>
        <p:spPr>
          <a:xfrm>
            <a:off x="1920240" y="6327648"/>
            <a:ext cx="1143000" cy="329184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</a:rPr>
              <a:t>←  Module map</a:t>
            </a:r>
            <a:endParaRPr lang="en-US" sz="1000" dirty="0"/>
          </a:p>
        </p:txBody>
      </p:sp>
      <p:sp>
        <p:nvSpPr>
          <p:cNvPr id="9" name="Text 6">
            <a:hlinkClick r:id="rId5" tooltip="Next: Lead scoring" action="ppaction://hlinksldjump"/>
          </p:cNvPr>
          <p:cNvSpPr txBox="1"/>
          <p:nvPr/>
        </p:nvSpPr>
        <p:spPr>
          <a:xfrm>
            <a:off x="3200400" y="6327648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</a:rPr>
              <a:t>Lead scoring  →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0607040" y="6327648"/>
            <a:ext cx="1033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9 / 22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48640" y="1554480"/>
            <a:ext cx="5760720" cy="868680"/>
          </a:xfrm>
          <a:prstGeom prst="roundRect">
            <a:avLst>
              <a:gd name="adj" fmla="val 10526"/>
            </a:avLst>
          </a:prstGeom>
          <a:solidFill>
            <a:srgbClr val="EBF2FF"/>
          </a:solidFill>
          <a:ln w="12700">
            <a:solidFill>
              <a:srgbClr val="EBF2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1520" y="1554480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6FEB"/>
                </a:solidFill>
              </a:rPr>
              <a:t>01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1371600" y="176479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1D6FEB"/>
          </a:solidFill>
          <a:ln w="12700">
            <a:solidFill>
              <a:srgbClr val="1D6FEB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72184" y="1865376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2011680" y="168249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Search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2011680" y="1984248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Full-text search across dealer, company, city, contact and email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548640" y="2560320"/>
            <a:ext cx="57607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731520" y="2560320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6FEB"/>
                </a:solidFill>
              </a:rPr>
              <a:t>02</a:t>
            </a:r>
            <a:endParaRPr lang="en-US" sz="2400" dirty="0"/>
          </a:p>
        </p:txBody>
      </p:sp>
      <p:sp>
        <p:nvSpPr>
          <p:cNvPr id="19" name="Shape 15"/>
          <p:cNvSpPr/>
          <p:nvPr/>
        </p:nvSpPr>
        <p:spPr>
          <a:xfrm>
            <a:off x="1371600" y="277063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1D6FEB"/>
          </a:solidFill>
          <a:ln w="12700">
            <a:solidFill>
              <a:srgbClr val="1D6FEB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72184" y="2871216"/>
            <a:ext cx="256032" cy="256032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2011680" y="268833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Segment</a:t>
            </a:r>
            <a:endParaRPr lang="en-US" sz="1600" dirty="0"/>
          </a:p>
        </p:txBody>
      </p:sp>
      <p:sp>
        <p:nvSpPr>
          <p:cNvPr id="22" name="Text 17"/>
          <p:cNvSpPr txBox="1"/>
          <p:nvPr/>
        </p:nvSpPr>
        <p:spPr>
          <a:xfrm>
            <a:off x="2011680" y="2990088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Multi-select Country / Region, Sector / Sub-sector, Status and Dealer type — filters cascade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548640" y="3566160"/>
            <a:ext cx="5760720" cy="868680"/>
          </a:xfrm>
          <a:prstGeom prst="roundRect">
            <a:avLst>
              <a:gd name="adj" fmla="val 10526"/>
            </a:avLst>
          </a:prstGeom>
          <a:solidFill>
            <a:srgbClr val="EBF2FF"/>
          </a:solidFill>
          <a:ln w="12700">
            <a:solidFill>
              <a:srgbClr val="EBF2FF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731520" y="3566160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6FEB"/>
                </a:solidFill>
              </a:rPr>
              <a:t>03</a:t>
            </a:r>
            <a:endParaRPr lang="en-US" sz="2400" dirty="0"/>
          </a:p>
        </p:txBody>
      </p:sp>
      <p:sp>
        <p:nvSpPr>
          <p:cNvPr id="25" name="Shape 20"/>
          <p:cNvSpPr/>
          <p:nvPr/>
        </p:nvSpPr>
        <p:spPr>
          <a:xfrm>
            <a:off x="1371600" y="377647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1D6FEB"/>
          </a:solidFill>
          <a:ln w="12700">
            <a:solidFill>
              <a:srgbClr val="1D6FEB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72184" y="3877056"/>
            <a:ext cx="256032" cy="256032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2011680" y="369417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Review</a:t>
            </a:r>
            <a:endParaRPr lang="en-US" sz="1600" dirty="0"/>
          </a:p>
        </p:txBody>
      </p:sp>
      <p:sp>
        <p:nvSpPr>
          <p:cNvPr id="28" name="Text 22"/>
          <p:cNvSpPr txBox="1"/>
          <p:nvPr/>
        </p:nvSpPr>
        <p:spPr>
          <a:xfrm>
            <a:off x="2011680" y="3995928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Contact details, products, verification date and the full communication / activity timeline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548640" y="4572000"/>
            <a:ext cx="57607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731520" y="4572000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6FEB"/>
                </a:solidFill>
              </a:rPr>
              <a:t>04</a:t>
            </a:r>
            <a:endParaRPr lang="en-US" sz="2400" dirty="0"/>
          </a:p>
        </p:txBody>
      </p:sp>
      <p:sp>
        <p:nvSpPr>
          <p:cNvPr id="31" name="Shape 25"/>
          <p:cNvSpPr/>
          <p:nvPr/>
        </p:nvSpPr>
        <p:spPr>
          <a:xfrm>
            <a:off x="1371600" y="478231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1D6FEB"/>
          </a:solidFill>
          <a:ln w="12700">
            <a:solidFill>
              <a:srgbClr val="1D6FEB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72184" y="4882896"/>
            <a:ext cx="256032" cy="256032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2011680" y="470001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Reach out</a:t>
            </a:r>
            <a:endParaRPr lang="en-US" sz="1600" dirty="0"/>
          </a:p>
        </p:txBody>
      </p:sp>
      <p:sp>
        <p:nvSpPr>
          <p:cNvPr id="34" name="Text 27"/>
          <p:cNvSpPr txBox="1"/>
          <p:nvPr/>
        </p:nvSpPr>
        <p:spPr>
          <a:xfrm>
            <a:off x="2011680" y="5001768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One-click Email, WhatsApp or Call from the profile or straight from the list</a:t>
            </a:r>
            <a:endParaRPr lang="en-US" sz="1150" dirty="0"/>
          </a:p>
        </p:txBody>
      </p:sp>
      <p:sp>
        <p:nvSpPr>
          <p:cNvPr id="35" name="Shape 28"/>
          <p:cNvSpPr/>
          <p:nvPr/>
        </p:nvSpPr>
        <p:spPr>
          <a:xfrm>
            <a:off x="548640" y="5623560"/>
            <a:ext cx="5760720" cy="502920"/>
          </a:xfrm>
          <a:prstGeom prst="roundRect">
            <a:avLst>
              <a:gd name="adj" fmla="val 18182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3232" y="5742432"/>
            <a:ext cx="274320" cy="274320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1097280" y="562356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</a:rPr>
              <a:t>Faceted counts show each segment’s size before anyone picks up the phone — no more “filter, export, count in Excel”.</a:t>
            </a:r>
            <a:endParaRPr lang="en-US" sz="1100" dirty="0"/>
          </a:p>
        </p:txBody>
      </p:sp>
      <p:sp>
        <p:nvSpPr>
          <p:cNvPr id="38" name="Shape 30"/>
          <p:cNvSpPr/>
          <p:nvPr/>
        </p:nvSpPr>
        <p:spPr>
          <a:xfrm>
            <a:off x="6675120" y="1554480"/>
            <a:ext cx="4965192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0000"/>
              </a:srgbClr>
            </a:outerShdw>
          </a:effectLst>
        </p:spPr>
      </p:sp>
      <p:sp>
        <p:nvSpPr>
          <p:cNvPr id="39" name="Shape 31"/>
          <p:cNvSpPr/>
          <p:nvPr/>
        </p:nvSpPr>
        <p:spPr>
          <a:xfrm>
            <a:off x="6675120" y="1554480"/>
            <a:ext cx="4965192" cy="45720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40" name="Text 32"/>
          <p:cNvSpPr txBox="1"/>
          <p:nvPr/>
        </p:nvSpPr>
        <p:spPr>
          <a:xfrm>
            <a:off x="6858000" y="1554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</a:rPr>
              <a:t>Accounts  ·  filter panel</a:t>
            </a:r>
            <a:endParaRPr lang="en-US" sz="1100" dirty="0"/>
          </a:p>
        </p:txBody>
      </p:sp>
      <p:sp>
        <p:nvSpPr>
          <p:cNvPr id="41" name="Text 33"/>
          <p:cNvSpPr txBox="1"/>
          <p:nvPr/>
        </p:nvSpPr>
        <p:spPr>
          <a:xfrm>
            <a:off x="10543032" y="15544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</a:rPr>
              <a:t>ILLUSTRATIVE</a:t>
            </a:r>
            <a:endParaRPr lang="en-US" sz="800" dirty="0"/>
          </a:p>
        </p:txBody>
      </p:sp>
      <p:sp>
        <p:nvSpPr>
          <p:cNvPr id="42" name="Text 34"/>
          <p:cNvSpPr txBox="1"/>
          <p:nvPr/>
        </p:nvSpPr>
        <p:spPr>
          <a:xfrm>
            <a:off x="6858000" y="21945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Country → Region</a:t>
            </a:r>
            <a:endParaRPr lang="en-US" sz="1000" dirty="0"/>
          </a:p>
        </p:txBody>
      </p:sp>
      <p:sp>
        <p:nvSpPr>
          <p:cNvPr id="43" name="Text 35"/>
          <p:cNvSpPr txBox="1"/>
          <p:nvPr/>
        </p:nvSpPr>
        <p:spPr>
          <a:xfrm>
            <a:off x="6858000" y="2468880"/>
            <a:ext cx="921715" cy="27432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0" tIns="762" rIns="762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6FEB"/>
                </a:solidFill>
              </a:rPr>
              <a:t>India</a:t>
            </a:r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  1,284</a:t>
            </a:r>
            <a:endParaRPr lang="en-US" sz="950" dirty="0"/>
          </a:p>
        </p:txBody>
      </p:sp>
      <p:sp>
        <p:nvSpPr>
          <p:cNvPr id="44" name="Text 36"/>
          <p:cNvSpPr txBox="1"/>
          <p:nvPr/>
        </p:nvSpPr>
        <p:spPr>
          <a:xfrm>
            <a:off x="7852867" y="2468880"/>
            <a:ext cx="1155802" cy="27432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0" tIns="762" rIns="762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6FEB"/>
                </a:solidFill>
              </a:rPr>
              <a:t>West Bengal</a:t>
            </a:r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  412</a:t>
            </a:r>
            <a:endParaRPr lang="en-US" sz="950" dirty="0"/>
          </a:p>
        </p:txBody>
      </p:sp>
      <p:sp>
        <p:nvSpPr>
          <p:cNvPr id="45" name="Text 37"/>
          <p:cNvSpPr txBox="1"/>
          <p:nvPr/>
        </p:nvSpPr>
        <p:spPr>
          <a:xfrm>
            <a:off x="9081821" y="2468880"/>
            <a:ext cx="1038758" cy="27432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0" tIns="762" rIns="762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6FEB"/>
                </a:solidFill>
              </a:rPr>
              <a:t>Karnataka</a:t>
            </a:r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  306</a:t>
            </a:r>
            <a:endParaRPr lang="en-US" sz="950" dirty="0"/>
          </a:p>
        </p:txBody>
      </p:sp>
      <p:sp>
        <p:nvSpPr>
          <p:cNvPr id="46" name="Text 38"/>
          <p:cNvSpPr txBox="1"/>
          <p:nvPr/>
        </p:nvSpPr>
        <p:spPr>
          <a:xfrm>
            <a:off x="10193731" y="2468880"/>
            <a:ext cx="1155802" cy="27432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0" tIns="762" rIns="762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6FEB"/>
                </a:solidFill>
              </a:rPr>
              <a:t>Maharashtra</a:t>
            </a:r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  271</a:t>
            </a:r>
            <a:endParaRPr lang="en-US" sz="950" dirty="0"/>
          </a:p>
        </p:txBody>
      </p:sp>
      <p:sp>
        <p:nvSpPr>
          <p:cNvPr id="47" name="Text 39"/>
          <p:cNvSpPr txBox="1"/>
          <p:nvPr/>
        </p:nvSpPr>
        <p:spPr>
          <a:xfrm>
            <a:off x="6858000" y="29077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Sector → Sub-sector</a:t>
            </a:r>
            <a:endParaRPr lang="en-US" sz="1000" dirty="0"/>
          </a:p>
        </p:txBody>
      </p:sp>
      <p:sp>
        <p:nvSpPr>
          <p:cNvPr id="48" name="Text 40"/>
          <p:cNvSpPr txBox="1"/>
          <p:nvPr/>
        </p:nvSpPr>
        <p:spPr>
          <a:xfrm>
            <a:off x="6858000" y="3182112"/>
            <a:ext cx="1214323" cy="27432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0" tIns="762" rIns="762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Construction</a:t>
            </a:r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  538</a:t>
            </a:r>
            <a:endParaRPr lang="en-US" sz="950" dirty="0"/>
          </a:p>
        </p:txBody>
      </p:sp>
      <p:sp>
        <p:nvSpPr>
          <p:cNvPr id="49" name="Text 41"/>
          <p:cNvSpPr txBox="1"/>
          <p:nvPr/>
        </p:nvSpPr>
        <p:spPr>
          <a:xfrm>
            <a:off x="8145475" y="3182112"/>
            <a:ext cx="1214323" cy="27432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0" tIns="762" rIns="762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Cement &amp; RMC</a:t>
            </a:r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  142</a:t>
            </a:r>
            <a:endParaRPr lang="en-US" sz="950" dirty="0"/>
          </a:p>
        </p:txBody>
      </p:sp>
      <p:sp>
        <p:nvSpPr>
          <p:cNvPr id="50" name="Text 42"/>
          <p:cNvSpPr txBox="1"/>
          <p:nvPr/>
        </p:nvSpPr>
        <p:spPr>
          <a:xfrm>
            <a:off x="9432950" y="3182112"/>
            <a:ext cx="1155802" cy="27432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0" tIns="762" rIns="762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Steel &amp; TMT</a:t>
            </a:r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  119</a:t>
            </a:r>
            <a:endParaRPr lang="en-US" sz="950" dirty="0"/>
          </a:p>
        </p:txBody>
      </p:sp>
      <p:sp>
        <p:nvSpPr>
          <p:cNvPr id="51" name="Text 43"/>
          <p:cNvSpPr txBox="1"/>
          <p:nvPr/>
        </p:nvSpPr>
        <p:spPr>
          <a:xfrm>
            <a:off x="10661904" y="3182112"/>
            <a:ext cx="804672" cy="27432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0" tIns="762" rIns="762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Paints</a:t>
            </a:r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  87</a:t>
            </a:r>
            <a:endParaRPr lang="en-US" sz="950" dirty="0"/>
          </a:p>
        </p:txBody>
      </p:sp>
      <p:sp>
        <p:nvSpPr>
          <p:cNvPr id="52" name="Text 44"/>
          <p:cNvSpPr txBox="1"/>
          <p:nvPr/>
        </p:nvSpPr>
        <p:spPr>
          <a:xfrm>
            <a:off x="6858000" y="362102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Status</a:t>
            </a:r>
            <a:endParaRPr lang="en-US" sz="1000" dirty="0"/>
          </a:p>
        </p:txBody>
      </p:sp>
      <p:sp>
        <p:nvSpPr>
          <p:cNvPr id="53" name="Text 45"/>
          <p:cNvSpPr txBox="1"/>
          <p:nvPr/>
        </p:nvSpPr>
        <p:spPr>
          <a:xfrm>
            <a:off x="6858000" y="3895344"/>
            <a:ext cx="863194" cy="27432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0" tIns="762" rIns="762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A34A"/>
                </a:solidFill>
              </a:rPr>
              <a:t>Active</a:t>
            </a:r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  917</a:t>
            </a:r>
            <a:endParaRPr lang="en-US" sz="950" dirty="0"/>
          </a:p>
        </p:txBody>
      </p:sp>
      <p:sp>
        <p:nvSpPr>
          <p:cNvPr id="54" name="Text 46"/>
          <p:cNvSpPr txBox="1"/>
          <p:nvPr/>
        </p:nvSpPr>
        <p:spPr>
          <a:xfrm>
            <a:off x="7794346" y="3895344"/>
            <a:ext cx="980237" cy="27432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0" tIns="762" rIns="762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45309"/>
                </a:solidFill>
              </a:rPr>
              <a:t>Prospect</a:t>
            </a:r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  248</a:t>
            </a:r>
            <a:endParaRPr lang="en-US" sz="950" dirty="0"/>
          </a:p>
        </p:txBody>
      </p:sp>
      <p:sp>
        <p:nvSpPr>
          <p:cNvPr id="55" name="Text 47"/>
          <p:cNvSpPr txBox="1"/>
          <p:nvPr/>
        </p:nvSpPr>
        <p:spPr>
          <a:xfrm>
            <a:off x="8847734" y="3895344"/>
            <a:ext cx="921715" cy="27432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0" tIns="762" rIns="762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11D48"/>
                </a:solidFill>
              </a:rPr>
              <a:t>Dormant</a:t>
            </a:r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  119</a:t>
            </a:r>
            <a:endParaRPr lang="en-US" sz="950" dirty="0"/>
          </a:p>
        </p:txBody>
      </p:sp>
      <p:sp>
        <p:nvSpPr>
          <p:cNvPr id="56" name="Text 48"/>
          <p:cNvSpPr txBox="1"/>
          <p:nvPr/>
        </p:nvSpPr>
        <p:spPr>
          <a:xfrm>
            <a:off x="6858000" y="433425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Dealer type</a:t>
            </a:r>
            <a:endParaRPr lang="en-US" sz="1000" dirty="0"/>
          </a:p>
        </p:txBody>
      </p:sp>
      <p:sp>
        <p:nvSpPr>
          <p:cNvPr id="57" name="Text 49"/>
          <p:cNvSpPr txBox="1"/>
          <p:nvPr/>
        </p:nvSpPr>
        <p:spPr>
          <a:xfrm>
            <a:off x="6858000" y="4608576"/>
            <a:ext cx="1155802" cy="27432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0" tIns="762" rIns="762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3AED"/>
                </a:solidFill>
              </a:rPr>
              <a:t>Distributor</a:t>
            </a:r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  203</a:t>
            </a:r>
            <a:endParaRPr lang="en-US" sz="950" dirty="0"/>
          </a:p>
        </p:txBody>
      </p:sp>
      <p:sp>
        <p:nvSpPr>
          <p:cNvPr id="58" name="Text 50"/>
          <p:cNvSpPr txBox="1"/>
          <p:nvPr/>
        </p:nvSpPr>
        <p:spPr>
          <a:xfrm>
            <a:off x="8086954" y="4608576"/>
            <a:ext cx="980237" cy="27432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0" tIns="762" rIns="762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3AED"/>
                </a:solidFill>
              </a:rPr>
              <a:t>Retailer</a:t>
            </a:r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  741</a:t>
            </a:r>
            <a:endParaRPr lang="en-US" sz="950" dirty="0"/>
          </a:p>
        </p:txBody>
      </p:sp>
      <p:sp>
        <p:nvSpPr>
          <p:cNvPr id="59" name="Text 51"/>
          <p:cNvSpPr txBox="1"/>
          <p:nvPr/>
        </p:nvSpPr>
        <p:spPr>
          <a:xfrm>
            <a:off x="9140342" y="4608576"/>
            <a:ext cx="1272845" cy="27432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0" tIns="762" rIns="762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3AED"/>
                </a:solidFill>
              </a:rPr>
              <a:t>Project buyer</a:t>
            </a:r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  340</a:t>
            </a:r>
            <a:endParaRPr lang="en-US" sz="950" dirty="0"/>
          </a:p>
        </p:txBody>
      </p:sp>
      <p:sp>
        <p:nvSpPr>
          <p:cNvPr id="60" name="Shape 52"/>
          <p:cNvSpPr/>
          <p:nvPr/>
        </p:nvSpPr>
        <p:spPr>
          <a:xfrm>
            <a:off x="6858000" y="5257800"/>
            <a:ext cx="4599432" cy="640080"/>
          </a:xfrm>
          <a:prstGeom prst="roundRect">
            <a:avLst>
              <a:gd name="adj" fmla="val 14286"/>
            </a:avLst>
          </a:prstGeom>
          <a:solidFill>
            <a:srgbClr val="1D6FEB"/>
          </a:solidFill>
          <a:ln w="12700">
            <a:solidFill>
              <a:srgbClr val="1D6FEB"/>
            </a:solidFill>
            <a:prstDash val="solid"/>
          </a:ln>
        </p:spPr>
      </p:sp>
      <p:sp>
        <p:nvSpPr>
          <p:cNvPr id="61" name="Text 53"/>
          <p:cNvSpPr txBox="1"/>
          <p:nvPr/>
        </p:nvSpPr>
        <p:spPr>
          <a:xfrm>
            <a:off x="7040880" y="5257800"/>
            <a:ext cx="4233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Showing 412 accounts in West Bengal · Construction · Active</a:t>
            </a:r>
            <a:endParaRPr lang="en-US" sz="1100" dirty="0"/>
          </a:p>
        </p:txBody>
      </p:sp>
      <p:sp>
        <p:nvSpPr>
          <p:cNvPr id="62" name="Text 54"/>
          <p:cNvSpPr txBox="1"/>
          <p:nvPr/>
        </p:nvSpPr>
        <p:spPr>
          <a:xfrm>
            <a:off x="7040880" y="5577840"/>
            <a:ext cx="4233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7D2FE"/>
                </a:solidFill>
              </a:rPr>
              <a:t>Save as segment  ·  Start sequence  ·  Export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Lead scoring: from signals to a ranked list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Every account gets a 0–100 score, a band and a plain-language reason — weights are tuned to each client’s history</a:t>
            </a:r>
            <a:endParaRPr lang="en-US" sz="1400" dirty="0"/>
          </a:p>
        </p:txBody>
      </p:sp>
      <p:sp>
        <p:nvSpPr>
          <p:cNvPr id="4" name="Text 2">
            <a:hlinkClick r:id="rId1" tooltip="Back to Navigator" action="ppaction://hlinksldjump"/>
          </p:cNvPr>
          <p:cNvSpPr txBox="1"/>
          <p:nvPr/>
        </p:nvSpPr>
        <p:spPr>
          <a:xfrm>
            <a:off x="8732520" y="475488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EBF2FF"/>
          </a:solidFill>
          <a:ln>
            <a:solidFill>
              <a:srgbClr val="EBF2FF"/>
            </a:solidFill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40AF"/>
                </a:solidFill>
              </a:rPr>
              <a:t>MODULES</a:t>
            </a:r>
            <a:endParaRPr lang="en-US" sz="9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20624"/>
            <a:ext cx="561353" cy="4206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991088" y="420624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Lead</a:t>
            </a:r>
            <a:pPr indent="0" marL="0">
              <a:buNone/>
            </a:pPr>
            <a:r>
              <a:rPr lang="en-US" sz="1700" b="1" dirty="0">
                <a:solidFill>
                  <a:srgbClr val="1D6FEB"/>
                </a:solidFill>
              </a:rPr>
              <a:t>Pilot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327648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1D6FEB"/>
          </a:solidFill>
          <a:ln>
            <a:solidFill>
              <a:srgbClr val="1D6FEB"/>
            </a:solidFill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⌂  Navigator</a:t>
            </a:r>
            <a:endParaRPr lang="en-US" sz="1000" dirty="0"/>
          </a:p>
        </p:txBody>
      </p:sp>
      <p:sp>
        <p:nvSpPr>
          <p:cNvPr id="8" name="Text 5">
            <a:hlinkClick r:id="rId4" tooltip="Previous: Segmentation" action="ppaction://hlinksldjump"/>
          </p:cNvPr>
          <p:cNvSpPr txBox="1"/>
          <p:nvPr/>
        </p:nvSpPr>
        <p:spPr>
          <a:xfrm>
            <a:off x="1920240" y="6327648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</a:rPr>
              <a:t>←  Segmentation</a:t>
            </a:r>
            <a:endParaRPr lang="en-US" sz="1000" dirty="0"/>
          </a:p>
        </p:txBody>
      </p:sp>
      <p:sp>
        <p:nvSpPr>
          <p:cNvPr id="9" name="Text 6">
            <a:hlinkClick r:id="rId5" tooltip="Next: Analytics &amp; forecast" action="ppaction://hlinksldjump"/>
          </p:cNvPr>
          <p:cNvSpPr txBox="1"/>
          <p:nvPr/>
        </p:nvSpPr>
        <p:spPr>
          <a:xfrm>
            <a:off x="3337560" y="6327648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</a:rPr>
              <a:t>Analytics &amp; forecast  →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0607040" y="6327648"/>
            <a:ext cx="1033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10 / 22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1508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C3AED"/>
                </a:solidFill>
              </a:rPr>
              <a:t>SIGNALS &amp; DEFAULT WEIGHTS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48640" y="194767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" y="2048256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143000" y="1874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Engagement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1143000" y="21488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Replies, opens, meetings, response time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3383280" y="1911096"/>
            <a:ext cx="2011680" cy="21945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3383280" y="1911096"/>
            <a:ext cx="2011680" cy="21945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5486400" y="187452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</a:rPr>
              <a:t>30%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48640" y="267919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1D6FEB"/>
          </a:solidFill>
          <a:ln w="12700">
            <a:solidFill>
              <a:srgbClr val="1D6FEB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224" y="2779776"/>
            <a:ext cx="256032" cy="256032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143000" y="26060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Purchase history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1143000" y="28803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Recency, frequency, value, growth vs last period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3383280" y="2642616"/>
            <a:ext cx="2011680" cy="21945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3383280" y="2642616"/>
            <a:ext cx="1676400" cy="219456"/>
          </a:xfrm>
          <a:prstGeom prst="roundRect">
            <a:avLst>
              <a:gd name="adj" fmla="val 50000"/>
            </a:avLst>
          </a:prstGeom>
          <a:solidFill>
            <a:srgbClr val="1D6FEB"/>
          </a:solidFill>
          <a:ln w="12700">
            <a:solidFill>
              <a:srgbClr val="1D6FEB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5486400" y="260604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6FEB"/>
                </a:solidFill>
              </a:rPr>
              <a:t>25%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548640" y="341071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224" y="3511296"/>
            <a:ext cx="256032" cy="256032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1143000" y="3337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Firmographic fit</a:t>
            </a:r>
            <a:endParaRPr lang="en-US" sz="1300" dirty="0"/>
          </a:p>
        </p:txBody>
      </p:sp>
      <p:sp>
        <p:nvSpPr>
          <p:cNvPr id="29" name="Text 23"/>
          <p:cNvSpPr txBox="1"/>
          <p:nvPr/>
        </p:nvSpPr>
        <p:spPr>
          <a:xfrm>
            <a:off x="1143000" y="36118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Sector, sub-sector, size, dealer type vs best customers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3383280" y="3374136"/>
            <a:ext cx="2011680" cy="21945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3383280" y="3374136"/>
            <a:ext cx="1341120" cy="21945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5486400" y="333756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20%</a:t>
            </a:r>
            <a:endParaRPr lang="en-US" sz="1200" dirty="0"/>
          </a:p>
        </p:txBody>
      </p:sp>
      <p:sp>
        <p:nvSpPr>
          <p:cNvPr id="33" name="Shape 27"/>
          <p:cNvSpPr/>
          <p:nvPr/>
        </p:nvSpPr>
        <p:spPr>
          <a:xfrm>
            <a:off x="548640" y="414223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9224" y="4242816"/>
            <a:ext cx="256032" cy="256032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1143000" y="40690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Recency of activity</a:t>
            </a:r>
            <a:endParaRPr lang="en-US" sz="1300" dirty="0"/>
          </a:p>
        </p:txBody>
      </p:sp>
      <p:sp>
        <p:nvSpPr>
          <p:cNvPr id="36" name="Text 29"/>
          <p:cNvSpPr txBox="1"/>
          <p:nvPr/>
        </p:nvSpPr>
        <p:spPr>
          <a:xfrm>
            <a:off x="1143000" y="43434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Days since last touch or order</a:t>
            </a:r>
            <a:endParaRPr lang="en-US" sz="1000" dirty="0"/>
          </a:p>
        </p:txBody>
      </p:sp>
      <p:sp>
        <p:nvSpPr>
          <p:cNvPr id="37" name="Shape 30"/>
          <p:cNvSpPr/>
          <p:nvPr/>
        </p:nvSpPr>
        <p:spPr>
          <a:xfrm>
            <a:off x="3383280" y="4105656"/>
            <a:ext cx="2011680" cy="21945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3383280" y="4105656"/>
            <a:ext cx="1005840" cy="219456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2"/>
          <p:cNvSpPr txBox="1"/>
          <p:nvPr/>
        </p:nvSpPr>
        <p:spPr>
          <a:xfrm>
            <a:off x="5486400" y="406908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15%</a:t>
            </a:r>
            <a:endParaRPr lang="en-US" sz="1200" dirty="0"/>
          </a:p>
        </p:txBody>
      </p:sp>
      <p:sp>
        <p:nvSpPr>
          <p:cNvPr id="40" name="Shape 33"/>
          <p:cNvSpPr/>
          <p:nvPr/>
        </p:nvSpPr>
        <p:spPr>
          <a:xfrm>
            <a:off x="548640" y="487375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9224" y="4974336"/>
            <a:ext cx="256032" cy="256032"/>
          </a:xfrm>
          <a:prstGeom prst="rect">
            <a:avLst/>
          </a:prstGeom>
        </p:spPr>
      </p:pic>
      <p:sp>
        <p:nvSpPr>
          <p:cNvPr id="42" name="Text 34"/>
          <p:cNvSpPr txBox="1"/>
          <p:nvPr/>
        </p:nvSpPr>
        <p:spPr>
          <a:xfrm>
            <a:off x="1143000" y="48006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Territory potential</a:t>
            </a:r>
            <a:endParaRPr lang="en-US" sz="1300" dirty="0"/>
          </a:p>
        </p:txBody>
      </p:sp>
      <p:sp>
        <p:nvSpPr>
          <p:cNvPr id="43" name="Text 35"/>
          <p:cNvSpPr txBox="1"/>
          <p:nvPr/>
        </p:nvSpPr>
        <p:spPr>
          <a:xfrm>
            <a:off x="1143000" y="5074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Region sales density and growth</a:t>
            </a:r>
            <a:endParaRPr lang="en-US" sz="1000" dirty="0"/>
          </a:p>
        </p:txBody>
      </p:sp>
      <p:sp>
        <p:nvSpPr>
          <p:cNvPr id="44" name="Shape 36"/>
          <p:cNvSpPr/>
          <p:nvPr/>
        </p:nvSpPr>
        <p:spPr>
          <a:xfrm>
            <a:off x="3383280" y="4837176"/>
            <a:ext cx="2011680" cy="21945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5" name="Shape 37"/>
          <p:cNvSpPr/>
          <p:nvPr/>
        </p:nvSpPr>
        <p:spPr>
          <a:xfrm>
            <a:off x="3383280" y="4837176"/>
            <a:ext cx="670560" cy="219456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46" name="Text 38"/>
          <p:cNvSpPr txBox="1"/>
          <p:nvPr/>
        </p:nvSpPr>
        <p:spPr>
          <a:xfrm>
            <a:off x="5486400" y="48006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4C7"/>
                </a:solidFill>
              </a:rPr>
              <a:t>10%</a:t>
            </a:r>
            <a:endParaRPr lang="en-US" sz="1200" dirty="0"/>
          </a:p>
        </p:txBody>
      </p:sp>
      <p:sp>
        <p:nvSpPr>
          <p:cNvPr id="47" name="Text 39"/>
          <p:cNvSpPr txBox="1"/>
          <p:nvPr/>
        </p:nvSpPr>
        <p:spPr>
          <a:xfrm>
            <a:off x="548640" y="5623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Default weights — re-fitted from each client’s won / lost history during onboarding.</a:t>
            </a:r>
            <a:endParaRPr lang="en-US" sz="1000" dirty="0"/>
          </a:p>
        </p:txBody>
      </p:sp>
      <p:sp>
        <p:nvSpPr>
          <p:cNvPr id="48" name="Text 40"/>
          <p:cNvSpPr txBox="1"/>
          <p:nvPr/>
        </p:nvSpPr>
        <p:spPr>
          <a:xfrm>
            <a:off x="6492240" y="1508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C3AED"/>
                </a:solidFill>
              </a:rPr>
              <a:t>SCORE BANDS &amp; NEXT-BEST ACTION</a:t>
            </a:r>
            <a:endParaRPr lang="en-US" sz="1000" dirty="0"/>
          </a:p>
        </p:txBody>
      </p:sp>
      <p:sp>
        <p:nvSpPr>
          <p:cNvPr id="49" name="Shape 41"/>
          <p:cNvSpPr/>
          <p:nvPr/>
        </p:nvSpPr>
        <p:spPr>
          <a:xfrm>
            <a:off x="6492240" y="1874520"/>
            <a:ext cx="5148072" cy="1051560"/>
          </a:xfrm>
          <a:prstGeom prst="roundRect">
            <a:avLst>
              <a:gd name="adj" fmla="val 8696"/>
            </a:avLst>
          </a:prstGeom>
          <a:solidFill>
            <a:srgbClr val="FFF1F2"/>
          </a:solidFill>
          <a:ln w="12700">
            <a:solidFill>
              <a:srgbClr val="FFF1F2"/>
            </a:solidFill>
            <a:prstDash val="solid"/>
          </a:ln>
        </p:spPr>
      </p:sp>
      <p:sp>
        <p:nvSpPr>
          <p:cNvPr id="50" name="Text 42"/>
          <p:cNvSpPr txBox="1"/>
          <p:nvPr/>
        </p:nvSpPr>
        <p:spPr>
          <a:xfrm>
            <a:off x="6675120" y="2057400"/>
            <a:ext cx="1143000" cy="365760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>
            <a:solidFill>
              <a:srgbClr val="E11D4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Hot</a:t>
            </a:r>
            <a:endParaRPr lang="en-US" sz="1300" dirty="0"/>
          </a:p>
        </p:txBody>
      </p:sp>
      <p:sp>
        <p:nvSpPr>
          <p:cNvPr id="51" name="Text 43"/>
          <p:cNvSpPr txBox="1"/>
          <p:nvPr/>
        </p:nvSpPr>
        <p:spPr>
          <a:xfrm>
            <a:off x="6675120" y="24688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11D48"/>
                </a:solidFill>
              </a:rPr>
              <a:t>80 – 100</a:t>
            </a:r>
            <a:endParaRPr lang="en-US" sz="1100" dirty="0"/>
          </a:p>
        </p:txBody>
      </p:sp>
      <p:sp>
        <p:nvSpPr>
          <p:cNvPr id="52" name="Text 44"/>
          <p:cNvSpPr txBox="1"/>
          <p:nvPr/>
        </p:nvSpPr>
        <p:spPr>
          <a:xfrm>
            <a:off x="8001000" y="20116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Call today. Decision-maker engaged, recent activity, strong fit.</a:t>
            </a:r>
            <a:endParaRPr lang="en-US" sz="1200" dirty="0"/>
          </a:p>
        </p:txBody>
      </p:sp>
      <p:sp>
        <p:nvSpPr>
          <p:cNvPr id="53" name="Text 45"/>
          <p:cNvSpPr txBox="1"/>
          <p:nvPr/>
        </p:nvSpPr>
        <p:spPr>
          <a:xfrm>
            <a:off x="8001000" y="246888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Owner gets it on top of the morning list</a:t>
            </a:r>
            <a:endParaRPr lang="en-US" sz="1100" dirty="0"/>
          </a:p>
        </p:txBody>
      </p:sp>
      <p:sp>
        <p:nvSpPr>
          <p:cNvPr id="54" name="Shape 46"/>
          <p:cNvSpPr/>
          <p:nvPr/>
        </p:nvSpPr>
        <p:spPr>
          <a:xfrm>
            <a:off x="6492240" y="3063240"/>
            <a:ext cx="5148072" cy="1051560"/>
          </a:xfrm>
          <a:prstGeom prst="roundRect">
            <a:avLst>
              <a:gd name="adj" fmla="val 8696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55" name="Text 47"/>
          <p:cNvSpPr txBox="1"/>
          <p:nvPr/>
        </p:nvSpPr>
        <p:spPr>
          <a:xfrm>
            <a:off x="6675120" y="3246120"/>
            <a:ext cx="1143000" cy="36576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Warm</a:t>
            </a:r>
            <a:endParaRPr lang="en-US" sz="1300" dirty="0"/>
          </a:p>
        </p:txBody>
      </p:sp>
      <p:sp>
        <p:nvSpPr>
          <p:cNvPr id="56" name="Text 48"/>
          <p:cNvSpPr txBox="1"/>
          <p:nvPr/>
        </p:nvSpPr>
        <p:spPr>
          <a:xfrm>
            <a:off x="6675120" y="365760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50 – 79</a:t>
            </a:r>
            <a:endParaRPr lang="en-US" sz="1100" dirty="0"/>
          </a:p>
        </p:txBody>
      </p:sp>
      <p:sp>
        <p:nvSpPr>
          <p:cNvPr id="57" name="Text 49"/>
          <p:cNvSpPr txBox="1"/>
          <p:nvPr/>
        </p:nvSpPr>
        <p:spPr>
          <a:xfrm>
            <a:off x="8001000" y="320040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Start or continue a sequence. Good fit, engagement building.</a:t>
            </a:r>
            <a:endParaRPr lang="en-US" sz="1200" dirty="0"/>
          </a:p>
        </p:txBody>
      </p:sp>
      <p:sp>
        <p:nvSpPr>
          <p:cNvPr id="58" name="Text 50"/>
          <p:cNvSpPr txBox="1"/>
          <p:nvPr/>
        </p:nvSpPr>
        <p:spPr>
          <a:xfrm>
            <a:off x="8001000" y="365760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Automated email / WhatsApp touch, then call</a:t>
            </a:r>
            <a:endParaRPr lang="en-US" sz="1100" dirty="0"/>
          </a:p>
        </p:txBody>
      </p:sp>
      <p:sp>
        <p:nvSpPr>
          <p:cNvPr id="59" name="Shape 51"/>
          <p:cNvSpPr/>
          <p:nvPr/>
        </p:nvSpPr>
        <p:spPr>
          <a:xfrm>
            <a:off x="6492240" y="4251960"/>
            <a:ext cx="5148072" cy="1051560"/>
          </a:xfrm>
          <a:prstGeom prst="roundRect">
            <a:avLst>
              <a:gd name="adj" fmla="val 8696"/>
            </a:avLst>
          </a:prstGeom>
          <a:solidFill>
            <a:srgbClr val="F0F9FF"/>
          </a:solidFill>
          <a:ln w="12700">
            <a:solidFill>
              <a:srgbClr val="F0F9FF"/>
            </a:solidFill>
            <a:prstDash val="solid"/>
          </a:ln>
        </p:spPr>
      </p:sp>
      <p:sp>
        <p:nvSpPr>
          <p:cNvPr id="60" name="Text 52"/>
          <p:cNvSpPr txBox="1"/>
          <p:nvPr/>
        </p:nvSpPr>
        <p:spPr>
          <a:xfrm>
            <a:off x="6675120" y="4434840"/>
            <a:ext cx="1143000" cy="36576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solidFill>
              <a:srgbClr val="0284C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Nurture</a:t>
            </a:r>
            <a:endParaRPr lang="en-US" sz="1300" dirty="0"/>
          </a:p>
        </p:txBody>
      </p:sp>
      <p:sp>
        <p:nvSpPr>
          <p:cNvPr id="61" name="Text 53"/>
          <p:cNvSpPr txBox="1"/>
          <p:nvPr/>
        </p:nvSpPr>
        <p:spPr>
          <a:xfrm>
            <a:off x="6675120" y="484632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4C7"/>
                </a:solidFill>
              </a:rPr>
              <a:t>0 – 49</a:t>
            </a:r>
            <a:endParaRPr lang="en-US" sz="1100" dirty="0"/>
          </a:p>
        </p:txBody>
      </p:sp>
      <p:sp>
        <p:nvSpPr>
          <p:cNvPr id="62" name="Text 54"/>
          <p:cNvSpPr txBox="1"/>
          <p:nvPr/>
        </p:nvSpPr>
        <p:spPr>
          <a:xfrm>
            <a:off x="8001000" y="438912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Keep in a monthly newsletter; re-score when a signal lands.</a:t>
            </a:r>
            <a:endParaRPr lang="en-US" sz="1200" dirty="0"/>
          </a:p>
        </p:txBody>
      </p:sp>
      <p:sp>
        <p:nvSpPr>
          <p:cNvPr id="63" name="Text 55"/>
          <p:cNvSpPr txBox="1"/>
          <p:nvPr/>
        </p:nvSpPr>
        <p:spPr>
          <a:xfrm>
            <a:off x="8001000" y="484632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No rep time spent until the score moves</a:t>
            </a:r>
            <a:endParaRPr lang="en-US" sz="1100" dirty="0"/>
          </a:p>
        </p:txBody>
      </p:sp>
      <p:sp>
        <p:nvSpPr>
          <p:cNvPr id="64" name="Shape 56"/>
          <p:cNvSpPr/>
          <p:nvPr/>
        </p:nvSpPr>
        <p:spPr>
          <a:xfrm>
            <a:off x="6492240" y="5440680"/>
            <a:ext cx="5148072" cy="685800"/>
          </a:xfrm>
          <a:prstGeom prst="roundRect">
            <a:avLst>
              <a:gd name="adj" fmla="val 13333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pic>
        <p:nvPicPr>
          <p:cNvPr id="65" name="Image 6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75120" y="5641848"/>
            <a:ext cx="292608" cy="292608"/>
          </a:xfrm>
          <a:prstGeom prst="rect">
            <a:avLst/>
          </a:prstGeom>
        </p:spPr>
      </p:pic>
      <p:sp>
        <p:nvSpPr>
          <p:cNvPr id="66" name="Text 57"/>
          <p:cNvSpPr txBox="1"/>
          <p:nvPr/>
        </p:nvSpPr>
        <p:spPr>
          <a:xfrm>
            <a:off x="7086600" y="544068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Output: a ranked call list per rep every morning, each row carrying its score, band, reason and last touch.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Sales trends &amp; the 3-month forecast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Historical performance and a forward projection on the same chart — direction, percentage change and the method behind it</a:t>
            </a:r>
            <a:endParaRPr lang="en-US" sz="1400" dirty="0"/>
          </a:p>
        </p:txBody>
      </p:sp>
      <p:sp>
        <p:nvSpPr>
          <p:cNvPr id="4" name="Text 2">
            <a:hlinkClick r:id="rId1" tooltip="Back to Navigator" action="ppaction://hlinksldjump"/>
          </p:cNvPr>
          <p:cNvSpPr txBox="1"/>
          <p:nvPr/>
        </p:nvSpPr>
        <p:spPr>
          <a:xfrm>
            <a:off x="8732520" y="475488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EBF2FF"/>
          </a:solidFill>
          <a:ln>
            <a:solidFill>
              <a:srgbClr val="EBF2FF"/>
            </a:solidFill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40AF"/>
                </a:solidFill>
              </a:rPr>
              <a:t>INTELLIGENCE</a:t>
            </a:r>
            <a:endParaRPr lang="en-US" sz="9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20624"/>
            <a:ext cx="561353" cy="4206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991088" y="420624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Lead</a:t>
            </a:r>
            <a:pPr indent="0" marL="0">
              <a:buNone/>
            </a:pPr>
            <a:r>
              <a:rPr lang="en-US" sz="1700" b="1" dirty="0">
                <a:solidFill>
                  <a:srgbClr val="1D6FEB"/>
                </a:solidFill>
              </a:rPr>
              <a:t>Pilot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327648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1D6FEB"/>
          </a:solidFill>
          <a:ln>
            <a:solidFill>
              <a:srgbClr val="1D6FEB"/>
            </a:solidFill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⌂  Navigator</a:t>
            </a:r>
            <a:endParaRPr lang="en-US" sz="1000" dirty="0"/>
          </a:p>
        </p:txBody>
      </p:sp>
      <p:sp>
        <p:nvSpPr>
          <p:cNvPr id="8" name="Text 5">
            <a:hlinkClick r:id="rId4" tooltip="Previous: Lead scoring" action="ppaction://hlinksldjump"/>
          </p:cNvPr>
          <p:cNvSpPr txBox="1"/>
          <p:nvPr/>
        </p:nvSpPr>
        <p:spPr>
          <a:xfrm>
            <a:off x="1920240" y="6327648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</a:rPr>
              <a:t>←  Lead scoring</a:t>
            </a:r>
            <a:endParaRPr lang="en-US" sz="1000" dirty="0"/>
          </a:p>
        </p:txBody>
      </p:sp>
      <p:sp>
        <p:nvSpPr>
          <p:cNvPr id="9" name="Text 6">
            <a:hlinkClick r:id="rId5" tooltip="Next: Coverage matrix" action="ppaction://hlinksldjump"/>
          </p:cNvPr>
          <p:cNvSpPr txBox="1"/>
          <p:nvPr/>
        </p:nvSpPr>
        <p:spPr>
          <a:xfrm>
            <a:off x="3337560" y="6327648"/>
            <a:ext cx="1485900" cy="329184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</a:rPr>
              <a:t>Coverage matrix  →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0607040" y="6327648"/>
            <a:ext cx="1033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11 / 22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48640" y="1508760"/>
            <a:ext cx="7223760" cy="4617720"/>
          </a:xfrm>
          <a:prstGeom prst="roundRect">
            <a:avLst>
              <a:gd name="adj" fmla="val 198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0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777240" y="16276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Monthly revenue — actual vs forecast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6035040" y="16276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</a:rPr>
              <a:t>ILLUSTRATIVE DATA</a:t>
            </a:r>
            <a:endParaRPr lang="en-US" sz="8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685800" y="1920240"/>
          <a:ext cx="69494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5" name="Text 11"/>
          <p:cNvSpPr txBox="1"/>
          <p:nvPr/>
        </p:nvSpPr>
        <p:spPr>
          <a:xfrm>
            <a:off x="777240" y="576072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▲ Trend: up · forecast Q4 +12% vs Q3 (illustrative)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001000" y="1508760"/>
            <a:ext cx="3639312" cy="1417320"/>
          </a:xfrm>
          <a:prstGeom prst="roundRect">
            <a:avLst>
              <a:gd name="adj" fmla="val 6452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183880" y="169164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4464" y="1792224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778240" y="17099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Method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8183880" y="2167128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Ordinary-least-squares regression on monthly aggregates; trend direction and % change; actual-vs-forecast on one chart.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8001000" y="3081528"/>
            <a:ext cx="3639312" cy="1417320"/>
          </a:xfrm>
          <a:prstGeom prst="roundRect">
            <a:avLst>
              <a:gd name="adj" fmla="val 6452"/>
            </a:avLst>
          </a:prstGeom>
          <a:solidFill>
            <a:srgbClr val="EBF2FF"/>
          </a:solidFill>
          <a:ln w="12700">
            <a:solidFill>
              <a:srgbClr val="EBF2FF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8183880" y="326440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1D6FEB"/>
          </a:solidFill>
          <a:ln w="12700">
            <a:solidFill>
              <a:srgbClr val="1D6FEB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84464" y="3364992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8778240" y="328269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Views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8183880" y="3739896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Record count, quantity and revenue; sales by country and by product (bar); monthly trend (line); multi-currency records.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8001000" y="4654296"/>
            <a:ext cx="3639312" cy="1417320"/>
          </a:xfrm>
          <a:prstGeom prst="roundRect">
            <a:avLst>
              <a:gd name="adj" fmla="val 6452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8183880" y="4837176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84464" y="4937760"/>
            <a:ext cx="256032" cy="256032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8778240" y="485546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Roadmap</a:t>
            </a:r>
            <a:endParaRPr lang="en-US" sz="1500" dirty="0"/>
          </a:p>
        </p:txBody>
      </p:sp>
      <p:sp>
        <p:nvSpPr>
          <p:cNvPr id="30" name="Text 23"/>
          <p:cNvSpPr txBox="1"/>
          <p:nvPr/>
        </p:nvSpPr>
        <p:spPr>
          <a:xfrm>
            <a:off x="8183880" y="5312664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Weekly / daily horizons, seasonal and per-product models once 18+ months of history are available.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Every question, mapped to a capability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What ships in the core release, what is phase 2, and what is on the longer roadmap</a:t>
            </a:r>
            <a:endParaRPr lang="en-US" sz="1400" dirty="0"/>
          </a:p>
        </p:txBody>
      </p:sp>
      <p:sp>
        <p:nvSpPr>
          <p:cNvPr id="4" name="Text 2">
            <a:hlinkClick r:id="rId1" tooltip="Back to Navigator" action="ppaction://hlinksldjump"/>
          </p:cNvPr>
          <p:cNvSpPr txBox="1"/>
          <p:nvPr/>
        </p:nvSpPr>
        <p:spPr>
          <a:xfrm>
            <a:off x="8732520" y="475488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EBF2FF"/>
          </a:solidFill>
          <a:ln>
            <a:solidFill>
              <a:srgbClr val="EBF2FF"/>
            </a:solidFill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40AF"/>
                </a:solidFill>
              </a:rPr>
              <a:t>INTELLIGENCE</a:t>
            </a:r>
            <a:endParaRPr lang="en-US" sz="9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20624"/>
            <a:ext cx="561353" cy="4206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991088" y="420624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Lead</a:t>
            </a:r>
            <a:pPr indent="0" marL="0">
              <a:buNone/>
            </a:pPr>
            <a:r>
              <a:rPr lang="en-US" sz="1700" b="1" dirty="0">
                <a:solidFill>
                  <a:srgbClr val="1D6FEB"/>
                </a:solidFill>
              </a:rPr>
              <a:t>Pilot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327648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1D6FEB"/>
          </a:solidFill>
          <a:ln>
            <a:solidFill>
              <a:srgbClr val="1D6FEB"/>
            </a:solidFill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⌂  Navigator</a:t>
            </a:r>
            <a:endParaRPr lang="en-US" sz="1000" dirty="0"/>
          </a:p>
        </p:txBody>
      </p:sp>
      <p:sp>
        <p:nvSpPr>
          <p:cNvPr id="8" name="Text 5">
            <a:hlinkClick r:id="rId4" tooltip="Previous: Analytics &amp; forecast" action="ppaction://hlinksldjump"/>
          </p:cNvPr>
          <p:cNvSpPr txBox="1"/>
          <p:nvPr/>
        </p:nvSpPr>
        <p:spPr>
          <a:xfrm>
            <a:off x="1920240" y="6327648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</a:rPr>
              <a:t>←  Analytics &amp; forecast</a:t>
            </a:r>
            <a:endParaRPr lang="en-US" sz="1000" dirty="0"/>
          </a:p>
        </p:txBody>
      </p:sp>
      <p:sp>
        <p:nvSpPr>
          <p:cNvPr id="9" name="Text 6">
            <a:hlinkClick r:id="rId5" tooltip="Next: Insight to action" action="ppaction://hlinksldjump"/>
          </p:cNvPr>
          <p:cNvSpPr txBox="1"/>
          <p:nvPr/>
        </p:nvSpPr>
        <p:spPr>
          <a:xfrm>
            <a:off x="3886200" y="6327648"/>
            <a:ext cx="1623060" cy="329184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</a:rPr>
              <a:t>Insight to action  →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0607040" y="6327648"/>
            <a:ext cx="1033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12 / 22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6400800"/>
                <a:gridCol w="167335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question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Availability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Historical sales trends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trend, country and product sales charts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 forecast horizons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3-month OLS forecast; weekly / daily and seasonal ML next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 target customers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Segmentation + lead scoring + ranked daily call list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Regional opportunity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Country / region sales + dealer density; growth score next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purchase trends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Period-over-period comparison with rising / slipping alerts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status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/ Completed / Delayed status and an Orders view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Lost sales opportunities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Engagement vs conversion: pipeline leakage view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Future product demand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Per-product and per-category forecasts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Cross-sell potential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Sector catalogue vs current purchase mix recommendations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7C3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Roadmap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Lookalike customers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Clustering on sector, region, type and size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7C3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Roadmap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 txBox="1"/>
          <p:nvPr/>
        </p:nvSpPr>
        <p:spPr>
          <a:xfrm>
            <a:off x="548640" y="5760720"/>
            <a:ext cx="2627986" cy="292608"/>
          </a:xfrm>
          <a:prstGeom prst="roundRect">
            <a:avLst>
              <a:gd name="adj" fmla="val 50000"/>
            </a:avLst>
          </a:prstGeom>
          <a:solidFill>
            <a:srgbClr val="F0FDFA"/>
          </a:solidFill>
          <a:ln>
            <a:solidFill>
              <a:srgbClr val="F0FDFA"/>
            </a:solidFill>
          </a:ln>
        </p:spPr>
        <p:txBody>
          <a:bodyPr wrap="square" lIns="0" tIns="1270" rIns="127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Core — ships in the first release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3313786" y="5760720"/>
            <a:ext cx="3055925" cy="292608"/>
          </a:xfrm>
          <a:prstGeom prst="roundRect">
            <a:avLst>
              <a:gd name="adj" fmla="val 50000"/>
            </a:avLst>
          </a:prstGeom>
          <a:solidFill>
            <a:srgbClr val="FFFBEB"/>
          </a:solidFill>
          <a:ln>
            <a:solidFill>
              <a:srgbClr val="FFFBEB"/>
            </a:solidFill>
          </a:ln>
        </p:spPr>
        <p:txBody>
          <a:bodyPr wrap="square" lIns="0" tIns="1270" rIns="127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5309"/>
                </a:solidFill>
              </a:rPr>
              <a:t>Phase 2 — builds on the same data model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6506870" y="5760720"/>
            <a:ext cx="3412541" cy="292608"/>
          </a:xfrm>
          <a:prstGeom prst="roundRect">
            <a:avLst>
              <a:gd name="adj" fmla="val 50000"/>
            </a:avLst>
          </a:prstGeom>
          <a:solidFill>
            <a:srgbClr val="F5F3FF"/>
          </a:solidFill>
          <a:ln>
            <a:solidFill>
              <a:srgbClr val="F5F3FF"/>
            </a:solidFill>
          </a:ln>
        </p:spPr>
        <p:txBody>
          <a:bodyPr wrap="square" lIns="0" tIns="1270" rIns="127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Roadmap — needs 12+ months of client history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From insight to action: alerts &amp; recommendations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The platform watches the data so the team doesn’t have to — each alert names the account, the evidence and the next move</a:t>
            </a:r>
            <a:endParaRPr lang="en-US" sz="1400" dirty="0"/>
          </a:p>
        </p:txBody>
      </p:sp>
      <p:sp>
        <p:nvSpPr>
          <p:cNvPr id="4" name="Text 2">
            <a:hlinkClick r:id="rId1" tooltip="Back to Navigator" action="ppaction://hlinksldjump"/>
          </p:cNvPr>
          <p:cNvSpPr txBox="1"/>
          <p:nvPr/>
        </p:nvSpPr>
        <p:spPr>
          <a:xfrm>
            <a:off x="8732520" y="475488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EBF2FF"/>
          </a:solidFill>
          <a:ln>
            <a:solidFill>
              <a:srgbClr val="EBF2FF"/>
            </a:solidFill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40AF"/>
                </a:solidFill>
              </a:rPr>
              <a:t>INTELLIGENCE</a:t>
            </a:r>
            <a:endParaRPr lang="en-US" sz="9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20624"/>
            <a:ext cx="561353" cy="4206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991088" y="420624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Lead</a:t>
            </a:r>
            <a:pPr indent="0" marL="0">
              <a:buNone/>
            </a:pPr>
            <a:r>
              <a:rPr lang="en-US" sz="1700" b="1" dirty="0">
                <a:solidFill>
                  <a:srgbClr val="1D6FEB"/>
                </a:solidFill>
              </a:rPr>
              <a:t>Pilot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327648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1D6FEB"/>
          </a:solidFill>
          <a:ln>
            <a:solidFill>
              <a:srgbClr val="1D6FEB"/>
            </a:solidFill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⌂  Navigator</a:t>
            </a:r>
            <a:endParaRPr lang="en-US" sz="1000" dirty="0"/>
          </a:p>
        </p:txBody>
      </p:sp>
      <p:sp>
        <p:nvSpPr>
          <p:cNvPr id="8" name="Text 5">
            <a:hlinkClick r:id="rId4" tooltip="Previous: Coverage matrix" action="ppaction://hlinksldjump"/>
          </p:cNvPr>
          <p:cNvSpPr txBox="1"/>
          <p:nvPr/>
        </p:nvSpPr>
        <p:spPr>
          <a:xfrm>
            <a:off x="1920240" y="6327648"/>
            <a:ext cx="1485900" cy="329184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</a:rPr>
              <a:t>←  Coverage matrix</a:t>
            </a:r>
            <a:endParaRPr lang="en-US" sz="1000" dirty="0"/>
          </a:p>
        </p:txBody>
      </p:sp>
      <p:sp>
        <p:nvSpPr>
          <p:cNvPr id="9" name="Text 6">
            <a:hlinkClick r:id="rId5" tooltip="Next: Outreach" action="ppaction://hlinksldjump"/>
          </p:cNvPr>
          <p:cNvSpPr txBox="1"/>
          <p:nvPr/>
        </p:nvSpPr>
        <p:spPr>
          <a:xfrm>
            <a:off x="3543300" y="6327648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</a:rPr>
              <a:t>Outreach  →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0607040" y="6327648"/>
            <a:ext cx="1033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13 / 22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48640" y="1508760"/>
            <a:ext cx="3566160" cy="2057400"/>
          </a:xfrm>
          <a:prstGeom prst="roundRect">
            <a:avLst>
              <a:gd name="adj" fmla="val 4444"/>
            </a:avLst>
          </a:prstGeom>
          <a:solidFill>
            <a:srgbClr val="FFF1F2"/>
          </a:solidFill>
          <a:ln w="12700">
            <a:solidFill>
              <a:srgbClr val="FFF1F2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49808" y="1709928"/>
            <a:ext cx="493776" cy="493776"/>
          </a:xfrm>
          <a:prstGeom prst="roundRect">
            <a:avLst>
              <a:gd name="adj" fmla="val 22000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8439" y="1818559"/>
            <a:ext cx="276515" cy="27651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371600" y="1709928"/>
            <a:ext cx="2560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Customer trend alerts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749808" y="2331720"/>
            <a:ext cx="3163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Flags accounts whose purchase volume is rising or falling across periods.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749808" y="2880360"/>
            <a:ext cx="3163824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41248" y="2880360"/>
            <a:ext cx="29809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E11D48"/>
                </a:solidFill>
              </a:rPr>
              <a:t>“Dealer X is down 38% vs last quarter — last order 74 days ago.”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4311396" y="1508760"/>
            <a:ext cx="3566160" cy="2057400"/>
          </a:xfrm>
          <a:prstGeom prst="roundRect">
            <a:avLst>
              <a:gd name="adj" fmla="val 4444"/>
            </a:avLst>
          </a:prstGeom>
          <a:solidFill>
            <a:srgbClr val="EBF2FF"/>
          </a:solidFill>
          <a:ln w="12700">
            <a:solidFill>
              <a:srgbClr val="EBF2FF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512564" y="1709928"/>
            <a:ext cx="493776" cy="493776"/>
          </a:xfrm>
          <a:prstGeom prst="roundRect">
            <a:avLst>
              <a:gd name="adj" fmla="val 22000"/>
            </a:avLst>
          </a:prstGeom>
          <a:solidFill>
            <a:srgbClr val="1D6FEB"/>
          </a:solidFill>
          <a:ln w="12700">
            <a:solidFill>
              <a:srgbClr val="1D6FEB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21195" y="1818559"/>
            <a:ext cx="276515" cy="276515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5134356" y="1709928"/>
            <a:ext cx="2560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Cross-sell engine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4512564" y="2331720"/>
            <a:ext cx="3163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Compares an account’s sector catalogue with what it actually buys.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4512564" y="2880360"/>
            <a:ext cx="3163824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4604004" y="2880360"/>
            <a:ext cx="29809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D6FEB"/>
                </a:solidFill>
              </a:rPr>
              <a:t>“Buys TMT bars, never cement — 61% of similar dealers buy both.”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8074152" y="1508760"/>
            <a:ext cx="3566160" cy="2057400"/>
          </a:xfrm>
          <a:prstGeom prst="roundRect">
            <a:avLst>
              <a:gd name="adj" fmla="val 4444"/>
            </a:avLst>
          </a:prstGeom>
          <a:solidFill>
            <a:srgbClr val="F0FDFA"/>
          </a:solidFill>
          <a:ln w="12700">
            <a:solidFill>
              <a:srgbClr val="F0FDFA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8275320" y="1709928"/>
            <a:ext cx="493776" cy="493776"/>
          </a:xfrm>
          <a:prstGeom prst="roundRect">
            <a:avLst>
              <a:gd name="adj" fmla="val 22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3951" y="1818559"/>
            <a:ext cx="276515" cy="276515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8897112" y="1709928"/>
            <a:ext cx="2560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Regional opportunity index</a:t>
            </a:r>
            <a:endParaRPr lang="en-US" sz="1500" dirty="0"/>
          </a:p>
        </p:txBody>
      </p:sp>
      <p:sp>
        <p:nvSpPr>
          <p:cNvPr id="29" name="Text 23"/>
          <p:cNvSpPr txBox="1"/>
          <p:nvPr/>
        </p:nvSpPr>
        <p:spPr>
          <a:xfrm>
            <a:off x="8275320" y="2331720"/>
            <a:ext cx="3163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Ranks regions by sales, dealer density and sector demand.</a:t>
            </a:r>
            <a:endParaRPr lang="en-US" sz="1150" dirty="0"/>
          </a:p>
        </p:txBody>
      </p:sp>
      <p:sp>
        <p:nvSpPr>
          <p:cNvPr id="30" name="Shape 24"/>
          <p:cNvSpPr/>
          <p:nvPr/>
        </p:nvSpPr>
        <p:spPr>
          <a:xfrm>
            <a:off x="8275320" y="2880360"/>
            <a:ext cx="3163824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8366760" y="2880360"/>
            <a:ext cx="29809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D9488"/>
                </a:solidFill>
              </a:rPr>
              <a:t>“Hooghly: high demand, 3 dealers — under-served.”</a:t>
            </a:r>
            <a:endParaRPr lang="en-US" sz="1050" dirty="0"/>
          </a:p>
        </p:txBody>
      </p:sp>
      <p:sp>
        <p:nvSpPr>
          <p:cNvPr id="32" name="Shape 26"/>
          <p:cNvSpPr/>
          <p:nvPr/>
        </p:nvSpPr>
        <p:spPr>
          <a:xfrm>
            <a:off x="548640" y="3749040"/>
            <a:ext cx="3566160" cy="2057400"/>
          </a:xfrm>
          <a:prstGeom prst="roundRect">
            <a:avLst>
              <a:gd name="adj" fmla="val 4444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0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749808" y="3950208"/>
            <a:ext cx="493776" cy="493776"/>
          </a:xfrm>
          <a:prstGeom prst="roundRect">
            <a:avLst>
              <a:gd name="adj" fmla="val 22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8439" y="4058839"/>
            <a:ext cx="276515" cy="276515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1371600" y="3950208"/>
            <a:ext cx="2560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Pipeline leakage view</a:t>
            </a:r>
            <a:endParaRPr lang="en-US" sz="1500" dirty="0"/>
          </a:p>
        </p:txBody>
      </p:sp>
      <p:sp>
        <p:nvSpPr>
          <p:cNvPr id="36" name="Text 29"/>
          <p:cNvSpPr txBox="1"/>
          <p:nvPr/>
        </p:nvSpPr>
        <p:spPr>
          <a:xfrm>
            <a:off x="749808" y="4572000"/>
            <a:ext cx="3163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Surfaces accounts contacted but never converted or followed up.</a:t>
            </a:r>
            <a:endParaRPr lang="en-US" sz="1150" dirty="0"/>
          </a:p>
        </p:txBody>
      </p:sp>
      <p:sp>
        <p:nvSpPr>
          <p:cNvPr id="37" name="Shape 30"/>
          <p:cNvSpPr/>
          <p:nvPr/>
        </p:nvSpPr>
        <p:spPr>
          <a:xfrm>
            <a:off x="749808" y="5120640"/>
            <a:ext cx="3163824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841248" y="5120640"/>
            <a:ext cx="29809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59E0B"/>
                </a:solidFill>
              </a:rPr>
              <a:t>“17 prospects replied in Sept and received no follow-up.”</a:t>
            </a:r>
            <a:endParaRPr lang="en-US" sz="1050" dirty="0"/>
          </a:p>
        </p:txBody>
      </p:sp>
      <p:sp>
        <p:nvSpPr>
          <p:cNvPr id="39" name="Shape 32"/>
          <p:cNvSpPr/>
          <p:nvPr/>
        </p:nvSpPr>
        <p:spPr>
          <a:xfrm>
            <a:off x="4311396" y="3749040"/>
            <a:ext cx="3566160" cy="2057400"/>
          </a:xfrm>
          <a:prstGeom prst="roundRect">
            <a:avLst>
              <a:gd name="adj" fmla="val 4444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0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4512564" y="3950208"/>
            <a:ext cx="493776" cy="493776"/>
          </a:xfrm>
          <a:prstGeom prst="roundRect">
            <a:avLst>
              <a:gd name="adj" fmla="val 22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21195" y="4058839"/>
            <a:ext cx="276515" cy="276515"/>
          </a:xfrm>
          <a:prstGeom prst="rect">
            <a:avLst/>
          </a:prstGeom>
        </p:spPr>
      </p:pic>
      <p:sp>
        <p:nvSpPr>
          <p:cNvPr id="42" name="Text 34"/>
          <p:cNvSpPr txBox="1"/>
          <p:nvPr/>
        </p:nvSpPr>
        <p:spPr>
          <a:xfrm>
            <a:off x="5134356" y="3950208"/>
            <a:ext cx="2560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Lookalike segmentation</a:t>
            </a:r>
            <a:endParaRPr lang="en-US" sz="1500" dirty="0"/>
          </a:p>
        </p:txBody>
      </p:sp>
      <p:sp>
        <p:nvSpPr>
          <p:cNvPr id="43" name="Text 35"/>
          <p:cNvSpPr txBox="1"/>
          <p:nvPr/>
        </p:nvSpPr>
        <p:spPr>
          <a:xfrm>
            <a:off x="4512564" y="4572000"/>
            <a:ext cx="3163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Clusters sector, region, type and size to find segments like your best customers.</a:t>
            </a:r>
            <a:endParaRPr lang="en-US" sz="1150" dirty="0"/>
          </a:p>
        </p:txBody>
      </p:sp>
      <p:sp>
        <p:nvSpPr>
          <p:cNvPr id="44" name="Shape 36"/>
          <p:cNvSpPr/>
          <p:nvPr/>
        </p:nvSpPr>
        <p:spPr>
          <a:xfrm>
            <a:off x="4512564" y="5120640"/>
            <a:ext cx="3163824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5" name="Text 37"/>
          <p:cNvSpPr txBox="1"/>
          <p:nvPr/>
        </p:nvSpPr>
        <p:spPr>
          <a:xfrm>
            <a:off x="4604004" y="5120640"/>
            <a:ext cx="29809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C3AED"/>
                </a:solidFill>
              </a:rPr>
              <a:t>“42 accounts match your top-10 profile; 9 never contacted.”</a:t>
            </a:r>
            <a:endParaRPr lang="en-US" sz="1050" dirty="0"/>
          </a:p>
        </p:txBody>
      </p:sp>
      <p:sp>
        <p:nvSpPr>
          <p:cNvPr id="46" name="Shape 38"/>
          <p:cNvSpPr/>
          <p:nvPr/>
        </p:nvSpPr>
        <p:spPr>
          <a:xfrm>
            <a:off x="8074152" y="3749040"/>
            <a:ext cx="3566160" cy="2057400"/>
          </a:xfrm>
          <a:prstGeom prst="roundRect">
            <a:avLst>
              <a:gd name="adj" fmla="val 4444"/>
            </a:avLst>
          </a:prstGeom>
          <a:solidFill>
            <a:srgbClr val="F0F9FF"/>
          </a:solidFill>
          <a:ln w="12700">
            <a:solidFill>
              <a:srgbClr val="F0F9FF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0000"/>
              </a:srgbClr>
            </a:outerShdw>
          </a:effectLst>
        </p:spPr>
      </p:sp>
      <p:sp>
        <p:nvSpPr>
          <p:cNvPr id="47" name="Shape 39"/>
          <p:cNvSpPr/>
          <p:nvPr/>
        </p:nvSpPr>
        <p:spPr>
          <a:xfrm>
            <a:off x="8275320" y="3950208"/>
            <a:ext cx="493776" cy="493776"/>
          </a:xfrm>
          <a:prstGeom prst="roundRect">
            <a:avLst>
              <a:gd name="adj" fmla="val 22000"/>
            </a:avLst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48" name="Image 6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83951" y="4058839"/>
            <a:ext cx="276515" cy="276515"/>
          </a:xfrm>
          <a:prstGeom prst="rect">
            <a:avLst/>
          </a:prstGeom>
        </p:spPr>
      </p:pic>
      <p:sp>
        <p:nvSpPr>
          <p:cNvPr id="49" name="Text 40"/>
          <p:cNvSpPr txBox="1"/>
          <p:nvPr/>
        </p:nvSpPr>
        <p:spPr>
          <a:xfrm>
            <a:off x="8897112" y="3950208"/>
            <a:ext cx="2560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Per-product demand</a:t>
            </a:r>
            <a:endParaRPr lang="en-US" sz="1500" dirty="0"/>
          </a:p>
        </p:txBody>
      </p:sp>
      <p:sp>
        <p:nvSpPr>
          <p:cNvPr id="50" name="Text 41"/>
          <p:cNvSpPr txBox="1"/>
          <p:nvPr/>
        </p:nvSpPr>
        <p:spPr>
          <a:xfrm>
            <a:off x="8275320" y="4572000"/>
            <a:ext cx="3163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Extends the forecast engine to each product or category.</a:t>
            </a:r>
            <a:endParaRPr lang="en-US" sz="1150" dirty="0"/>
          </a:p>
        </p:txBody>
      </p:sp>
      <p:sp>
        <p:nvSpPr>
          <p:cNvPr id="51" name="Shape 42"/>
          <p:cNvSpPr/>
          <p:nvPr/>
        </p:nvSpPr>
        <p:spPr>
          <a:xfrm>
            <a:off x="8275320" y="5120640"/>
            <a:ext cx="3163824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2" name="Text 43"/>
          <p:cNvSpPr txBox="1"/>
          <p:nvPr/>
        </p:nvSpPr>
        <p:spPr>
          <a:xfrm>
            <a:off x="8366760" y="5120640"/>
            <a:ext cx="29809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284C7"/>
                </a:solidFill>
              </a:rPr>
              <a:t>“Waterproofing demand peaks in May–June — stock by April.”</a:t>
            </a:r>
            <a:endParaRPr lang="en-US" sz="1050" dirty="0"/>
          </a:p>
        </p:txBody>
      </p:sp>
      <p:sp>
        <p:nvSpPr>
          <p:cNvPr id="53" name="Text 44"/>
          <p:cNvSpPr txBox="1"/>
          <p:nvPr/>
        </p:nvSpPr>
        <p:spPr>
          <a:xfrm>
            <a:off x="548640" y="5897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Example alerts are illustrative. Every alert links to the evidence behind it and can be dismissed, snoozed or converted into a task.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Outreach that logs itself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Email, WhatsApp, calls and meetings from one screen — every touch recorded against the account, with send-and-track status</a:t>
            </a:r>
            <a:endParaRPr lang="en-US" sz="1400" dirty="0"/>
          </a:p>
        </p:txBody>
      </p:sp>
      <p:sp>
        <p:nvSpPr>
          <p:cNvPr id="4" name="Text 2">
            <a:hlinkClick r:id="rId1" tooltip="Back to Navigator" action="ppaction://hlinksldjump"/>
          </p:cNvPr>
          <p:cNvSpPr txBox="1"/>
          <p:nvPr/>
        </p:nvSpPr>
        <p:spPr>
          <a:xfrm>
            <a:off x="8732520" y="475488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EBF2FF"/>
          </a:solidFill>
          <a:ln>
            <a:solidFill>
              <a:srgbClr val="EBF2FF"/>
            </a:solidFill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40AF"/>
                </a:solidFill>
              </a:rPr>
              <a:t>OUTREACH &amp; SYNC</a:t>
            </a:r>
            <a:endParaRPr lang="en-US" sz="9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20624"/>
            <a:ext cx="561353" cy="4206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991088" y="420624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Lead</a:t>
            </a:r>
            <a:pPr indent="0" marL="0">
              <a:buNone/>
            </a:pPr>
            <a:r>
              <a:rPr lang="en-US" sz="1700" b="1" dirty="0">
                <a:solidFill>
                  <a:srgbClr val="1D6FEB"/>
                </a:solidFill>
              </a:rPr>
              <a:t>Pilot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327648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1D6FEB"/>
          </a:solidFill>
          <a:ln>
            <a:solidFill>
              <a:srgbClr val="1D6FEB"/>
            </a:solidFill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⌂  Navigator</a:t>
            </a:r>
            <a:endParaRPr lang="en-US" sz="1000" dirty="0"/>
          </a:p>
        </p:txBody>
      </p:sp>
      <p:sp>
        <p:nvSpPr>
          <p:cNvPr id="8" name="Text 5">
            <a:hlinkClick r:id="rId4" tooltip="Previous: Insight to action" action="ppaction://hlinksldjump"/>
          </p:cNvPr>
          <p:cNvSpPr txBox="1"/>
          <p:nvPr/>
        </p:nvSpPr>
        <p:spPr>
          <a:xfrm>
            <a:off x="1920240" y="6327648"/>
            <a:ext cx="1623060" cy="329184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</a:rPr>
              <a:t>←  Insight to action</a:t>
            </a:r>
            <a:endParaRPr lang="en-US" sz="1000" dirty="0"/>
          </a:p>
        </p:txBody>
      </p:sp>
      <p:sp>
        <p:nvSpPr>
          <p:cNvPr id="9" name="Text 6">
            <a:hlinkClick r:id="rId5" tooltip="Next: Sync hub" action="ppaction://hlinksldjump"/>
          </p:cNvPr>
          <p:cNvSpPr txBox="1"/>
          <p:nvPr/>
        </p:nvSpPr>
        <p:spPr>
          <a:xfrm>
            <a:off x="3680460" y="6327648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</a:rPr>
              <a:t>Sync hub  →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0607040" y="6327648"/>
            <a:ext cx="1033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14 / 22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1508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</a:rPr>
              <a:t>CHANNELS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48640" y="1874520"/>
            <a:ext cx="3429000" cy="786384"/>
          </a:xfrm>
          <a:prstGeom prst="roundRect">
            <a:avLst>
              <a:gd name="adj" fmla="val 11628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85800" y="203911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384" y="2139696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280160" y="19842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Email</a:t>
            </a:r>
            <a:endParaRPr lang="en-US" sz="1350" dirty="0"/>
          </a:p>
        </p:txBody>
      </p:sp>
      <p:sp>
        <p:nvSpPr>
          <p:cNvPr id="16" name="Text 12"/>
          <p:cNvSpPr txBox="1"/>
          <p:nvPr/>
        </p:nvSpPr>
        <p:spPr>
          <a:xfrm>
            <a:off x="1280160" y="225856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Templates, merge fields, open &amp; reply tracking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548640" y="2788920"/>
            <a:ext cx="3429000" cy="786384"/>
          </a:xfrm>
          <a:prstGeom prst="roundRect">
            <a:avLst>
              <a:gd name="adj" fmla="val 11628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85800" y="295351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6384" y="3054096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280160" y="28986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WhatsApp</a:t>
            </a:r>
            <a:endParaRPr lang="en-US" sz="1350" dirty="0"/>
          </a:p>
        </p:txBody>
      </p:sp>
      <p:sp>
        <p:nvSpPr>
          <p:cNvPr id="21" name="Text 16"/>
          <p:cNvSpPr txBox="1"/>
          <p:nvPr/>
        </p:nvSpPr>
        <p:spPr>
          <a:xfrm>
            <a:off x="1280160" y="317296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Business API templates; replies land in the timeline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548640" y="3703320"/>
            <a:ext cx="3429000" cy="786384"/>
          </a:xfrm>
          <a:prstGeom prst="roundRect">
            <a:avLst>
              <a:gd name="adj" fmla="val 11628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85800" y="386791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6384" y="3968496"/>
            <a:ext cx="256032" cy="256032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280160" y="38130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Call</a:t>
            </a:r>
            <a:endParaRPr lang="en-US" sz="1350" dirty="0"/>
          </a:p>
        </p:txBody>
      </p:sp>
      <p:sp>
        <p:nvSpPr>
          <p:cNvPr id="26" name="Text 20"/>
          <p:cNvSpPr txBox="1"/>
          <p:nvPr/>
        </p:nvSpPr>
        <p:spPr>
          <a:xfrm>
            <a:off x="1280160" y="408736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Click-to-call; outcome and notes logged in 10 seconds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548640" y="4617720"/>
            <a:ext cx="3429000" cy="786384"/>
          </a:xfrm>
          <a:prstGeom prst="roundRect">
            <a:avLst>
              <a:gd name="adj" fmla="val 11628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685800" y="478231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6384" y="4882896"/>
            <a:ext cx="256032" cy="256032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280160" y="47274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Meeting</a:t>
            </a:r>
            <a:endParaRPr lang="en-US" sz="1350" dirty="0"/>
          </a:p>
        </p:txBody>
      </p:sp>
      <p:sp>
        <p:nvSpPr>
          <p:cNvPr id="31" name="Text 24"/>
          <p:cNvSpPr txBox="1"/>
          <p:nvPr/>
        </p:nvSpPr>
        <p:spPr>
          <a:xfrm>
            <a:off x="1280160" y="500176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Scheduled from the profile; follow-up task auto-created</a:t>
            </a:r>
            <a:endParaRPr lang="en-US" sz="1050" dirty="0"/>
          </a:p>
        </p:txBody>
      </p:sp>
      <p:sp>
        <p:nvSpPr>
          <p:cNvPr id="32" name="Text 25"/>
          <p:cNvSpPr txBox="1"/>
          <p:nvPr/>
        </p:nvSpPr>
        <p:spPr>
          <a:xfrm>
            <a:off x="4251960" y="1508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</a:rPr>
              <a:t>A TYPICAL SEQUENCE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4251960" y="1874520"/>
            <a:ext cx="3931920" cy="3529584"/>
          </a:xfrm>
          <a:prstGeom prst="roundRect">
            <a:avLst>
              <a:gd name="adj" fmla="val 259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0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4709160" y="2286000"/>
            <a:ext cx="0" cy="274320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4572000" y="2240280"/>
            <a:ext cx="274320" cy="274320"/>
          </a:xfrm>
          <a:prstGeom prst="ellipse">
            <a:avLst/>
          </a:prstGeom>
          <a:solidFill>
            <a:srgbClr val="1D6FE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6" name="Text 29"/>
          <p:cNvSpPr txBox="1"/>
          <p:nvPr/>
        </p:nvSpPr>
        <p:spPr>
          <a:xfrm>
            <a:off x="5029200" y="21488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D6FEB"/>
                </a:solidFill>
              </a:rPr>
              <a:t>Day 0</a:t>
            </a:r>
            <a:endParaRPr lang="en-US" sz="1000" dirty="0"/>
          </a:p>
        </p:txBody>
      </p:sp>
      <p:sp>
        <p:nvSpPr>
          <p:cNvPr id="37" name="Text 30"/>
          <p:cNvSpPr txBox="1"/>
          <p:nvPr/>
        </p:nvSpPr>
        <p:spPr>
          <a:xfrm>
            <a:off x="5760720" y="2148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Intro email</a:t>
            </a:r>
            <a:endParaRPr lang="en-US" sz="1300" dirty="0"/>
          </a:p>
        </p:txBody>
      </p:sp>
      <p:sp>
        <p:nvSpPr>
          <p:cNvPr id="38" name="Text 31"/>
          <p:cNvSpPr txBox="1"/>
          <p:nvPr/>
        </p:nvSpPr>
        <p:spPr>
          <a:xfrm>
            <a:off x="5029200" y="24231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Template picked by sector; merge fields from the profile</a:t>
            </a:r>
            <a:endParaRPr lang="en-US" sz="1000" dirty="0"/>
          </a:p>
        </p:txBody>
      </p:sp>
      <p:sp>
        <p:nvSpPr>
          <p:cNvPr id="39" name="Shape 32"/>
          <p:cNvSpPr/>
          <p:nvPr/>
        </p:nvSpPr>
        <p:spPr>
          <a:xfrm>
            <a:off x="4572000" y="3063240"/>
            <a:ext cx="274320" cy="274320"/>
          </a:xfrm>
          <a:prstGeom prst="ellipse">
            <a:avLst/>
          </a:prstGeom>
          <a:solidFill>
            <a:srgbClr val="0D948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5029200" y="2971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Day 3</a:t>
            </a:r>
            <a:endParaRPr lang="en-US" sz="1000" dirty="0"/>
          </a:p>
        </p:txBody>
      </p:sp>
      <p:sp>
        <p:nvSpPr>
          <p:cNvPr id="41" name="Text 34"/>
          <p:cNvSpPr txBox="1"/>
          <p:nvPr/>
        </p:nvSpPr>
        <p:spPr>
          <a:xfrm>
            <a:off x="5760720" y="2971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WhatsApp follow-up</a:t>
            </a:r>
            <a:endParaRPr lang="en-US" sz="1300" dirty="0"/>
          </a:p>
        </p:txBody>
      </p:sp>
      <p:sp>
        <p:nvSpPr>
          <p:cNvPr id="42" name="Text 35"/>
          <p:cNvSpPr txBox="1"/>
          <p:nvPr/>
        </p:nvSpPr>
        <p:spPr>
          <a:xfrm>
            <a:off x="5029200" y="32461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Sent only if no reply; stops automatically on response</a:t>
            </a:r>
            <a:endParaRPr lang="en-US" sz="1000" dirty="0"/>
          </a:p>
        </p:txBody>
      </p:sp>
      <p:sp>
        <p:nvSpPr>
          <p:cNvPr id="43" name="Shape 36"/>
          <p:cNvSpPr/>
          <p:nvPr/>
        </p:nvSpPr>
        <p:spPr>
          <a:xfrm>
            <a:off x="4572000" y="3886200"/>
            <a:ext cx="274320" cy="274320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4" name="Text 37"/>
          <p:cNvSpPr txBox="1"/>
          <p:nvPr/>
        </p:nvSpPr>
        <p:spPr>
          <a:xfrm>
            <a:off x="5029200" y="37947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Day 7</a:t>
            </a:r>
            <a:endParaRPr lang="en-US" sz="1000" dirty="0"/>
          </a:p>
        </p:txBody>
      </p:sp>
      <p:sp>
        <p:nvSpPr>
          <p:cNvPr id="45" name="Text 38"/>
          <p:cNvSpPr txBox="1"/>
          <p:nvPr/>
        </p:nvSpPr>
        <p:spPr>
          <a:xfrm>
            <a:off x="5760720" y="3794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Call</a:t>
            </a:r>
            <a:endParaRPr lang="en-US" sz="1300" dirty="0"/>
          </a:p>
        </p:txBody>
      </p:sp>
      <p:sp>
        <p:nvSpPr>
          <p:cNvPr id="46" name="Text 39"/>
          <p:cNvSpPr txBox="1"/>
          <p:nvPr/>
        </p:nvSpPr>
        <p:spPr>
          <a:xfrm>
            <a:off x="5029200" y="40690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Appears on the rep’s list with context and talking points</a:t>
            </a:r>
            <a:endParaRPr lang="en-US" sz="1000" dirty="0"/>
          </a:p>
        </p:txBody>
      </p:sp>
      <p:sp>
        <p:nvSpPr>
          <p:cNvPr id="47" name="Shape 40"/>
          <p:cNvSpPr/>
          <p:nvPr/>
        </p:nvSpPr>
        <p:spPr>
          <a:xfrm>
            <a:off x="4572000" y="4709160"/>
            <a:ext cx="274320" cy="274320"/>
          </a:xfrm>
          <a:prstGeom prst="ellipse">
            <a:avLst/>
          </a:prstGeom>
          <a:solidFill>
            <a:srgbClr val="E11D4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8" name="Text 41"/>
          <p:cNvSpPr txBox="1"/>
          <p:nvPr/>
        </p:nvSpPr>
        <p:spPr>
          <a:xfrm>
            <a:off x="5029200" y="46177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11D48"/>
                </a:solidFill>
              </a:rPr>
              <a:t>Day 14</a:t>
            </a:r>
            <a:endParaRPr lang="en-US" sz="1000" dirty="0"/>
          </a:p>
        </p:txBody>
      </p:sp>
      <p:sp>
        <p:nvSpPr>
          <p:cNvPr id="49" name="Text 42"/>
          <p:cNvSpPr txBox="1"/>
          <p:nvPr/>
        </p:nvSpPr>
        <p:spPr>
          <a:xfrm>
            <a:off x="5760720" y="4617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Meeting / quote</a:t>
            </a:r>
            <a:endParaRPr lang="en-US" sz="1300" dirty="0"/>
          </a:p>
        </p:txBody>
      </p:sp>
      <p:sp>
        <p:nvSpPr>
          <p:cNvPr id="50" name="Text 43"/>
          <p:cNvSpPr txBox="1"/>
          <p:nvPr/>
        </p:nvSpPr>
        <p:spPr>
          <a:xfrm>
            <a:off x="5029200" y="4892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Booked from the profile; quote logged as an opportunity</a:t>
            </a:r>
            <a:endParaRPr lang="en-US" sz="1000" dirty="0"/>
          </a:p>
        </p:txBody>
      </p:sp>
      <p:sp>
        <p:nvSpPr>
          <p:cNvPr id="51" name="Text 44"/>
          <p:cNvSpPr txBox="1"/>
          <p:nvPr/>
        </p:nvSpPr>
        <p:spPr>
          <a:xfrm>
            <a:off x="8458200" y="1508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</a:rPr>
              <a:t>SEND-AND-TRACK STATUS</a:t>
            </a:r>
            <a:endParaRPr lang="en-US" sz="1000" dirty="0"/>
          </a:p>
        </p:txBody>
      </p:sp>
      <p:sp>
        <p:nvSpPr>
          <p:cNvPr id="52" name="Shape 45"/>
          <p:cNvSpPr/>
          <p:nvPr/>
        </p:nvSpPr>
        <p:spPr>
          <a:xfrm>
            <a:off x="8458200" y="1874520"/>
            <a:ext cx="3182112" cy="493776"/>
          </a:xfrm>
          <a:prstGeom prst="roundRect">
            <a:avLst>
              <a:gd name="adj" fmla="val 18519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3" name="Shape 46"/>
          <p:cNvSpPr/>
          <p:nvPr/>
        </p:nvSpPr>
        <p:spPr>
          <a:xfrm>
            <a:off x="8641080" y="2029968"/>
            <a:ext cx="182880" cy="18288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4" name="Text 47"/>
          <p:cNvSpPr txBox="1"/>
          <p:nvPr/>
        </p:nvSpPr>
        <p:spPr>
          <a:xfrm>
            <a:off x="8961120" y="1874520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Sent</a:t>
            </a:r>
            <a:endParaRPr lang="en-US" sz="1250" dirty="0"/>
          </a:p>
        </p:txBody>
      </p:sp>
      <p:pic>
        <p:nvPicPr>
          <p:cNvPr id="55" name="Image 5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247120" y="2011680"/>
            <a:ext cx="219456" cy="219456"/>
          </a:xfrm>
          <a:prstGeom prst="rect">
            <a:avLst/>
          </a:prstGeom>
        </p:spPr>
      </p:pic>
      <p:sp>
        <p:nvSpPr>
          <p:cNvPr id="56" name="Shape 48"/>
          <p:cNvSpPr/>
          <p:nvPr/>
        </p:nvSpPr>
        <p:spPr>
          <a:xfrm>
            <a:off x="8458200" y="2459736"/>
            <a:ext cx="3182112" cy="493776"/>
          </a:xfrm>
          <a:prstGeom prst="roundRect">
            <a:avLst>
              <a:gd name="adj" fmla="val 18519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7" name="Shape 49"/>
          <p:cNvSpPr/>
          <p:nvPr/>
        </p:nvSpPr>
        <p:spPr>
          <a:xfrm>
            <a:off x="8641080" y="2615184"/>
            <a:ext cx="182880" cy="182880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58" name="Text 50"/>
          <p:cNvSpPr txBox="1"/>
          <p:nvPr/>
        </p:nvSpPr>
        <p:spPr>
          <a:xfrm>
            <a:off x="8961120" y="2459736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Delivered</a:t>
            </a:r>
            <a:endParaRPr lang="en-US" sz="1250" dirty="0"/>
          </a:p>
        </p:txBody>
      </p:sp>
      <p:pic>
        <p:nvPicPr>
          <p:cNvPr id="59" name="Image 6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247120" y="2596896"/>
            <a:ext cx="219456" cy="219456"/>
          </a:xfrm>
          <a:prstGeom prst="rect">
            <a:avLst/>
          </a:prstGeom>
        </p:spPr>
      </p:pic>
      <p:sp>
        <p:nvSpPr>
          <p:cNvPr id="60" name="Shape 51"/>
          <p:cNvSpPr/>
          <p:nvPr/>
        </p:nvSpPr>
        <p:spPr>
          <a:xfrm>
            <a:off x="8458200" y="3044952"/>
            <a:ext cx="3182112" cy="493776"/>
          </a:xfrm>
          <a:prstGeom prst="roundRect">
            <a:avLst>
              <a:gd name="adj" fmla="val 18519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1" name="Shape 52"/>
          <p:cNvSpPr/>
          <p:nvPr/>
        </p:nvSpPr>
        <p:spPr>
          <a:xfrm>
            <a:off x="8641080" y="3200400"/>
            <a:ext cx="182880" cy="182880"/>
          </a:xfrm>
          <a:prstGeom prst="ellipse">
            <a:avLst/>
          </a:prstGeom>
          <a:solidFill>
            <a:srgbClr val="1D6FEB"/>
          </a:solidFill>
          <a:ln w="12700">
            <a:solidFill>
              <a:srgbClr val="1D6FEB"/>
            </a:solidFill>
            <a:prstDash val="solid"/>
          </a:ln>
        </p:spPr>
      </p:sp>
      <p:sp>
        <p:nvSpPr>
          <p:cNvPr id="62" name="Text 53"/>
          <p:cNvSpPr txBox="1"/>
          <p:nvPr/>
        </p:nvSpPr>
        <p:spPr>
          <a:xfrm>
            <a:off x="8961120" y="3044952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Opened</a:t>
            </a:r>
            <a:endParaRPr lang="en-US" sz="1250" dirty="0"/>
          </a:p>
        </p:txBody>
      </p:sp>
      <p:pic>
        <p:nvPicPr>
          <p:cNvPr id="63" name="Image 7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247120" y="3182112"/>
            <a:ext cx="219456" cy="219456"/>
          </a:xfrm>
          <a:prstGeom prst="rect">
            <a:avLst/>
          </a:prstGeom>
        </p:spPr>
      </p:pic>
      <p:sp>
        <p:nvSpPr>
          <p:cNvPr id="64" name="Shape 54"/>
          <p:cNvSpPr/>
          <p:nvPr/>
        </p:nvSpPr>
        <p:spPr>
          <a:xfrm>
            <a:off x="8458200" y="3630168"/>
            <a:ext cx="3182112" cy="493776"/>
          </a:xfrm>
          <a:prstGeom prst="roundRect">
            <a:avLst>
              <a:gd name="adj" fmla="val 18519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5" name="Shape 55"/>
          <p:cNvSpPr/>
          <p:nvPr/>
        </p:nvSpPr>
        <p:spPr>
          <a:xfrm>
            <a:off x="8641080" y="3785616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6" name="Text 56"/>
          <p:cNvSpPr txBox="1"/>
          <p:nvPr/>
        </p:nvSpPr>
        <p:spPr>
          <a:xfrm>
            <a:off x="8961120" y="3630168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Replied</a:t>
            </a:r>
            <a:endParaRPr lang="en-US" sz="1250" dirty="0"/>
          </a:p>
        </p:txBody>
      </p:sp>
      <p:pic>
        <p:nvPicPr>
          <p:cNvPr id="67" name="Image 8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247120" y="3767328"/>
            <a:ext cx="219456" cy="219456"/>
          </a:xfrm>
          <a:prstGeom prst="rect">
            <a:avLst/>
          </a:prstGeom>
        </p:spPr>
      </p:pic>
      <p:sp>
        <p:nvSpPr>
          <p:cNvPr id="68" name="Shape 57"/>
          <p:cNvSpPr/>
          <p:nvPr/>
        </p:nvSpPr>
        <p:spPr>
          <a:xfrm>
            <a:off x="8458200" y="4215384"/>
            <a:ext cx="3182112" cy="493776"/>
          </a:xfrm>
          <a:prstGeom prst="roundRect">
            <a:avLst>
              <a:gd name="adj" fmla="val 18519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9" name="Shape 58"/>
          <p:cNvSpPr/>
          <p:nvPr/>
        </p:nvSpPr>
        <p:spPr>
          <a:xfrm>
            <a:off x="8641080" y="4370832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0" name="Text 59"/>
          <p:cNvSpPr txBox="1"/>
          <p:nvPr/>
        </p:nvSpPr>
        <p:spPr>
          <a:xfrm>
            <a:off x="8961120" y="4215384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Meeting booked</a:t>
            </a:r>
            <a:endParaRPr lang="en-US" sz="1250" dirty="0"/>
          </a:p>
        </p:txBody>
      </p:sp>
      <p:pic>
        <p:nvPicPr>
          <p:cNvPr id="71" name="Image 9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247120" y="4352544"/>
            <a:ext cx="219456" cy="219456"/>
          </a:xfrm>
          <a:prstGeom prst="rect">
            <a:avLst/>
          </a:prstGeom>
        </p:spPr>
      </p:pic>
      <p:sp>
        <p:nvSpPr>
          <p:cNvPr id="72" name="Shape 60"/>
          <p:cNvSpPr/>
          <p:nvPr/>
        </p:nvSpPr>
        <p:spPr>
          <a:xfrm>
            <a:off x="8458200" y="4800600"/>
            <a:ext cx="3182112" cy="493776"/>
          </a:xfrm>
          <a:prstGeom prst="roundRect">
            <a:avLst>
              <a:gd name="adj" fmla="val 18519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3" name="Shape 61"/>
          <p:cNvSpPr/>
          <p:nvPr/>
        </p:nvSpPr>
        <p:spPr>
          <a:xfrm>
            <a:off x="8641080" y="4956048"/>
            <a:ext cx="182880" cy="1828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4" name="Text 62"/>
          <p:cNvSpPr txBox="1"/>
          <p:nvPr/>
        </p:nvSpPr>
        <p:spPr>
          <a:xfrm>
            <a:off x="8961120" y="4800600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Converted</a:t>
            </a:r>
            <a:endParaRPr lang="en-US" sz="1250" dirty="0"/>
          </a:p>
        </p:txBody>
      </p:sp>
      <p:sp>
        <p:nvSpPr>
          <p:cNvPr id="75" name="Shape 63"/>
          <p:cNvSpPr/>
          <p:nvPr/>
        </p:nvSpPr>
        <p:spPr>
          <a:xfrm>
            <a:off x="548640" y="5623560"/>
            <a:ext cx="11091672" cy="502920"/>
          </a:xfrm>
          <a:prstGeom prst="roundRect">
            <a:avLst>
              <a:gd name="adj" fmla="val 18182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76" name="Text 64"/>
          <p:cNvSpPr txBox="1"/>
          <p:nvPr/>
        </p:nvSpPr>
        <p:spPr>
          <a:xfrm>
            <a:off x="777240" y="562356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Every status change feeds the lead score (slide 10) and is written to your CRM (slide 15) — the rep never updates two systems.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Sync: your systems stay the source of truth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LeadPilot reads from and writes back to the tools you already run — no migration, no double entry, full audit trail</a:t>
            </a:r>
            <a:endParaRPr lang="en-US" sz="1400" dirty="0"/>
          </a:p>
        </p:txBody>
      </p:sp>
      <p:sp>
        <p:nvSpPr>
          <p:cNvPr id="4" name="Text 2">
            <a:hlinkClick r:id="rId1" tooltip="Back to Navigator" action="ppaction://hlinksldjump"/>
          </p:cNvPr>
          <p:cNvSpPr txBox="1"/>
          <p:nvPr/>
        </p:nvSpPr>
        <p:spPr>
          <a:xfrm>
            <a:off x="8732520" y="475488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EBF2FF"/>
          </a:solidFill>
          <a:ln>
            <a:solidFill>
              <a:srgbClr val="EBF2FF"/>
            </a:solidFill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40AF"/>
                </a:solidFill>
              </a:rPr>
              <a:t>OUTREACH &amp; SYNC</a:t>
            </a:r>
            <a:endParaRPr lang="en-US" sz="9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20624"/>
            <a:ext cx="561353" cy="4206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991088" y="420624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Lead</a:t>
            </a:r>
            <a:pPr indent="0" marL="0">
              <a:buNone/>
            </a:pPr>
            <a:r>
              <a:rPr lang="en-US" sz="1700" b="1" dirty="0">
                <a:solidFill>
                  <a:srgbClr val="1D6FEB"/>
                </a:solidFill>
              </a:rPr>
              <a:t>Pilot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327648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1D6FEB"/>
          </a:solidFill>
          <a:ln>
            <a:solidFill>
              <a:srgbClr val="1D6FEB"/>
            </a:solidFill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⌂  Navigator</a:t>
            </a:r>
            <a:endParaRPr lang="en-US" sz="1000" dirty="0"/>
          </a:p>
        </p:txBody>
      </p:sp>
      <p:sp>
        <p:nvSpPr>
          <p:cNvPr id="8" name="Text 5">
            <a:hlinkClick r:id="rId4" tooltip="Previous: Outreach" action="ppaction://hlinksldjump"/>
          </p:cNvPr>
          <p:cNvSpPr txBox="1"/>
          <p:nvPr/>
        </p:nvSpPr>
        <p:spPr>
          <a:xfrm>
            <a:off x="1920240" y="6327648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</a:rPr>
              <a:t>←  Outreach</a:t>
            </a:r>
            <a:endParaRPr lang="en-US" sz="1000" dirty="0"/>
          </a:p>
        </p:txBody>
      </p:sp>
      <p:sp>
        <p:nvSpPr>
          <p:cNvPr id="9" name="Text 6">
            <a:hlinkClick r:id="rId5" tooltip="Next: Data foundation" action="ppaction://hlinksldjump"/>
          </p:cNvPr>
          <p:cNvSpPr txBox="1"/>
          <p:nvPr/>
        </p:nvSpPr>
        <p:spPr>
          <a:xfrm>
            <a:off x="3063240" y="6327648"/>
            <a:ext cx="1485900" cy="329184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</a:rPr>
              <a:t>Data foundation  →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0607040" y="6327648"/>
            <a:ext cx="1033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15 / 22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920240" y="1938528"/>
            <a:ext cx="3840480" cy="384048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E2E8F0"/>
            </a:solidFill>
            <a:prstDash val="dash"/>
          </a:ln>
        </p:spPr>
      </p:sp>
      <p:sp>
        <p:nvSpPr>
          <p:cNvPr id="12" name="Shape 9"/>
          <p:cNvSpPr/>
          <p:nvPr/>
        </p:nvSpPr>
        <p:spPr>
          <a:xfrm flipH="1">
            <a:off x="3840480" y="1938528"/>
            <a:ext cx="9144" cy="192024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 flipH="1">
            <a:off x="3840480" y="2898648"/>
            <a:ext cx="1737360" cy="96012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840480" y="3858768"/>
            <a:ext cx="1737360" cy="96012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840480" y="3858768"/>
            <a:ext cx="9144" cy="192024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 flipH="1">
            <a:off x="2103120" y="3858768"/>
            <a:ext cx="1737360" cy="96012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103120" y="2898648"/>
            <a:ext cx="1737360" cy="96012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926080" y="3172968"/>
            <a:ext cx="18288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93C5FD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0000"/>
              </a:srgbClr>
            </a:outerShdw>
          </a:effectLst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9000" y="3291840"/>
            <a:ext cx="829826" cy="621792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2926080" y="39684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Lead</a:t>
            </a:r>
            <a:pPr algn="ctr" indent="0" marL="0">
              <a:buNone/>
            </a:pPr>
            <a:r>
              <a:rPr lang="en-US" sz="1500" b="1" dirty="0">
                <a:solidFill>
                  <a:srgbClr val="1D6FEB"/>
                </a:solidFill>
              </a:rPr>
              <a:t>Pilot</a:t>
            </a:r>
            <a:endParaRPr lang="en-US" sz="1500" dirty="0"/>
          </a:p>
        </p:txBody>
      </p:sp>
      <p:sp>
        <p:nvSpPr>
          <p:cNvPr id="21" name="Text 17"/>
          <p:cNvSpPr txBox="1"/>
          <p:nvPr/>
        </p:nvSpPr>
        <p:spPr>
          <a:xfrm>
            <a:off x="2926080" y="424281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sync engine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2926080" y="1554480"/>
            <a:ext cx="1828800" cy="768096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3035808" y="1700784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36392" y="1801368"/>
            <a:ext cx="256032" cy="256032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3566160" y="1609344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CRM</a:t>
            </a:r>
            <a:endParaRPr lang="en-US" sz="1150" dirty="0"/>
          </a:p>
        </p:txBody>
      </p:sp>
      <p:sp>
        <p:nvSpPr>
          <p:cNvPr id="26" name="Text 21"/>
          <p:cNvSpPr txBox="1"/>
          <p:nvPr/>
        </p:nvSpPr>
        <p:spPr>
          <a:xfrm>
            <a:off x="3566160" y="1892808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Zoho · HubSpot · Salesforce</a:t>
            </a:r>
            <a:endParaRPr lang="en-US" sz="850" dirty="0"/>
          </a:p>
        </p:txBody>
      </p:sp>
      <p:sp>
        <p:nvSpPr>
          <p:cNvPr id="27" name="Shape 22"/>
          <p:cNvSpPr/>
          <p:nvPr/>
        </p:nvSpPr>
        <p:spPr>
          <a:xfrm>
            <a:off x="4663440" y="2514600"/>
            <a:ext cx="1828800" cy="768096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0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4773168" y="2660904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73752" y="2761488"/>
            <a:ext cx="256032" cy="256032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5303520" y="2569464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ERP / Tally</a:t>
            </a:r>
            <a:endParaRPr lang="en-US" sz="1150" dirty="0"/>
          </a:p>
        </p:txBody>
      </p:sp>
      <p:sp>
        <p:nvSpPr>
          <p:cNvPr id="31" name="Text 25"/>
          <p:cNvSpPr txBox="1"/>
          <p:nvPr/>
        </p:nvSpPr>
        <p:spPr>
          <a:xfrm>
            <a:off x="5303520" y="2852928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Orders, invoices, stock</a:t>
            </a:r>
            <a:endParaRPr lang="en-US" sz="850" dirty="0"/>
          </a:p>
        </p:txBody>
      </p:sp>
      <p:sp>
        <p:nvSpPr>
          <p:cNvPr id="32" name="Shape 26"/>
          <p:cNvSpPr/>
          <p:nvPr/>
        </p:nvSpPr>
        <p:spPr>
          <a:xfrm>
            <a:off x="4663440" y="4434840"/>
            <a:ext cx="1828800" cy="768096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0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4773168" y="4581144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73752" y="4681728"/>
            <a:ext cx="256032" cy="256032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5303520" y="4489704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WhatsApp</a:t>
            </a:r>
            <a:endParaRPr lang="en-US" sz="1150" dirty="0"/>
          </a:p>
        </p:txBody>
      </p:sp>
      <p:sp>
        <p:nvSpPr>
          <p:cNvPr id="36" name="Text 29"/>
          <p:cNvSpPr txBox="1"/>
          <p:nvPr/>
        </p:nvSpPr>
        <p:spPr>
          <a:xfrm>
            <a:off x="5303520" y="4773168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Business API · templates</a:t>
            </a:r>
            <a:endParaRPr lang="en-US" sz="850" dirty="0"/>
          </a:p>
        </p:txBody>
      </p:sp>
      <p:sp>
        <p:nvSpPr>
          <p:cNvPr id="37" name="Shape 30"/>
          <p:cNvSpPr/>
          <p:nvPr/>
        </p:nvSpPr>
        <p:spPr>
          <a:xfrm>
            <a:off x="2926080" y="5394960"/>
            <a:ext cx="1828800" cy="768096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0000"/>
              </a:srgbClr>
            </a:outerShdw>
          </a:effectLst>
        </p:spPr>
      </p:sp>
      <p:sp>
        <p:nvSpPr>
          <p:cNvPr id="38" name="Shape 31"/>
          <p:cNvSpPr/>
          <p:nvPr/>
        </p:nvSpPr>
        <p:spPr>
          <a:xfrm>
            <a:off x="3035808" y="5541264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36392" y="5641848"/>
            <a:ext cx="256032" cy="256032"/>
          </a:xfrm>
          <a:prstGeom prst="rect">
            <a:avLst/>
          </a:prstGeom>
        </p:spPr>
      </p:pic>
      <p:sp>
        <p:nvSpPr>
          <p:cNvPr id="40" name="Text 32"/>
          <p:cNvSpPr txBox="1"/>
          <p:nvPr/>
        </p:nvSpPr>
        <p:spPr>
          <a:xfrm>
            <a:off x="3566160" y="5449824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Mailbox</a:t>
            </a:r>
            <a:endParaRPr lang="en-US" sz="1150" dirty="0"/>
          </a:p>
        </p:txBody>
      </p:sp>
      <p:sp>
        <p:nvSpPr>
          <p:cNvPr id="41" name="Text 33"/>
          <p:cNvSpPr txBox="1"/>
          <p:nvPr/>
        </p:nvSpPr>
        <p:spPr>
          <a:xfrm>
            <a:off x="3566160" y="5733288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Gmail · Outlook</a:t>
            </a:r>
            <a:endParaRPr lang="en-US" sz="850" dirty="0"/>
          </a:p>
        </p:txBody>
      </p:sp>
      <p:sp>
        <p:nvSpPr>
          <p:cNvPr id="42" name="Shape 34"/>
          <p:cNvSpPr/>
          <p:nvPr/>
        </p:nvSpPr>
        <p:spPr>
          <a:xfrm>
            <a:off x="1188720" y="4434840"/>
            <a:ext cx="1828800" cy="768096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0000"/>
              </a:srgbClr>
            </a:outerShdw>
          </a:effectLst>
        </p:spPr>
      </p:sp>
      <p:sp>
        <p:nvSpPr>
          <p:cNvPr id="43" name="Shape 35"/>
          <p:cNvSpPr/>
          <p:nvPr/>
        </p:nvSpPr>
        <p:spPr>
          <a:xfrm>
            <a:off x="1298448" y="4581144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44" name="Image 6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99032" y="4681728"/>
            <a:ext cx="256032" cy="256032"/>
          </a:xfrm>
          <a:prstGeom prst="rect">
            <a:avLst/>
          </a:prstGeom>
        </p:spPr>
      </p:pic>
      <p:sp>
        <p:nvSpPr>
          <p:cNvPr id="45" name="Text 36"/>
          <p:cNvSpPr txBox="1"/>
          <p:nvPr/>
        </p:nvSpPr>
        <p:spPr>
          <a:xfrm>
            <a:off x="1828800" y="4489704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Excel / Sheets</a:t>
            </a:r>
            <a:endParaRPr lang="en-US" sz="1150" dirty="0"/>
          </a:p>
        </p:txBody>
      </p:sp>
      <p:sp>
        <p:nvSpPr>
          <p:cNvPr id="46" name="Text 37"/>
          <p:cNvSpPr txBox="1"/>
          <p:nvPr/>
        </p:nvSpPr>
        <p:spPr>
          <a:xfrm>
            <a:off x="1828800" y="4773168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Upload &amp; scheduled export</a:t>
            </a:r>
            <a:endParaRPr lang="en-US" sz="850" dirty="0"/>
          </a:p>
        </p:txBody>
      </p:sp>
      <p:sp>
        <p:nvSpPr>
          <p:cNvPr id="47" name="Shape 38"/>
          <p:cNvSpPr/>
          <p:nvPr/>
        </p:nvSpPr>
        <p:spPr>
          <a:xfrm>
            <a:off x="1188720" y="2514600"/>
            <a:ext cx="1828800" cy="768096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0000"/>
              </a:srgbClr>
            </a:outerShdw>
          </a:effectLst>
        </p:spPr>
      </p:sp>
      <p:sp>
        <p:nvSpPr>
          <p:cNvPr id="48" name="Shape 39"/>
          <p:cNvSpPr/>
          <p:nvPr/>
        </p:nvSpPr>
        <p:spPr>
          <a:xfrm>
            <a:off x="1298448" y="2660904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pic>
        <p:nvPicPr>
          <p:cNvPr id="49" name="Image 7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99032" y="2761488"/>
            <a:ext cx="256032" cy="256032"/>
          </a:xfrm>
          <a:prstGeom prst="rect">
            <a:avLst/>
          </a:prstGeom>
        </p:spPr>
      </p:pic>
      <p:sp>
        <p:nvSpPr>
          <p:cNvPr id="50" name="Text 40"/>
          <p:cNvSpPr txBox="1"/>
          <p:nvPr/>
        </p:nvSpPr>
        <p:spPr>
          <a:xfrm>
            <a:off x="1828800" y="2569464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Public data</a:t>
            </a:r>
            <a:endParaRPr lang="en-US" sz="1150" dirty="0"/>
          </a:p>
        </p:txBody>
      </p:sp>
      <p:sp>
        <p:nvSpPr>
          <p:cNvPr id="51" name="Text 41"/>
          <p:cNvSpPr txBox="1"/>
          <p:nvPr/>
        </p:nvSpPr>
        <p:spPr>
          <a:xfrm>
            <a:off x="1828800" y="2852928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Portals, tenders, registries</a:t>
            </a:r>
            <a:endParaRPr lang="en-US" sz="850" dirty="0"/>
          </a:p>
        </p:txBody>
      </p:sp>
      <p:sp>
        <p:nvSpPr>
          <p:cNvPr id="52" name="Text 42"/>
          <p:cNvSpPr txBox="1"/>
          <p:nvPr/>
        </p:nvSpPr>
        <p:spPr>
          <a:xfrm>
            <a:off x="6949440" y="1508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D6FEB"/>
                </a:solidFill>
              </a:rPr>
              <a:t>HOW SYNC BEHAVES</a:t>
            </a:r>
            <a:endParaRPr lang="en-US" sz="1000" dirty="0"/>
          </a:p>
        </p:txBody>
      </p:sp>
      <p:sp>
        <p:nvSpPr>
          <p:cNvPr id="53" name="Shape 43"/>
          <p:cNvSpPr/>
          <p:nvPr/>
        </p:nvSpPr>
        <p:spPr>
          <a:xfrm>
            <a:off x="6949440" y="1874520"/>
            <a:ext cx="4690872" cy="768096"/>
          </a:xfrm>
          <a:prstGeom prst="roundRect">
            <a:avLst>
              <a:gd name="adj" fmla="val 11905"/>
            </a:avLst>
          </a:prstGeom>
          <a:solidFill>
            <a:srgbClr val="EBF2FF"/>
          </a:solidFill>
          <a:ln w="12700">
            <a:solidFill>
              <a:srgbClr val="EBF2FF"/>
            </a:solidFill>
            <a:prstDash val="solid"/>
          </a:ln>
        </p:spPr>
      </p:sp>
      <p:sp>
        <p:nvSpPr>
          <p:cNvPr id="54" name="Shape 44"/>
          <p:cNvSpPr/>
          <p:nvPr/>
        </p:nvSpPr>
        <p:spPr>
          <a:xfrm>
            <a:off x="7086600" y="202996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1D6FEB"/>
          </a:solidFill>
          <a:ln w="12700">
            <a:solidFill>
              <a:srgbClr val="1D6FEB"/>
            </a:solidFill>
            <a:prstDash val="solid"/>
          </a:ln>
        </p:spPr>
      </p:sp>
      <p:pic>
        <p:nvPicPr>
          <p:cNvPr id="55" name="Image 8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87184" y="2130552"/>
            <a:ext cx="256032" cy="256032"/>
          </a:xfrm>
          <a:prstGeom prst="rect">
            <a:avLst/>
          </a:prstGeom>
        </p:spPr>
      </p:pic>
      <p:sp>
        <p:nvSpPr>
          <p:cNvPr id="56" name="Text 45"/>
          <p:cNvSpPr txBox="1"/>
          <p:nvPr/>
        </p:nvSpPr>
        <p:spPr>
          <a:xfrm>
            <a:off x="7680960" y="19476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Your system of record wins</a:t>
            </a:r>
            <a:endParaRPr lang="en-US" sz="1250" dirty="0"/>
          </a:p>
        </p:txBody>
      </p:sp>
      <p:sp>
        <p:nvSpPr>
          <p:cNvPr id="57" name="Text 46"/>
          <p:cNvSpPr txBox="1"/>
          <p:nvPr/>
        </p:nvSpPr>
        <p:spPr>
          <a:xfrm>
            <a:off x="7680960" y="2203704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Field-level rules decide which side is authoritative: CRM for contacts, ERP for orders, LeadPilot for scores and sequences.</a:t>
            </a:r>
            <a:endParaRPr lang="en-US" sz="950" dirty="0"/>
          </a:p>
        </p:txBody>
      </p:sp>
      <p:sp>
        <p:nvSpPr>
          <p:cNvPr id="58" name="Shape 47"/>
          <p:cNvSpPr/>
          <p:nvPr/>
        </p:nvSpPr>
        <p:spPr>
          <a:xfrm>
            <a:off x="6949440" y="2743200"/>
            <a:ext cx="4690872" cy="768096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9" name="Shape 48"/>
          <p:cNvSpPr/>
          <p:nvPr/>
        </p:nvSpPr>
        <p:spPr>
          <a:xfrm>
            <a:off x="7086600" y="289864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1D6FEB"/>
          </a:solidFill>
          <a:ln w="12700">
            <a:solidFill>
              <a:srgbClr val="1D6FEB"/>
            </a:solidFill>
            <a:prstDash val="solid"/>
          </a:ln>
        </p:spPr>
      </p:sp>
      <p:pic>
        <p:nvPicPr>
          <p:cNvPr id="60" name="Image 9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187184" y="2999232"/>
            <a:ext cx="256032" cy="256032"/>
          </a:xfrm>
          <a:prstGeom prst="rect">
            <a:avLst/>
          </a:prstGeom>
        </p:spPr>
      </p:pic>
      <p:sp>
        <p:nvSpPr>
          <p:cNvPr id="61" name="Text 49"/>
          <p:cNvSpPr txBox="1"/>
          <p:nvPr/>
        </p:nvSpPr>
        <p:spPr>
          <a:xfrm>
            <a:off x="7680960" y="28163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Two-way, near real-time</a:t>
            </a:r>
            <a:endParaRPr lang="en-US" sz="1250" dirty="0"/>
          </a:p>
        </p:txBody>
      </p:sp>
      <p:sp>
        <p:nvSpPr>
          <p:cNvPr id="62" name="Text 50"/>
          <p:cNvSpPr txBox="1"/>
          <p:nvPr/>
        </p:nvSpPr>
        <p:spPr>
          <a:xfrm>
            <a:off x="7680960" y="3072384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Webhooks where the tool offers them; scheduled polling where it doesn’t. Typical lag: seconds to minutes.</a:t>
            </a:r>
            <a:endParaRPr lang="en-US" sz="950" dirty="0"/>
          </a:p>
        </p:txBody>
      </p:sp>
      <p:sp>
        <p:nvSpPr>
          <p:cNvPr id="63" name="Shape 51"/>
          <p:cNvSpPr/>
          <p:nvPr/>
        </p:nvSpPr>
        <p:spPr>
          <a:xfrm>
            <a:off x="6949440" y="3611880"/>
            <a:ext cx="4690872" cy="768096"/>
          </a:xfrm>
          <a:prstGeom prst="roundRect">
            <a:avLst>
              <a:gd name="adj" fmla="val 11905"/>
            </a:avLst>
          </a:prstGeom>
          <a:solidFill>
            <a:srgbClr val="EBF2FF"/>
          </a:solidFill>
          <a:ln w="12700">
            <a:solidFill>
              <a:srgbClr val="EBF2FF"/>
            </a:solidFill>
            <a:prstDash val="solid"/>
          </a:ln>
        </p:spPr>
      </p:sp>
      <p:sp>
        <p:nvSpPr>
          <p:cNvPr id="64" name="Shape 52"/>
          <p:cNvSpPr/>
          <p:nvPr/>
        </p:nvSpPr>
        <p:spPr>
          <a:xfrm>
            <a:off x="7086600" y="376732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1D6FEB"/>
          </a:solidFill>
          <a:ln w="12700">
            <a:solidFill>
              <a:srgbClr val="1D6FEB"/>
            </a:solidFill>
            <a:prstDash val="solid"/>
          </a:ln>
        </p:spPr>
      </p:sp>
      <p:pic>
        <p:nvPicPr>
          <p:cNvPr id="65" name="Image 10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187184" y="3867912"/>
            <a:ext cx="256032" cy="256032"/>
          </a:xfrm>
          <a:prstGeom prst="rect">
            <a:avLst/>
          </a:prstGeom>
        </p:spPr>
      </p:pic>
      <p:sp>
        <p:nvSpPr>
          <p:cNvPr id="66" name="Text 53"/>
          <p:cNvSpPr txBox="1"/>
          <p:nvPr/>
        </p:nvSpPr>
        <p:spPr>
          <a:xfrm>
            <a:off x="7680960" y="36850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Conflicts are surfaced, not guessed</a:t>
            </a:r>
            <a:endParaRPr lang="en-US" sz="1250" dirty="0"/>
          </a:p>
        </p:txBody>
      </p:sp>
      <p:sp>
        <p:nvSpPr>
          <p:cNvPr id="67" name="Text 54"/>
          <p:cNvSpPr txBox="1"/>
          <p:nvPr/>
        </p:nvSpPr>
        <p:spPr>
          <a:xfrm>
            <a:off x="7680960" y="3941064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When both sides change the same field, the change is queued for review with both values shown.</a:t>
            </a:r>
            <a:endParaRPr lang="en-US" sz="950" dirty="0"/>
          </a:p>
        </p:txBody>
      </p:sp>
      <p:sp>
        <p:nvSpPr>
          <p:cNvPr id="68" name="Shape 55"/>
          <p:cNvSpPr/>
          <p:nvPr/>
        </p:nvSpPr>
        <p:spPr>
          <a:xfrm>
            <a:off x="6949440" y="4480560"/>
            <a:ext cx="4690872" cy="768096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9" name="Shape 56"/>
          <p:cNvSpPr/>
          <p:nvPr/>
        </p:nvSpPr>
        <p:spPr>
          <a:xfrm>
            <a:off x="7086600" y="463600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1D6FEB"/>
          </a:solidFill>
          <a:ln w="12700">
            <a:solidFill>
              <a:srgbClr val="1D6FEB"/>
            </a:solidFill>
            <a:prstDash val="solid"/>
          </a:ln>
        </p:spPr>
      </p:sp>
      <p:pic>
        <p:nvPicPr>
          <p:cNvPr id="70" name="Image 11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187184" y="4736592"/>
            <a:ext cx="256032" cy="256032"/>
          </a:xfrm>
          <a:prstGeom prst="rect">
            <a:avLst/>
          </a:prstGeom>
        </p:spPr>
      </p:pic>
      <p:sp>
        <p:nvSpPr>
          <p:cNvPr id="71" name="Text 57"/>
          <p:cNvSpPr txBox="1"/>
          <p:nvPr/>
        </p:nvSpPr>
        <p:spPr>
          <a:xfrm>
            <a:off x="7680960" y="45537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Full audit trail</a:t>
            </a:r>
            <a:endParaRPr lang="en-US" sz="1250" dirty="0"/>
          </a:p>
        </p:txBody>
      </p:sp>
      <p:sp>
        <p:nvSpPr>
          <p:cNvPr id="72" name="Text 58"/>
          <p:cNvSpPr txBox="1"/>
          <p:nvPr/>
        </p:nvSpPr>
        <p:spPr>
          <a:xfrm>
            <a:off x="7680960" y="4809744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Every synced change records who / what / when / which system — exportable for compliance.</a:t>
            </a:r>
            <a:endParaRPr lang="en-US" sz="950" dirty="0"/>
          </a:p>
        </p:txBody>
      </p:sp>
      <p:sp>
        <p:nvSpPr>
          <p:cNvPr id="73" name="Shape 59"/>
          <p:cNvSpPr/>
          <p:nvPr/>
        </p:nvSpPr>
        <p:spPr>
          <a:xfrm>
            <a:off x="6949440" y="5349240"/>
            <a:ext cx="4690872" cy="768096"/>
          </a:xfrm>
          <a:prstGeom prst="roundRect">
            <a:avLst>
              <a:gd name="adj" fmla="val 11905"/>
            </a:avLst>
          </a:prstGeom>
          <a:solidFill>
            <a:srgbClr val="EBF2FF"/>
          </a:solidFill>
          <a:ln w="12700">
            <a:solidFill>
              <a:srgbClr val="EBF2FF"/>
            </a:solidFill>
            <a:prstDash val="solid"/>
          </a:ln>
        </p:spPr>
      </p:sp>
      <p:sp>
        <p:nvSpPr>
          <p:cNvPr id="74" name="Shape 60"/>
          <p:cNvSpPr/>
          <p:nvPr/>
        </p:nvSpPr>
        <p:spPr>
          <a:xfrm>
            <a:off x="7086600" y="550468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1D6FEB"/>
          </a:solidFill>
          <a:ln w="12700">
            <a:solidFill>
              <a:srgbClr val="1D6FEB"/>
            </a:solidFill>
            <a:prstDash val="solid"/>
          </a:ln>
        </p:spPr>
      </p:sp>
      <p:pic>
        <p:nvPicPr>
          <p:cNvPr id="75" name="Image 12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187184" y="5605272"/>
            <a:ext cx="256032" cy="256032"/>
          </a:xfrm>
          <a:prstGeom prst="rect">
            <a:avLst/>
          </a:prstGeom>
        </p:spPr>
      </p:pic>
      <p:sp>
        <p:nvSpPr>
          <p:cNvPr id="76" name="Text 61"/>
          <p:cNvSpPr txBox="1"/>
          <p:nvPr/>
        </p:nvSpPr>
        <p:spPr>
          <a:xfrm>
            <a:off x="7680960" y="54223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Start with Excel, grow into APIs</a:t>
            </a:r>
            <a:endParaRPr lang="en-US" sz="1250" dirty="0"/>
          </a:p>
        </p:txBody>
      </p:sp>
      <p:sp>
        <p:nvSpPr>
          <p:cNvPr id="77" name="Text 62"/>
          <p:cNvSpPr txBox="1"/>
          <p:nvPr/>
        </p:nvSpPr>
        <p:spPr>
          <a:xfrm>
            <a:off x="7680960" y="5678424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No CRM yet? Begin with scheduled Excel exchange and switch on API sync later without re-onboarding.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The data foundation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Five structured record types power segmentation, scoring and forecasting — and give the roadmap features a base to build on</a:t>
            </a:r>
            <a:endParaRPr lang="en-US" sz="1400" dirty="0"/>
          </a:p>
        </p:txBody>
      </p:sp>
      <p:sp>
        <p:nvSpPr>
          <p:cNvPr id="4" name="Text 2">
            <a:hlinkClick r:id="rId1" tooltip="Back to Navigator" action="ppaction://hlinksldjump"/>
          </p:cNvPr>
          <p:cNvSpPr txBox="1"/>
          <p:nvPr/>
        </p:nvSpPr>
        <p:spPr>
          <a:xfrm>
            <a:off x="8732520" y="475488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EBF2FF"/>
          </a:solidFill>
          <a:ln>
            <a:solidFill>
              <a:srgbClr val="EBF2FF"/>
            </a:solidFill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40AF"/>
                </a:solidFill>
              </a:rPr>
              <a:t>DATA &amp; ARCHITECTURE</a:t>
            </a:r>
            <a:endParaRPr lang="en-US" sz="9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20624"/>
            <a:ext cx="561353" cy="4206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991088" y="420624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Lead</a:t>
            </a:r>
            <a:pPr indent="0" marL="0">
              <a:buNone/>
            </a:pPr>
            <a:r>
              <a:rPr lang="en-US" sz="1700" b="1" dirty="0">
                <a:solidFill>
                  <a:srgbClr val="1D6FEB"/>
                </a:solidFill>
              </a:rPr>
              <a:t>Pilot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327648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1D6FEB"/>
          </a:solidFill>
          <a:ln>
            <a:solidFill>
              <a:srgbClr val="1D6FEB"/>
            </a:solidFill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⌂  Navigator</a:t>
            </a:r>
            <a:endParaRPr lang="en-US" sz="1000" dirty="0"/>
          </a:p>
        </p:txBody>
      </p:sp>
      <p:sp>
        <p:nvSpPr>
          <p:cNvPr id="8" name="Text 5">
            <a:hlinkClick r:id="rId4" tooltip="Previous: Sync hub" action="ppaction://hlinksldjump"/>
          </p:cNvPr>
          <p:cNvSpPr txBox="1"/>
          <p:nvPr/>
        </p:nvSpPr>
        <p:spPr>
          <a:xfrm>
            <a:off x="1920240" y="6327648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</a:rPr>
              <a:t>←  Sync hub</a:t>
            </a:r>
            <a:endParaRPr lang="en-US" sz="1000" dirty="0"/>
          </a:p>
        </p:txBody>
      </p:sp>
      <p:sp>
        <p:nvSpPr>
          <p:cNvPr id="9" name="Text 6">
            <a:hlinkClick r:id="rId5" tooltip="Next: Architecture" action="ppaction://hlinksldjump"/>
          </p:cNvPr>
          <p:cNvSpPr txBox="1"/>
          <p:nvPr/>
        </p:nvSpPr>
        <p:spPr>
          <a:xfrm>
            <a:off x="3063240" y="6327648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</a:rPr>
              <a:t>Architecture  →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0607040" y="6327648"/>
            <a:ext cx="1033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16 / 22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48640" y="1508760"/>
            <a:ext cx="2103120" cy="3291840"/>
          </a:xfrm>
          <a:prstGeom prst="roundRect">
            <a:avLst>
              <a:gd name="adj" fmla="val 4348"/>
            </a:avLst>
          </a:prstGeom>
          <a:solidFill>
            <a:srgbClr val="F0FDFA"/>
          </a:solidFill>
          <a:ln w="12700">
            <a:solidFill>
              <a:srgbClr val="F0FDFA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31520" y="1691640"/>
            <a:ext cx="512064" cy="512064"/>
          </a:xfrm>
          <a:prstGeom prst="roundRect">
            <a:avLst>
              <a:gd name="adj" fmla="val 22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174" y="1804294"/>
            <a:ext cx="286756" cy="28675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31520" y="22860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Account / Lead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731520" y="2697480"/>
            <a:ext cx="1783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334155"/>
                </a:solidFill>
              </a:rPr>
              <a:t>ID, name, company, dealer type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334155"/>
                </a:solidFill>
              </a:rPr>
              <a:t>Country, region, city, contacts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334155"/>
                </a:solidFill>
              </a:rPr>
              <a:t>Status, sector, sub-sector, products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334155"/>
                </a:solidFill>
              </a:rPr>
              <a:t>Verification date, owner, score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2796235" y="1508760"/>
            <a:ext cx="2103120" cy="3291840"/>
          </a:xfrm>
          <a:prstGeom prst="roundRect">
            <a:avLst>
              <a:gd name="adj" fmla="val 4348"/>
            </a:avLst>
          </a:prstGeom>
          <a:solidFill>
            <a:srgbClr val="EBF2FF"/>
          </a:solidFill>
          <a:ln w="12700">
            <a:solidFill>
              <a:srgbClr val="EBF2FF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2979115" y="1691640"/>
            <a:ext cx="512064" cy="512064"/>
          </a:xfrm>
          <a:prstGeom prst="roundRect">
            <a:avLst>
              <a:gd name="adj" fmla="val 22000"/>
            </a:avLst>
          </a:prstGeom>
          <a:solidFill>
            <a:srgbClr val="1D6FEB"/>
          </a:solidFill>
          <a:ln w="12700">
            <a:solidFill>
              <a:srgbClr val="1D6FEB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91769" y="1804294"/>
            <a:ext cx="286756" cy="28675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2979115" y="22860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Sales record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2979115" y="2697480"/>
            <a:ext cx="1783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334155"/>
                </a:solidFill>
              </a:rPr>
              <a:t>Customer and country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334155"/>
                </a:solidFill>
              </a:rPr>
              <a:t>Month / year and product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334155"/>
                </a:solidFill>
              </a:rPr>
              <a:t>Quantity, amount, currency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334155"/>
                </a:solidFill>
              </a:rPr>
              <a:t>Order status (phase 2)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5043830" y="1508760"/>
            <a:ext cx="2103120" cy="3291840"/>
          </a:xfrm>
          <a:prstGeom prst="roundRect">
            <a:avLst>
              <a:gd name="adj" fmla="val 4348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5226710" y="1691640"/>
            <a:ext cx="512064" cy="512064"/>
          </a:xfrm>
          <a:prstGeom prst="roundRect">
            <a:avLst>
              <a:gd name="adj" fmla="val 22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39364" y="1804294"/>
            <a:ext cx="286756" cy="28675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5226710" y="22860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Communication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5226710" y="2697480"/>
            <a:ext cx="1783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334155"/>
                </a:solidFill>
              </a:rPr>
              <a:t>Email, WhatsApp, call or meeting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334155"/>
                </a:solidFill>
              </a:rPr>
              <a:t>Sender / recipient, subject, body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334155"/>
                </a:solidFill>
              </a:rPr>
              <a:t>Status and timestamp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334155"/>
                </a:solidFill>
              </a:rPr>
              <a:t>Sequence step and outcome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7291426" y="1508760"/>
            <a:ext cx="2103120" cy="3291840"/>
          </a:xfrm>
          <a:prstGeom prst="roundRect">
            <a:avLst>
              <a:gd name="adj" fmla="val 4348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0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7474306" y="1691640"/>
            <a:ext cx="512064" cy="512064"/>
          </a:xfrm>
          <a:prstGeom prst="roundRect">
            <a:avLst>
              <a:gd name="adj" fmla="val 22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86960" y="1804294"/>
            <a:ext cx="286756" cy="286756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7474306" y="22860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Organisation</a:t>
            </a:r>
            <a:endParaRPr lang="en-US" sz="1500" dirty="0"/>
          </a:p>
        </p:txBody>
      </p:sp>
      <p:sp>
        <p:nvSpPr>
          <p:cNvPr id="30" name="Text 23"/>
          <p:cNvSpPr txBox="1"/>
          <p:nvPr/>
        </p:nvSpPr>
        <p:spPr>
          <a:xfrm>
            <a:off x="7474306" y="2697480"/>
            <a:ext cx="1783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334155"/>
                </a:solidFill>
              </a:rPr>
              <a:t>Sector, sub-sectors, industry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334155"/>
                </a:solidFill>
              </a:rPr>
              <a:t>Locations and territories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334155"/>
                </a:solidFill>
              </a:rPr>
              <a:t>Users, roles, teams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334155"/>
                </a:solidFill>
              </a:rPr>
              <a:t>Scoring weights &amp; sync rules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9539021" y="1508760"/>
            <a:ext cx="2103120" cy="3291840"/>
          </a:xfrm>
          <a:prstGeom prst="roundRect">
            <a:avLst>
              <a:gd name="adj" fmla="val 4348"/>
            </a:avLst>
          </a:prstGeom>
          <a:solidFill>
            <a:srgbClr val="FFF1F2"/>
          </a:solidFill>
          <a:ln w="12700">
            <a:solidFill>
              <a:srgbClr val="FFF1F2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0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9721901" y="1691640"/>
            <a:ext cx="512064" cy="512064"/>
          </a:xfrm>
          <a:prstGeom prst="roundRect">
            <a:avLst>
              <a:gd name="adj" fmla="val 22000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34555" y="1804294"/>
            <a:ext cx="286756" cy="286756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9721901" y="22860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Signal</a:t>
            </a:r>
            <a:endParaRPr lang="en-US" sz="1500" dirty="0"/>
          </a:p>
        </p:txBody>
      </p:sp>
      <p:sp>
        <p:nvSpPr>
          <p:cNvPr id="35" name="Text 27"/>
          <p:cNvSpPr txBox="1"/>
          <p:nvPr/>
        </p:nvSpPr>
        <p:spPr>
          <a:xfrm>
            <a:off x="9721901" y="2697480"/>
            <a:ext cx="1783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334155"/>
                </a:solidFill>
              </a:rPr>
              <a:t>Source URL and captured date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334155"/>
                </a:solidFill>
              </a:rPr>
              <a:t>Type: tender, registration, news…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334155"/>
                </a:solidFill>
              </a:rPr>
              <a:t>Matched account and confidence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334155"/>
                </a:solidFill>
              </a:rPr>
              <a:t>Evidence snippet</a:t>
            </a:r>
            <a:endParaRPr lang="en-US" sz="1100" dirty="0"/>
          </a:p>
        </p:txBody>
      </p:sp>
      <p:sp>
        <p:nvSpPr>
          <p:cNvPr id="36" name="Shape 28"/>
          <p:cNvSpPr/>
          <p:nvPr/>
        </p:nvSpPr>
        <p:spPr>
          <a:xfrm>
            <a:off x="548640" y="5029200"/>
            <a:ext cx="11091672" cy="109728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777240" y="5257800"/>
            <a:ext cx="640080" cy="640080"/>
          </a:xfrm>
          <a:prstGeom prst="roundRect">
            <a:avLst>
              <a:gd name="adj" fmla="val 22000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8058" y="5398618"/>
            <a:ext cx="358445" cy="358445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1600200" y="5138928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Most roadmap features build on this model without schema changes.</a:t>
            </a:r>
            <a:endParaRPr lang="en-US" sz="1350" dirty="0"/>
          </a:p>
        </p:txBody>
      </p:sp>
      <p:sp>
        <p:nvSpPr>
          <p:cNvPr id="40" name="Text 31"/>
          <p:cNvSpPr txBox="1"/>
          <p:nvPr/>
        </p:nvSpPr>
        <p:spPr>
          <a:xfrm>
            <a:off x="1600200" y="5440680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Order-lifecycle tracking adds one status field; lookalike and cross-sell analysis use the existing sector / product / region fields. Data quality checks (duplicates, missing regions, stale verification dates) run on every import and are reported on the dashboard.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Solution architecture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API-first, cloud-hosted, built for live integrations from day one — mock data never has to be replaced later</a:t>
            </a:r>
            <a:endParaRPr lang="en-US" sz="1400" dirty="0"/>
          </a:p>
        </p:txBody>
      </p:sp>
      <p:sp>
        <p:nvSpPr>
          <p:cNvPr id="4" name="Text 2">
            <a:hlinkClick r:id="rId1" tooltip="Back to Navigator" action="ppaction://hlinksldjump"/>
          </p:cNvPr>
          <p:cNvSpPr txBox="1"/>
          <p:nvPr/>
        </p:nvSpPr>
        <p:spPr>
          <a:xfrm>
            <a:off x="8732520" y="475488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EBF2FF"/>
          </a:solidFill>
          <a:ln>
            <a:solidFill>
              <a:srgbClr val="EBF2FF"/>
            </a:solidFill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40AF"/>
                </a:solidFill>
              </a:rPr>
              <a:t>DATA &amp; ARCHITECTURE</a:t>
            </a:r>
            <a:endParaRPr lang="en-US" sz="9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20624"/>
            <a:ext cx="561353" cy="4206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991088" y="420624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Lead</a:t>
            </a:r>
            <a:pPr indent="0" marL="0">
              <a:buNone/>
            </a:pPr>
            <a:r>
              <a:rPr lang="en-US" sz="1700" b="1" dirty="0">
                <a:solidFill>
                  <a:srgbClr val="1D6FEB"/>
                </a:solidFill>
              </a:rPr>
              <a:t>Pilot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327648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1D6FEB"/>
          </a:solidFill>
          <a:ln>
            <a:solidFill>
              <a:srgbClr val="1D6FEB"/>
            </a:solidFill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⌂  Navigator</a:t>
            </a:r>
            <a:endParaRPr lang="en-US" sz="1000" dirty="0"/>
          </a:p>
        </p:txBody>
      </p:sp>
      <p:sp>
        <p:nvSpPr>
          <p:cNvPr id="8" name="Text 5">
            <a:hlinkClick r:id="rId4" tooltip="Previous: Data foundation" action="ppaction://hlinksldjump"/>
          </p:cNvPr>
          <p:cNvSpPr txBox="1"/>
          <p:nvPr/>
        </p:nvSpPr>
        <p:spPr>
          <a:xfrm>
            <a:off x="1920240" y="6327648"/>
            <a:ext cx="1485900" cy="329184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</a:rPr>
              <a:t>←  Data foundation</a:t>
            </a:r>
            <a:endParaRPr lang="en-US" sz="1000" dirty="0"/>
          </a:p>
        </p:txBody>
      </p:sp>
      <p:sp>
        <p:nvSpPr>
          <p:cNvPr id="9" name="Text 6">
            <a:hlinkClick r:id="rId5" tooltip="Next: Security" action="ppaction://hlinksldjump"/>
          </p:cNvPr>
          <p:cNvSpPr txBox="1"/>
          <p:nvPr/>
        </p:nvSpPr>
        <p:spPr>
          <a:xfrm>
            <a:off x="3543300" y="6327648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</a:rPr>
              <a:t>Security  →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0607040" y="6327648"/>
            <a:ext cx="1033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17 / 22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48640" y="1508760"/>
            <a:ext cx="2377440" cy="868680"/>
          </a:xfrm>
          <a:prstGeom prst="roundRect">
            <a:avLst>
              <a:gd name="adj" fmla="val 10526"/>
            </a:avLst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1783080"/>
            <a:ext cx="329184" cy="32918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188720" y="150876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Clients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3063240" y="1508760"/>
            <a:ext cx="2084832" cy="868680"/>
          </a:xfrm>
          <a:prstGeom prst="roundRect">
            <a:avLst>
              <a:gd name="adj" fmla="val 10526"/>
            </a:avLst>
          </a:prstGeom>
          <a:solidFill>
            <a:srgbClr val="F0F9FF"/>
          </a:solidFill>
          <a:ln w="12700">
            <a:solidFill>
              <a:srgbClr val="F0F9FF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3200400" y="1600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Web app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3200400" y="19202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Dashboard, accounts, sales, outreach, settings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5257800" y="1508760"/>
            <a:ext cx="2084832" cy="868680"/>
          </a:xfrm>
          <a:prstGeom prst="roundRect">
            <a:avLst>
              <a:gd name="adj" fmla="val 10526"/>
            </a:avLst>
          </a:prstGeom>
          <a:solidFill>
            <a:srgbClr val="F0F9FF"/>
          </a:solidFill>
          <a:ln w="12700">
            <a:solidFill>
              <a:srgbClr val="F0F9FF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5394960" y="1600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Mobile app</a:t>
            </a:r>
            <a:endParaRPr lang="en-US" sz="1150" dirty="0"/>
          </a:p>
        </p:txBody>
      </p:sp>
      <p:sp>
        <p:nvSpPr>
          <p:cNvPr id="19" name="Text 15"/>
          <p:cNvSpPr txBox="1"/>
          <p:nvPr/>
        </p:nvSpPr>
        <p:spPr>
          <a:xfrm>
            <a:off x="5394960" y="19202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Call list, log a touch, scan a visiting card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7452360" y="1508760"/>
            <a:ext cx="2084832" cy="868680"/>
          </a:xfrm>
          <a:prstGeom prst="roundRect">
            <a:avLst>
              <a:gd name="adj" fmla="val 10526"/>
            </a:avLst>
          </a:prstGeom>
          <a:solidFill>
            <a:srgbClr val="F0F9FF"/>
          </a:solidFill>
          <a:ln w="12700">
            <a:solidFill>
              <a:srgbClr val="F0F9FF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7589520" y="1600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Excel add-in (roadmap)</a:t>
            </a:r>
            <a:endParaRPr lang="en-US" sz="1150" dirty="0"/>
          </a:p>
        </p:txBody>
      </p:sp>
      <p:sp>
        <p:nvSpPr>
          <p:cNvPr id="22" name="Text 18"/>
          <p:cNvSpPr txBox="1"/>
          <p:nvPr/>
        </p:nvSpPr>
        <p:spPr>
          <a:xfrm>
            <a:off x="7589520" y="19202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Push a sheet, pull a segment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548640" y="2487168"/>
            <a:ext cx="2377440" cy="868680"/>
          </a:xfrm>
          <a:prstGeom prst="roundRect">
            <a:avLst>
              <a:gd name="adj" fmla="val 10526"/>
            </a:avLst>
          </a:prstGeom>
          <a:solidFill>
            <a:srgbClr val="1D6FEB"/>
          </a:solidFill>
          <a:ln w="12700">
            <a:solidFill>
              <a:srgbClr val="1D6FEB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2761488"/>
            <a:ext cx="329184" cy="329184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1188720" y="2487168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API &amp; workflow layer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3063240" y="2487168"/>
            <a:ext cx="2084832" cy="868680"/>
          </a:xfrm>
          <a:prstGeom prst="roundRect">
            <a:avLst>
              <a:gd name="adj" fmla="val 10526"/>
            </a:avLst>
          </a:prstGeom>
          <a:solidFill>
            <a:srgbClr val="EBF2FF"/>
          </a:solidFill>
          <a:ln w="12700">
            <a:solidFill>
              <a:srgbClr val="EBF2FF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3200400" y="25786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REST API (ASP.NET Core)</a:t>
            </a:r>
            <a:endParaRPr lang="en-US" sz="1150" dirty="0"/>
          </a:p>
        </p:txBody>
      </p:sp>
      <p:sp>
        <p:nvSpPr>
          <p:cNvPr id="28" name="Text 23"/>
          <p:cNvSpPr txBox="1"/>
          <p:nvPr/>
        </p:nvSpPr>
        <p:spPr>
          <a:xfrm>
            <a:off x="3200400" y="289864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Auth, roles, tenants, rate limits</a:t>
            </a:r>
            <a:endParaRPr lang="en-US" sz="950" dirty="0"/>
          </a:p>
        </p:txBody>
      </p:sp>
      <p:sp>
        <p:nvSpPr>
          <p:cNvPr id="29" name="Shape 24"/>
          <p:cNvSpPr/>
          <p:nvPr/>
        </p:nvSpPr>
        <p:spPr>
          <a:xfrm>
            <a:off x="5257800" y="2487168"/>
            <a:ext cx="2084832" cy="868680"/>
          </a:xfrm>
          <a:prstGeom prst="roundRect">
            <a:avLst>
              <a:gd name="adj" fmla="val 10526"/>
            </a:avLst>
          </a:prstGeom>
          <a:solidFill>
            <a:srgbClr val="EBF2FF"/>
          </a:solidFill>
          <a:ln w="12700">
            <a:solidFill>
              <a:srgbClr val="EBF2FF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5394960" y="25786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Workflow engine</a:t>
            </a:r>
            <a:endParaRPr lang="en-US" sz="1150" dirty="0"/>
          </a:p>
        </p:txBody>
      </p:sp>
      <p:sp>
        <p:nvSpPr>
          <p:cNvPr id="31" name="Text 26"/>
          <p:cNvSpPr txBox="1"/>
          <p:nvPr/>
        </p:nvSpPr>
        <p:spPr>
          <a:xfrm>
            <a:off x="5394960" y="289864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Sequences, reminders, alert rules</a:t>
            </a:r>
            <a:endParaRPr lang="en-US" sz="950" dirty="0"/>
          </a:p>
        </p:txBody>
      </p:sp>
      <p:sp>
        <p:nvSpPr>
          <p:cNvPr id="32" name="Shape 27"/>
          <p:cNvSpPr/>
          <p:nvPr/>
        </p:nvSpPr>
        <p:spPr>
          <a:xfrm>
            <a:off x="7452360" y="2487168"/>
            <a:ext cx="2084832" cy="868680"/>
          </a:xfrm>
          <a:prstGeom prst="roundRect">
            <a:avLst>
              <a:gd name="adj" fmla="val 10526"/>
            </a:avLst>
          </a:prstGeom>
          <a:solidFill>
            <a:srgbClr val="EBF2FF"/>
          </a:solidFill>
          <a:ln w="12700">
            <a:solidFill>
              <a:srgbClr val="EBF2FF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7589520" y="25786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Import service</a:t>
            </a:r>
            <a:endParaRPr lang="en-US" sz="1150" dirty="0"/>
          </a:p>
        </p:txBody>
      </p:sp>
      <p:sp>
        <p:nvSpPr>
          <p:cNvPr id="34" name="Text 29"/>
          <p:cNvSpPr txBox="1"/>
          <p:nvPr/>
        </p:nvSpPr>
        <p:spPr>
          <a:xfrm>
            <a:off x="7589520" y="289864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Excel / CSV parsing and validation</a:t>
            </a:r>
            <a:endParaRPr lang="en-US" sz="950" dirty="0"/>
          </a:p>
        </p:txBody>
      </p:sp>
      <p:sp>
        <p:nvSpPr>
          <p:cNvPr id="35" name="Shape 30"/>
          <p:cNvSpPr/>
          <p:nvPr/>
        </p:nvSpPr>
        <p:spPr>
          <a:xfrm>
            <a:off x="548640" y="3465576"/>
            <a:ext cx="2377440" cy="868680"/>
          </a:xfrm>
          <a:prstGeom prst="roundRect">
            <a:avLst>
              <a:gd name="adj" fmla="val 1052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520" y="3739896"/>
            <a:ext cx="329184" cy="329184"/>
          </a:xfrm>
          <a:prstGeom prst="rect">
            <a:avLst/>
          </a:prstGeom>
        </p:spPr>
      </p:pic>
      <p:sp>
        <p:nvSpPr>
          <p:cNvPr id="37" name="Text 31"/>
          <p:cNvSpPr txBox="1"/>
          <p:nvPr/>
        </p:nvSpPr>
        <p:spPr>
          <a:xfrm>
            <a:off x="1188720" y="3465576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Intelligence services</a:t>
            </a:r>
            <a:endParaRPr lang="en-US" sz="1300" dirty="0"/>
          </a:p>
        </p:txBody>
      </p:sp>
      <p:sp>
        <p:nvSpPr>
          <p:cNvPr id="38" name="Shape 32"/>
          <p:cNvSpPr/>
          <p:nvPr/>
        </p:nvSpPr>
        <p:spPr>
          <a:xfrm>
            <a:off x="3063240" y="3465576"/>
            <a:ext cx="2084832" cy="868680"/>
          </a:xfrm>
          <a:prstGeom prst="roundRect">
            <a:avLst>
              <a:gd name="adj" fmla="val 10526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39" name="Text 33"/>
          <p:cNvSpPr txBox="1"/>
          <p:nvPr/>
        </p:nvSpPr>
        <p:spPr>
          <a:xfrm>
            <a:off x="3200400" y="355701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Forecast engine</a:t>
            </a:r>
            <a:endParaRPr lang="en-US" sz="1150" dirty="0"/>
          </a:p>
        </p:txBody>
      </p:sp>
      <p:sp>
        <p:nvSpPr>
          <p:cNvPr id="40" name="Text 34"/>
          <p:cNvSpPr txBox="1"/>
          <p:nvPr/>
        </p:nvSpPr>
        <p:spPr>
          <a:xfrm>
            <a:off x="3200400" y="3877056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OLS regression; seasonal models next</a:t>
            </a:r>
            <a:endParaRPr lang="en-US" sz="950" dirty="0"/>
          </a:p>
        </p:txBody>
      </p:sp>
      <p:sp>
        <p:nvSpPr>
          <p:cNvPr id="41" name="Shape 35"/>
          <p:cNvSpPr/>
          <p:nvPr/>
        </p:nvSpPr>
        <p:spPr>
          <a:xfrm>
            <a:off x="5257800" y="3465576"/>
            <a:ext cx="2084832" cy="868680"/>
          </a:xfrm>
          <a:prstGeom prst="roundRect">
            <a:avLst>
              <a:gd name="adj" fmla="val 10526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42" name="Text 36"/>
          <p:cNvSpPr txBox="1"/>
          <p:nvPr/>
        </p:nvSpPr>
        <p:spPr>
          <a:xfrm>
            <a:off x="5394960" y="355701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Scoring engine</a:t>
            </a:r>
            <a:endParaRPr lang="en-US" sz="1150" dirty="0"/>
          </a:p>
        </p:txBody>
      </p:sp>
      <p:sp>
        <p:nvSpPr>
          <p:cNvPr id="43" name="Text 37"/>
          <p:cNvSpPr txBox="1"/>
          <p:nvPr/>
        </p:nvSpPr>
        <p:spPr>
          <a:xfrm>
            <a:off x="5394960" y="3877056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Weighted signals, explainable output</a:t>
            </a:r>
            <a:endParaRPr lang="en-US" sz="950" dirty="0"/>
          </a:p>
        </p:txBody>
      </p:sp>
      <p:sp>
        <p:nvSpPr>
          <p:cNvPr id="44" name="Shape 38"/>
          <p:cNvSpPr/>
          <p:nvPr/>
        </p:nvSpPr>
        <p:spPr>
          <a:xfrm>
            <a:off x="7452360" y="3465576"/>
            <a:ext cx="2084832" cy="868680"/>
          </a:xfrm>
          <a:prstGeom prst="roundRect">
            <a:avLst>
              <a:gd name="adj" fmla="val 10526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45" name="Text 39"/>
          <p:cNvSpPr txBox="1"/>
          <p:nvPr/>
        </p:nvSpPr>
        <p:spPr>
          <a:xfrm>
            <a:off x="7589520" y="355701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AI agents (Azure OpenAI)</a:t>
            </a:r>
            <a:endParaRPr lang="en-US" sz="1150" dirty="0"/>
          </a:p>
        </p:txBody>
      </p:sp>
      <p:sp>
        <p:nvSpPr>
          <p:cNvPr id="46" name="Text 40"/>
          <p:cNvSpPr txBox="1"/>
          <p:nvPr/>
        </p:nvSpPr>
        <p:spPr>
          <a:xfrm>
            <a:off x="7589520" y="3877056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Discovery, extraction, enrichment, summaries</a:t>
            </a:r>
            <a:endParaRPr lang="en-US" sz="950" dirty="0"/>
          </a:p>
        </p:txBody>
      </p:sp>
      <p:sp>
        <p:nvSpPr>
          <p:cNvPr id="47" name="Shape 41"/>
          <p:cNvSpPr/>
          <p:nvPr/>
        </p:nvSpPr>
        <p:spPr>
          <a:xfrm>
            <a:off x="548640" y="4443984"/>
            <a:ext cx="2377440" cy="868680"/>
          </a:xfrm>
          <a:prstGeom prst="roundRect">
            <a:avLst>
              <a:gd name="adj" fmla="val 1052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48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1520" y="4718304"/>
            <a:ext cx="329184" cy="329184"/>
          </a:xfrm>
          <a:prstGeom prst="rect">
            <a:avLst/>
          </a:prstGeom>
        </p:spPr>
      </p:pic>
      <p:sp>
        <p:nvSpPr>
          <p:cNvPr id="49" name="Text 42"/>
          <p:cNvSpPr txBox="1"/>
          <p:nvPr/>
        </p:nvSpPr>
        <p:spPr>
          <a:xfrm>
            <a:off x="1188720" y="4443984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Data &amp; integrations</a:t>
            </a:r>
            <a:endParaRPr lang="en-US" sz="1300" dirty="0"/>
          </a:p>
        </p:txBody>
      </p:sp>
      <p:sp>
        <p:nvSpPr>
          <p:cNvPr id="50" name="Shape 43"/>
          <p:cNvSpPr/>
          <p:nvPr/>
        </p:nvSpPr>
        <p:spPr>
          <a:xfrm>
            <a:off x="3063240" y="4443984"/>
            <a:ext cx="2084832" cy="868680"/>
          </a:xfrm>
          <a:prstGeom prst="roundRect">
            <a:avLst>
              <a:gd name="adj" fmla="val 10526"/>
            </a:avLst>
          </a:prstGeom>
          <a:solidFill>
            <a:srgbClr val="F0FDFA"/>
          </a:solidFill>
          <a:ln w="12700">
            <a:solidFill>
              <a:srgbClr val="F0FDFA"/>
            </a:solidFill>
            <a:prstDash val="solid"/>
          </a:ln>
        </p:spPr>
      </p:sp>
      <p:sp>
        <p:nvSpPr>
          <p:cNvPr id="51" name="Text 44"/>
          <p:cNvSpPr txBox="1"/>
          <p:nvPr/>
        </p:nvSpPr>
        <p:spPr>
          <a:xfrm>
            <a:off x="3200400" y="453542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SQL database</a:t>
            </a:r>
            <a:endParaRPr lang="en-US" sz="1150" dirty="0"/>
          </a:p>
        </p:txBody>
      </p:sp>
      <p:sp>
        <p:nvSpPr>
          <p:cNvPr id="52" name="Text 45"/>
          <p:cNvSpPr txBox="1"/>
          <p:nvPr/>
        </p:nvSpPr>
        <p:spPr>
          <a:xfrm>
            <a:off x="3200400" y="485546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Tenant-isolated; daily backups</a:t>
            </a:r>
            <a:endParaRPr lang="en-US" sz="950" dirty="0"/>
          </a:p>
        </p:txBody>
      </p:sp>
      <p:sp>
        <p:nvSpPr>
          <p:cNvPr id="53" name="Shape 46"/>
          <p:cNvSpPr/>
          <p:nvPr/>
        </p:nvSpPr>
        <p:spPr>
          <a:xfrm>
            <a:off x="5257800" y="4443984"/>
            <a:ext cx="2084832" cy="868680"/>
          </a:xfrm>
          <a:prstGeom prst="roundRect">
            <a:avLst>
              <a:gd name="adj" fmla="val 10526"/>
            </a:avLst>
          </a:prstGeom>
          <a:solidFill>
            <a:srgbClr val="F0FDFA"/>
          </a:solidFill>
          <a:ln w="12700">
            <a:solidFill>
              <a:srgbClr val="F0FDFA"/>
            </a:solidFill>
            <a:prstDash val="solid"/>
          </a:ln>
        </p:spPr>
      </p:sp>
      <p:sp>
        <p:nvSpPr>
          <p:cNvPr id="54" name="Text 47"/>
          <p:cNvSpPr txBox="1"/>
          <p:nvPr/>
        </p:nvSpPr>
        <p:spPr>
          <a:xfrm>
            <a:off x="5394960" y="453542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Blob storage &amp; search index</a:t>
            </a:r>
            <a:endParaRPr lang="en-US" sz="1150" dirty="0"/>
          </a:p>
        </p:txBody>
      </p:sp>
      <p:sp>
        <p:nvSpPr>
          <p:cNvPr id="55" name="Text 48"/>
          <p:cNvSpPr txBox="1"/>
          <p:nvPr/>
        </p:nvSpPr>
        <p:spPr>
          <a:xfrm>
            <a:off x="5394960" y="485546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Uploads, documents, full-text search</a:t>
            </a:r>
            <a:endParaRPr lang="en-US" sz="950" dirty="0"/>
          </a:p>
        </p:txBody>
      </p:sp>
      <p:sp>
        <p:nvSpPr>
          <p:cNvPr id="56" name="Shape 49"/>
          <p:cNvSpPr/>
          <p:nvPr/>
        </p:nvSpPr>
        <p:spPr>
          <a:xfrm>
            <a:off x="7452360" y="4443984"/>
            <a:ext cx="2084832" cy="868680"/>
          </a:xfrm>
          <a:prstGeom prst="roundRect">
            <a:avLst>
              <a:gd name="adj" fmla="val 10526"/>
            </a:avLst>
          </a:prstGeom>
          <a:solidFill>
            <a:srgbClr val="F0FDFA"/>
          </a:solidFill>
          <a:ln w="12700">
            <a:solidFill>
              <a:srgbClr val="F0FDFA"/>
            </a:solidFill>
            <a:prstDash val="solid"/>
          </a:ln>
        </p:spPr>
      </p:sp>
      <p:sp>
        <p:nvSpPr>
          <p:cNvPr id="57" name="Text 50"/>
          <p:cNvSpPr txBox="1"/>
          <p:nvPr/>
        </p:nvSpPr>
        <p:spPr>
          <a:xfrm>
            <a:off x="7589520" y="453542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Connectors</a:t>
            </a:r>
            <a:endParaRPr lang="en-US" sz="1150" dirty="0"/>
          </a:p>
        </p:txBody>
      </p:sp>
      <p:sp>
        <p:nvSpPr>
          <p:cNvPr id="58" name="Text 51"/>
          <p:cNvSpPr txBox="1"/>
          <p:nvPr/>
        </p:nvSpPr>
        <p:spPr>
          <a:xfrm>
            <a:off x="7589520" y="485546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CRM, ERP, WhatsApp, mailbox, public portals</a:t>
            </a:r>
            <a:endParaRPr lang="en-US" sz="950" dirty="0"/>
          </a:p>
        </p:txBody>
      </p:sp>
      <p:sp>
        <p:nvSpPr>
          <p:cNvPr id="59" name="Shape 52"/>
          <p:cNvSpPr/>
          <p:nvPr/>
        </p:nvSpPr>
        <p:spPr>
          <a:xfrm>
            <a:off x="9738360" y="1508760"/>
            <a:ext cx="1901952" cy="3749040"/>
          </a:xfrm>
          <a:prstGeom prst="roundRect">
            <a:avLst>
              <a:gd name="adj" fmla="val 4808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60" name="Text 53"/>
          <p:cNvSpPr txBox="1"/>
          <p:nvPr/>
        </p:nvSpPr>
        <p:spPr>
          <a:xfrm>
            <a:off x="9921240" y="1645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5B4FC"/>
                </a:solidFill>
              </a:rPr>
              <a:t>PLATFORM FACTS</a:t>
            </a:r>
            <a:endParaRPr lang="en-US" sz="900" dirty="0"/>
          </a:p>
        </p:txBody>
      </p:sp>
      <p:pic>
        <p:nvPicPr>
          <p:cNvPr id="61" name="Image 5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21240" y="2057400"/>
            <a:ext cx="274320" cy="274320"/>
          </a:xfrm>
          <a:prstGeom prst="rect">
            <a:avLst/>
          </a:prstGeom>
        </p:spPr>
      </p:pic>
      <p:sp>
        <p:nvSpPr>
          <p:cNvPr id="62" name="Text 54"/>
          <p:cNvSpPr txBox="1"/>
          <p:nvPr/>
        </p:nvSpPr>
        <p:spPr>
          <a:xfrm>
            <a:off x="10287000" y="20116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Microsoft Azure</a:t>
            </a:r>
            <a:endParaRPr lang="en-US" sz="1100" dirty="0"/>
          </a:p>
        </p:txBody>
      </p:sp>
      <p:sp>
        <p:nvSpPr>
          <p:cNvPr id="63" name="Text 55"/>
          <p:cNvSpPr txBox="1"/>
          <p:nvPr/>
        </p:nvSpPr>
        <p:spPr>
          <a:xfrm>
            <a:off x="10287000" y="226771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7D2FE"/>
                </a:solidFill>
              </a:rPr>
              <a:t>India regions available</a:t>
            </a:r>
            <a:endParaRPr lang="en-US" sz="850" dirty="0"/>
          </a:p>
        </p:txBody>
      </p:sp>
      <p:pic>
        <p:nvPicPr>
          <p:cNvPr id="64" name="Image 6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21240" y="2697480"/>
            <a:ext cx="274320" cy="274320"/>
          </a:xfrm>
          <a:prstGeom prst="rect">
            <a:avLst/>
          </a:prstGeom>
        </p:spPr>
      </p:pic>
      <p:sp>
        <p:nvSpPr>
          <p:cNvPr id="65" name="Text 56"/>
          <p:cNvSpPr txBox="1"/>
          <p:nvPr/>
        </p:nvSpPr>
        <p:spPr>
          <a:xfrm>
            <a:off x="10287000" y="265176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Multi-tenant</a:t>
            </a:r>
            <a:endParaRPr lang="en-US" sz="1100" dirty="0"/>
          </a:p>
        </p:txBody>
      </p:sp>
      <p:sp>
        <p:nvSpPr>
          <p:cNvPr id="66" name="Text 57"/>
          <p:cNvSpPr txBox="1"/>
          <p:nvPr/>
        </p:nvSpPr>
        <p:spPr>
          <a:xfrm>
            <a:off x="10287000" y="290779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7D2FE"/>
                </a:solidFill>
              </a:rPr>
              <a:t>Per-client isolation</a:t>
            </a:r>
            <a:endParaRPr lang="en-US" sz="850" dirty="0"/>
          </a:p>
        </p:txBody>
      </p:sp>
      <p:pic>
        <p:nvPicPr>
          <p:cNvPr id="67" name="Image 7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921240" y="3337560"/>
            <a:ext cx="274320" cy="274320"/>
          </a:xfrm>
          <a:prstGeom prst="rect">
            <a:avLst/>
          </a:prstGeom>
        </p:spPr>
      </p:pic>
      <p:sp>
        <p:nvSpPr>
          <p:cNvPr id="68" name="Text 58"/>
          <p:cNvSpPr txBox="1"/>
          <p:nvPr/>
        </p:nvSpPr>
        <p:spPr>
          <a:xfrm>
            <a:off x="10287000" y="32918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API-first</a:t>
            </a:r>
            <a:endParaRPr lang="en-US" sz="1100" dirty="0"/>
          </a:p>
        </p:txBody>
      </p:sp>
      <p:sp>
        <p:nvSpPr>
          <p:cNvPr id="69" name="Text 59"/>
          <p:cNvSpPr txBox="1"/>
          <p:nvPr/>
        </p:nvSpPr>
        <p:spPr>
          <a:xfrm>
            <a:off x="10287000" y="354787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7D2FE"/>
                </a:solidFill>
              </a:rPr>
              <a:t>Every screen uses the public API</a:t>
            </a:r>
            <a:endParaRPr lang="en-US" sz="850" dirty="0"/>
          </a:p>
        </p:txBody>
      </p:sp>
      <p:pic>
        <p:nvPicPr>
          <p:cNvPr id="70" name="Image 8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921240" y="3977640"/>
            <a:ext cx="274320" cy="274320"/>
          </a:xfrm>
          <a:prstGeom prst="rect">
            <a:avLst/>
          </a:prstGeom>
        </p:spPr>
      </p:pic>
      <p:sp>
        <p:nvSpPr>
          <p:cNvPr id="71" name="Text 60"/>
          <p:cNvSpPr txBox="1"/>
          <p:nvPr/>
        </p:nvSpPr>
        <p:spPr>
          <a:xfrm>
            <a:off x="10287000" y="393192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Responsive</a:t>
            </a:r>
            <a:endParaRPr lang="en-US" sz="1100" dirty="0"/>
          </a:p>
        </p:txBody>
      </p:sp>
      <p:sp>
        <p:nvSpPr>
          <p:cNvPr id="72" name="Text 61"/>
          <p:cNvSpPr txBox="1"/>
          <p:nvPr/>
        </p:nvSpPr>
        <p:spPr>
          <a:xfrm>
            <a:off x="10287000" y="418795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7D2FE"/>
                </a:solidFill>
              </a:rPr>
              <a:t>Works on phones in the field</a:t>
            </a:r>
            <a:endParaRPr lang="en-US" sz="850" dirty="0"/>
          </a:p>
        </p:txBody>
      </p:sp>
      <p:pic>
        <p:nvPicPr>
          <p:cNvPr id="73" name="Image 9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921240" y="4617720"/>
            <a:ext cx="274320" cy="274320"/>
          </a:xfrm>
          <a:prstGeom prst="rect">
            <a:avLst/>
          </a:prstGeom>
        </p:spPr>
      </p:pic>
      <p:sp>
        <p:nvSpPr>
          <p:cNvPr id="74" name="Text 62"/>
          <p:cNvSpPr txBox="1"/>
          <p:nvPr/>
        </p:nvSpPr>
        <p:spPr>
          <a:xfrm>
            <a:off x="10287000" y="45720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Observable</a:t>
            </a:r>
            <a:endParaRPr lang="en-US" sz="1100" dirty="0"/>
          </a:p>
        </p:txBody>
      </p:sp>
      <p:sp>
        <p:nvSpPr>
          <p:cNvPr id="75" name="Text 63"/>
          <p:cNvSpPr txBox="1"/>
          <p:nvPr/>
        </p:nvSpPr>
        <p:spPr>
          <a:xfrm>
            <a:off x="10287000" y="482803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7D2FE"/>
                </a:solidFill>
              </a:rPr>
              <a:t>Health, sync lag, crawl runs</a:t>
            </a:r>
            <a:endParaRPr lang="en-US" sz="850" dirty="0"/>
          </a:p>
        </p:txBody>
      </p:sp>
      <p:sp>
        <p:nvSpPr>
          <p:cNvPr id="76" name="Shape 64"/>
          <p:cNvSpPr/>
          <p:nvPr/>
        </p:nvSpPr>
        <p:spPr>
          <a:xfrm>
            <a:off x="548640" y="5440680"/>
            <a:ext cx="11091672" cy="6858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7" name="Text 65"/>
          <p:cNvSpPr txBox="1"/>
          <p:nvPr/>
        </p:nvSpPr>
        <p:spPr>
          <a:xfrm>
            <a:off x="777240" y="544068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Decoupled by design: account, sales, communication and organisation services sit behind one API, so a client can start on uploaded Excel and switch to live CRM / ERP sync without any UI rework.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Security &amp; data ownership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Your dealer list is your most valuable asset — the platform is built so it stays yours, visible only to the people you choose</a:t>
            </a:r>
            <a:endParaRPr lang="en-US" sz="1400" dirty="0"/>
          </a:p>
        </p:txBody>
      </p:sp>
      <p:sp>
        <p:nvSpPr>
          <p:cNvPr id="4" name="Text 2">
            <a:hlinkClick r:id="rId1" tooltip="Back to Navigator" action="ppaction://hlinksldjump"/>
          </p:cNvPr>
          <p:cNvSpPr txBox="1"/>
          <p:nvPr/>
        </p:nvSpPr>
        <p:spPr>
          <a:xfrm>
            <a:off x="8732520" y="475488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EBF2FF"/>
          </a:solidFill>
          <a:ln>
            <a:solidFill>
              <a:srgbClr val="EBF2FF"/>
            </a:solidFill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40AF"/>
                </a:solidFill>
              </a:rPr>
              <a:t>SECURITY &amp; ROLLOUT</a:t>
            </a:r>
            <a:endParaRPr lang="en-US" sz="9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20624"/>
            <a:ext cx="561353" cy="4206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991088" y="420624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Lead</a:t>
            </a:r>
            <a:pPr indent="0" marL="0">
              <a:buNone/>
            </a:pPr>
            <a:r>
              <a:rPr lang="en-US" sz="1700" b="1" dirty="0">
                <a:solidFill>
                  <a:srgbClr val="1D6FEB"/>
                </a:solidFill>
              </a:rPr>
              <a:t>Pilot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327648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1D6FEB"/>
          </a:solidFill>
          <a:ln>
            <a:solidFill>
              <a:srgbClr val="1D6FEB"/>
            </a:solidFill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⌂  Navigator</a:t>
            </a:r>
            <a:endParaRPr lang="en-US" sz="1000" dirty="0"/>
          </a:p>
        </p:txBody>
      </p:sp>
      <p:sp>
        <p:nvSpPr>
          <p:cNvPr id="8" name="Text 5">
            <a:hlinkClick r:id="rId4" tooltip="Previous: Architecture" action="ppaction://hlinksldjump"/>
          </p:cNvPr>
          <p:cNvSpPr txBox="1"/>
          <p:nvPr/>
        </p:nvSpPr>
        <p:spPr>
          <a:xfrm>
            <a:off x="1920240" y="6327648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</a:rPr>
              <a:t>←  Architecture</a:t>
            </a:r>
            <a:endParaRPr lang="en-US" sz="1000" dirty="0"/>
          </a:p>
        </p:txBody>
      </p:sp>
      <p:sp>
        <p:nvSpPr>
          <p:cNvPr id="9" name="Text 6">
            <a:hlinkClick r:id="rId5" tooltip="Next: Rollout plan" action="ppaction://hlinksldjump"/>
          </p:cNvPr>
          <p:cNvSpPr txBox="1"/>
          <p:nvPr/>
        </p:nvSpPr>
        <p:spPr>
          <a:xfrm>
            <a:off x="3337560" y="6327648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</a:rPr>
              <a:t>Rollout plan  →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0607040" y="6327648"/>
            <a:ext cx="1033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18 / 22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48640" y="1508760"/>
            <a:ext cx="3566160" cy="1691640"/>
          </a:xfrm>
          <a:prstGeom prst="roundRect">
            <a:avLst>
              <a:gd name="adj" fmla="val 5405"/>
            </a:avLst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49808" y="1709928"/>
            <a:ext cx="493776" cy="493776"/>
          </a:xfrm>
          <a:prstGeom prst="roundRect">
            <a:avLst>
              <a:gd name="adj" fmla="val 22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8439" y="1818559"/>
            <a:ext cx="276515" cy="27651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371600" y="1709928"/>
            <a:ext cx="2560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Your data stays yours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749808" y="2331720"/>
            <a:ext cx="31638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Full export at any time in Excel / CSV / JSON. Deleted on request within 30 days of contract end. Never used to train shared models.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311396" y="1508760"/>
            <a:ext cx="3566160" cy="1691640"/>
          </a:xfrm>
          <a:prstGeom prst="roundRect">
            <a:avLst>
              <a:gd name="adj" fmla="val 5405"/>
            </a:avLst>
          </a:prstGeom>
          <a:solidFill>
            <a:srgbClr val="EBF2FF"/>
          </a:solidFill>
          <a:ln w="12700">
            <a:solidFill>
              <a:srgbClr val="EBF2FF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512564" y="1709928"/>
            <a:ext cx="493776" cy="493776"/>
          </a:xfrm>
          <a:prstGeom prst="roundRect">
            <a:avLst>
              <a:gd name="adj" fmla="val 22000"/>
            </a:avLst>
          </a:prstGeom>
          <a:solidFill>
            <a:srgbClr val="1D6FEB"/>
          </a:solidFill>
          <a:ln w="12700">
            <a:solidFill>
              <a:srgbClr val="1D6FEB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21195" y="1818559"/>
            <a:ext cx="276515" cy="27651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134356" y="1709928"/>
            <a:ext cx="2560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Role-based access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4512564" y="2331720"/>
            <a:ext cx="31638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Owner, manager, rep and read-only roles; territory and segment scoping so a rep sees only their accounts.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8074152" y="1508760"/>
            <a:ext cx="3566160" cy="1691640"/>
          </a:xfrm>
          <a:prstGeom prst="roundRect">
            <a:avLst>
              <a:gd name="adj" fmla="val 5405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275320" y="1709928"/>
            <a:ext cx="493776" cy="493776"/>
          </a:xfrm>
          <a:prstGeom prst="roundRect">
            <a:avLst>
              <a:gd name="adj" fmla="val 22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3951" y="1818559"/>
            <a:ext cx="276515" cy="276515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8897112" y="1709928"/>
            <a:ext cx="2560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Encryption everywhere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8275320" y="2331720"/>
            <a:ext cx="31638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TLS in transit, encryption at rest, secrets in a managed vault; MFA available for every user.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548640" y="3383280"/>
            <a:ext cx="3566160" cy="1691640"/>
          </a:xfrm>
          <a:prstGeom prst="roundRect">
            <a:avLst>
              <a:gd name="adj" fmla="val 5405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0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749808" y="3584448"/>
            <a:ext cx="493776" cy="493776"/>
          </a:xfrm>
          <a:prstGeom prst="roundRect">
            <a:avLst>
              <a:gd name="adj" fmla="val 22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8439" y="3693079"/>
            <a:ext cx="276515" cy="276515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371600" y="3584448"/>
            <a:ext cx="2560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Audit trail</a:t>
            </a:r>
            <a:endParaRPr lang="en-US" sz="1500" dirty="0"/>
          </a:p>
        </p:txBody>
      </p:sp>
      <p:sp>
        <p:nvSpPr>
          <p:cNvPr id="30" name="Text 23"/>
          <p:cNvSpPr txBox="1"/>
          <p:nvPr/>
        </p:nvSpPr>
        <p:spPr>
          <a:xfrm>
            <a:off x="749808" y="4206240"/>
            <a:ext cx="31638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Every view, edit, export and sync is logged with user, time and source system; exportable for review.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4311396" y="3383280"/>
            <a:ext cx="3566160" cy="1691640"/>
          </a:xfrm>
          <a:prstGeom prst="roundRect">
            <a:avLst>
              <a:gd name="adj" fmla="val 5405"/>
            </a:avLst>
          </a:prstGeom>
          <a:solidFill>
            <a:srgbClr val="F0F9FF"/>
          </a:solidFill>
          <a:ln w="12700">
            <a:solidFill>
              <a:srgbClr val="F0F9FF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0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4512564" y="3584448"/>
            <a:ext cx="493776" cy="493776"/>
          </a:xfrm>
          <a:prstGeom prst="roundRect">
            <a:avLst>
              <a:gd name="adj" fmla="val 22000"/>
            </a:avLst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21195" y="3693079"/>
            <a:ext cx="276515" cy="276515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5134356" y="3584448"/>
            <a:ext cx="2560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Tenant isolation</a:t>
            </a:r>
            <a:endParaRPr lang="en-US" sz="1500" dirty="0"/>
          </a:p>
        </p:txBody>
      </p:sp>
      <p:sp>
        <p:nvSpPr>
          <p:cNvPr id="35" name="Text 27"/>
          <p:cNvSpPr txBox="1"/>
          <p:nvPr/>
        </p:nvSpPr>
        <p:spPr>
          <a:xfrm>
            <a:off x="4512564" y="4206240"/>
            <a:ext cx="31638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Each client’s data is logically isolated; dedicated database available for enterprise plans.</a:t>
            </a:r>
            <a:endParaRPr lang="en-US" sz="1100" dirty="0"/>
          </a:p>
        </p:txBody>
      </p:sp>
      <p:sp>
        <p:nvSpPr>
          <p:cNvPr id="36" name="Shape 28"/>
          <p:cNvSpPr/>
          <p:nvPr/>
        </p:nvSpPr>
        <p:spPr>
          <a:xfrm>
            <a:off x="8074152" y="3383280"/>
            <a:ext cx="3566160" cy="1691640"/>
          </a:xfrm>
          <a:prstGeom prst="roundRect">
            <a:avLst>
              <a:gd name="adj" fmla="val 5405"/>
            </a:avLst>
          </a:prstGeom>
          <a:solidFill>
            <a:srgbClr val="F0FDFA"/>
          </a:solidFill>
          <a:ln w="12700">
            <a:solidFill>
              <a:srgbClr val="F0FDFA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0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8275320" y="3584448"/>
            <a:ext cx="493776" cy="493776"/>
          </a:xfrm>
          <a:prstGeom prst="roundRect">
            <a:avLst>
              <a:gd name="adj" fmla="val 22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83951" y="3693079"/>
            <a:ext cx="276515" cy="276515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8897112" y="3584448"/>
            <a:ext cx="2560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Backups &amp; retention</a:t>
            </a:r>
            <a:endParaRPr lang="en-US" sz="1500" dirty="0"/>
          </a:p>
        </p:txBody>
      </p:sp>
      <p:sp>
        <p:nvSpPr>
          <p:cNvPr id="40" name="Text 31"/>
          <p:cNvSpPr txBox="1"/>
          <p:nvPr/>
        </p:nvSpPr>
        <p:spPr>
          <a:xfrm>
            <a:off x="8275320" y="4206240"/>
            <a:ext cx="31638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Daily automated backups with point-in-time restore; retention rules configurable per record type.</a:t>
            </a:r>
            <a:endParaRPr lang="en-US" sz="1100" dirty="0"/>
          </a:p>
        </p:txBody>
      </p:sp>
      <p:sp>
        <p:nvSpPr>
          <p:cNvPr id="41" name="Text 32"/>
          <p:cNvSpPr txBox="1"/>
          <p:nvPr/>
        </p:nvSpPr>
        <p:spPr>
          <a:xfrm>
            <a:off x="548640" y="5349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6A34A"/>
                </a:solidFill>
              </a:rPr>
              <a:t>HOSTING OPTIONS</a:t>
            </a:r>
            <a:endParaRPr lang="en-US" sz="1000" dirty="0"/>
          </a:p>
        </p:txBody>
      </p:sp>
      <p:sp>
        <p:nvSpPr>
          <p:cNvPr id="42" name="Shape 33"/>
          <p:cNvSpPr/>
          <p:nvPr/>
        </p:nvSpPr>
        <p:spPr>
          <a:xfrm>
            <a:off x="548640" y="5623560"/>
            <a:ext cx="3566160" cy="530352"/>
          </a:xfrm>
          <a:prstGeom prst="roundRect">
            <a:avLst>
              <a:gd name="adj" fmla="val 17241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5800" y="5760720"/>
            <a:ext cx="256032" cy="256032"/>
          </a:xfrm>
          <a:prstGeom prst="rect">
            <a:avLst/>
          </a:prstGeom>
        </p:spPr>
      </p:pic>
      <p:sp>
        <p:nvSpPr>
          <p:cNvPr id="44" name="Text 34"/>
          <p:cNvSpPr txBox="1"/>
          <p:nvPr/>
        </p:nvSpPr>
        <p:spPr>
          <a:xfrm>
            <a:off x="1051560" y="564184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Managed cloud</a:t>
            </a:r>
            <a:endParaRPr lang="en-US" sz="1150" dirty="0"/>
          </a:p>
        </p:txBody>
      </p:sp>
      <p:sp>
        <p:nvSpPr>
          <p:cNvPr id="45" name="Text 35"/>
          <p:cNvSpPr txBox="1"/>
          <p:nvPr/>
        </p:nvSpPr>
        <p:spPr>
          <a:xfrm>
            <a:off x="1051560" y="587959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Microsoft Azure, India region — fastest start</a:t>
            </a:r>
            <a:endParaRPr lang="en-US" sz="900" dirty="0"/>
          </a:p>
        </p:txBody>
      </p:sp>
      <p:sp>
        <p:nvSpPr>
          <p:cNvPr id="46" name="Shape 36"/>
          <p:cNvSpPr/>
          <p:nvPr/>
        </p:nvSpPr>
        <p:spPr>
          <a:xfrm>
            <a:off x="4311396" y="5623560"/>
            <a:ext cx="3566160" cy="530352"/>
          </a:xfrm>
          <a:prstGeom prst="roundRect">
            <a:avLst>
              <a:gd name="adj" fmla="val 17241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47" name="Image 8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48556" y="5760720"/>
            <a:ext cx="256032" cy="256032"/>
          </a:xfrm>
          <a:prstGeom prst="rect">
            <a:avLst/>
          </a:prstGeom>
        </p:spPr>
      </p:pic>
      <p:sp>
        <p:nvSpPr>
          <p:cNvPr id="48" name="Text 37"/>
          <p:cNvSpPr txBox="1"/>
          <p:nvPr/>
        </p:nvSpPr>
        <p:spPr>
          <a:xfrm>
            <a:off x="4814316" y="564184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Your own cloud subscription</a:t>
            </a:r>
            <a:endParaRPr lang="en-US" sz="1150" dirty="0"/>
          </a:p>
        </p:txBody>
      </p:sp>
      <p:sp>
        <p:nvSpPr>
          <p:cNvPr id="49" name="Text 38"/>
          <p:cNvSpPr txBox="1"/>
          <p:nvPr/>
        </p:nvSpPr>
        <p:spPr>
          <a:xfrm>
            <a:off x="4814316" y="587959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Deployed into your Azure / AWS tenant</a:t>
            </a:r>
            <a:endParaRPr lang="en-US" sz="900" dirty="0"/>
          </a:p>
        </p:txBody>
      </p:sp>
      <p:sp>
        <p:nvSpPr>
          <p:cNvPr id="50" name="Shape 39"/>
          <p:cNvSpPr/>
          <p:nvPr/>
        </p:nvSpPr>
        <p:spPr>
          <a:xfrm>
            <a:off x="8074152" y="5623560"/>
            <a:ext cx="3566160" cy="530352"/>
          </a:xfrm>
          <a:prstGeom prst="roundRect">
            <a:avLst>
              <a:gd name="adj" fmla="val 17241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51" name="Image 9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211312" y="5760720"/>
            <a:ext cx="256032" cy="256032"/>
          </a:xfrm>
          <a:prstGeom prst="rect">
            <a:avLst/>
          </a:prstGeom>
        </p:spPr>
      </p:pic>
      <p:sp>
        <p:nvSpPr>
          <p:cNvPr id="52" name="Text 40"/>
          <p:cNvSpPr txBox="1"/>
          <p:nvPr/>
        </p:nvSpPr>
        <p:spPr>
          <a:xfrm>
            <a:off x="8577072" y="564184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On-premises assessment</a:t>
            </a:r>
            <a:endParaRPr lang="en-US" sz="1150" dirty="0"/>
          </a:p>
        </p:txBody>
      </p:sp>
      <p:sp>
        <p:nvSpPr>
          <p:cNvPr id="53" name="Text 41"/>
          <p:cNvSpPr txBox="1"/>
          <p:nvPr/>
        </p:nvSpPr>
        <p:spPr>
          <a:xfrm>
            <a:off x="8577072" y="587959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For regulated clients, scoped case by case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Rollout: live in six weeks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A fixed-scope onboarding that starts with the data you already have and ends with one sales team using the platform daily</a:t>
            </a:r>
            <a:endParaRPr lang="en-US" sz="1400" dirty="0"/>
          </a:p>
        </p:txBody>
      </p:sp>
      <p:sp>
        <p:nvSpPr>
          <p:cNvPr id="4" name="Text 2">
            <a:hlinkClick r:id="rId1" tooltip="Back to Navigator" action="ppaction://hlinksldjump"/>
          </p:cNvPr>
          <p:cNvSpPr txBox="1"/>
          <p:nvPr/>
        </p:nvSpPr>
        <p:spPr>
          <a:xfrm>
            <a:off x="8732520" y="475488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EBF2FF"/>
          </a:solidFill>
          <a:ln>
            <a:solidFill>
              <a:srgbClr val="EBF2FF"/>
            </a:solidFill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40AF"/>
                </a:solidFill>
              </a:rPr>
              <a:t>SECURITY &amp; ROLLOUT</a:t>
            </a:r>
            <a:endParaRPr lang="en-US" sz="9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20624"/>
            <a:ext cx="561353" cy="4206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991088" y="420624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Lead</a:t>
            </a:r>
            <a:pPr indent="0" marL="0">
              <a:buNone/>
            </a:pPr>
            <a:r>
              <a:rPr lang="en-US" sz="1700" b="1" dirty="0">
                <a:solidFill>
                  <a:srgbClr val="1D6FEB"/>
                </a:solidFill>
              </a:rPr>
              <a:t>Pilot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327648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1D6FEB"/>
          </a:solidFill>
          <a:ln>
            <a:solidFill>
              <a:srgbClr val="1D6FEB"/>
            </a:solidFill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⌂  Navigator</a:t>
            </a:r>
            <a:endParaRPr lang="en-US" sz="1000" dirty="0"/>
          </a:p>
        </p:txBody>
      </p:sp>
      <p:sp>
        <p:nvSpPr>
          <p:cNvPr id="8" name="Text 5">
            <a:hlinkClick r:id="rId4" tooltip="Previous: Security" action="ppaction://hlinksldjump"/>
          </p:cNvPr>
          <p:cNvSpPr txBox="1"/>
          <p:nvPr/>
        </p:nvSpPr>
        <p:spPr>
          <a:xfrm>
            <a:off x="1920240" y="6327648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</a:rPr>
              <a:t>←  Security</a:t>
            </a:r>
            <a:endParaRPr lang="en-US" sz="1000" dirty="0"/>
          </a:p>
        </p:txBody>
      </p:sp>
      <p:sp>
        <p:nvSpPr>
          <p:cNvPr id="9" name="Text 6">
            <a:hlinkClick r:id="rId5" tooltip="Next: Why it matters" action="ppaction://hlinksldjump"/>
          </p:cNvPr>
          <p:cNvSpPr txBox="1"/>
          <p:nvPr/>
        </p:nvSpPr>
        <p:spPr>
          <a:xfrm>
            <a:off x="3063240" y="6327648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</a:rPr>
              <a:t>Why it matters  →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0607040" y="6327648"/>
            <a:ext cx="1033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19 / 22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48640" y="1984248"/>
            <a:ext cx="11091672" cy="0"/>
          </a:xfrm>
          <a:prstGeom prst="line">
            <a:avLst/>
          </a:prstGeom>
          <a:noFill/>
          <a:ln w="3810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229868" y="1783080"/>
            <a:ext cx="402336" cy="402336"/>
          </a:xfrm>
          <a:prstGeom prst="ellipse">
            <a:avLst/>
          </a:prstGeom>
          <a:solidFill>
            <a:srgbClr val="1D6FEB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229868" y="1783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1508760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D6FEB"/>
                </a:solidFill>
              </a:rPr>
              <a:t>Week 1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48640" y="2377440"/>
            <a:ext cx="1764792" cy="2331720"/>
          </a:xfrm>
          <a:prstGeom prst="roundRect">
            <a:avLst>
              <a:gd name="adj" fmla="val 518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85800" y="2496312"/>
            <a:ext cx="1490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F172A"/>
                </a:solidFill>
              </a:rPr>
              <a:t>Discovery &amp; data audit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685800" y="3063240"/>
            <a:ext cx="15361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334155"/>
                </a:solidFill>
              </a:rPr>
              <a:t>Map current flow, systems, Excel files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334155"/>
                </a:solidFill>
              </a:rPr>
              <a:t>Agree segments, KPIs and scoring signals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3095244" y="1783080"/>
            <a:ext cx="402336" cy="402336"/>
          </a:xfrm>
          <a:prstGeom prst="ellipse">
            <a:avLst/>
          </a:prstGeom>
          <a:solidFill>
            <a:srgbClr val="7C3AED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095244" y="1783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2414016" y="1508760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7C3AED"/>
                </a:solidFill>
              </a:rPr>
              <a:t>Week 2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2414016" y="2377440"/>
            <a:ext cx="1764792" cy="2331720"/>
          </a:xfrm>
          <a:prstGeom prst="roundRect">
            <a:avLst>
              <a:gd name="adj" fmla="val 518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0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2551176" y="2496312"/>
            <a:ext cx="1490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F172A"/>
                </a:solidFill>
              </a:rPr>
              <a:t>Data onboarding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2551176" y="3063240"/>
            <a:ext cx="15361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334155"/>
                </a:solidFill>
              </a:rPr>
              <a:t>Import dealers, sales, contacts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334155"/>
                </a:solidFill>
              </a:rPr>
              <a:t>De-duplicate; quality report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4960620" y="1783080"/>
            <a:ext cx="402336" cy="402336"/>
          </a:xfrm>
          <a:prstGeom prst="ellipse">
            <a:avLst/>
          </a:prstGeom>
          <a:solidFill>
            <a:srgbClr val="0D9488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960620" y="1783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4279392" y="1508760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D9488"/>
                </a:solidFill>
              </a:rPr>
              <a:t>Week 3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279392" y="2377440"/>
            <a:ext cx="1764792" cy="2331720"/>
          </a:xfrm>
          <a:prstGeom prst="roundRect">
            <a:avLst>
              <a:gd name="adj" fmla="val 518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0000"/>
              </a:srgbClr>
            </a:outerShdw>
          </a:effectLst>
        </p:spPr>
      </p:sp>
      <p:sp>
        <p:nvSpPr>
          <p:cNvPr id="28" name="Text 25"/>
          <p:cNvSpPr txBox="1"/>
          <p:nvPr/>
        </p:nvSpPr>
        <p:spPr>
          <a:xfrm>
            <a:off x="4416552" y="2496312"/>
            <a:ext cx="1490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F172A"/>
                </a:solidFill>
              </a:rPr>
              <a:t>Configuration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4416552" y="3063240"/>
            <a:ext cx="15361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334155"/>
                </a:solidFill>
              </a:rPr>
              <a:t>Territories, roles, dashboards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334155"/>
                </a:solidFill>
              </a:rPr>
              <a:t>Fit scoring weights to your history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6825996" y="1783080"/>
            <a:ext cx="402336" cy="402336"/>
          </a:xfrm>
          <a:prstGeom prst="ellipse">
            <a:avLst/>
          </a:prstGeom>
          <a:solidFill>
            <a:srgbClr val="F59E0B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825996" y="1783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6144768" y="1508760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59E0B"/>
                </a:solidFill>
              </a:rPr>
              <a:t>Week 4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6144768" y="2377440"/>
            <a:ext cx="1764792" cy="2331720"/>
          </a:xfrm>
          <a:prstGeom prst="roundRect">
            <a:avLst>
              <a:gd name="adj" fmla="val 518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0000"/>
              </a:srgbClr>
            </a:outerShdw>
          </a:effectLst>
        </p:spPr>
      </p:sp>
      <p:sp>
        <p:nvSpPr>
          <p:cNvPr id="34" name="Text 31"/>
          <p:cNvSpPr txBox="1"/>
          <p:nvPr/>
        </p:nvSpPr>
        <p:spPr>
          <a:xfrm>
            <a:off x="6281928" y="2496312"/>
            <a:ext cx="1490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F172A"/>
                </a:solidFill>
              </a:rPr>
              <a:t>Integrations</a:t>
            </a:r>
            <a:endParaRPr 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6281928" y="3063240"/>
            <a:ext cx="15361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334155"/>
                </a:solidFill>
              </a:rPr>
              <a:t>CRM / ERP / WhatsApp / mailbox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334155"/>
                </a:solidFill>
              </a:rPr>
              <a:t>Sync rules and conflict handling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8691372" y="1783080"/>
            <a:ext cx="402336" cy="402336"/>
          </a:xfrm>
          <a:prstGeom prst="ellipse">
            <a:avLst/>
          </a:prstGeom>
          <a:solidFill>
            <a:srgbClr val="E11D48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8691372" y="1783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8010144" y="1508760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E11D48"/>
                </a:solidFill>
              </a:rPr>
              <a:t>Week 5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8010144" y="2377440"/>
            <a:ext cx="1764792" cy="2331720"/>
          </a:xfrm>
          <a:prstGeom prst="roundRect">
            <a:avLst>
              <a:gd name="adj" fmla="val 518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0000"/>
              </a:srgbClr>
            </a:outerShdw>
          </a:effectLst>
        </p:spPr>
      </p:sp>
      <p:sp>
        <p:nvSpPr>
          <p:cNvPr id="40" name="Text 37"/>
          <p:cNvSpPr txBox="1"/>
          <p:nvPr/>
        </p:nvSpPr>
        <p:spPr>
          <a:xfrm>
            <a:off x="8147304" y="2496312"/>
            <a:ext cx="1490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F172A"/>
                </a:solidFill>
              </a:rPr>
              <a:t>Pilot</a:t>
            </a:r>
            <a:endParaRPr lang="en-US" sz="1300" dirty="0"/>
          </a:p>
        </p:txBody>
      </p:sp>
      <p:sp>
        <p:nvSpPr>
          <p:cNvPr id="41" name="Text 38"/>
          <p:cNvSpPr txBox="1"/>
          <p:nvPr/>
        </p:nvSpPr>
        <p:spPr>
          <a:xfrm>
            <a:off x="8147304" y="3063240"/>
            <a:ext cx="15361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334155"/>
                </a:solidFill>
              </a:rPr>
              <a:t>One team, live call lists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334155"/>
                </a:solidFill>
              </a:rPr>
              <a:t>Daily feedback loop; tune</a:t>
            </a:r>
            <a:endParaRPr lang="en-US" sz="1050" dirty="0"/>
          </a:p>
        </p:txBody>
      </p:sp>
      <p:sp>
        <p:nvSpPr>
          <p:cNvPr id="42" name="Shape 39"/>
          <p:cNvSpPr/>
          <p:nvPr/>
        </p:nvSpPr>
        <p:spPr>
          <a:xfrm>
            <a:off x="10556748" y="1783080"/>
            <a:ext cx="402336" cy="402336"/>
          </a:xfrm>
          <a:prstGeom prst="ellipse">
            <a:avLst/>
          </a:prstGeom>
          <a:solidFill>
            <a:srgbClr val="16A34A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10556748" y="1783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44" name="Text 41"/>
          <p:cNvSpPr txBox="1"/>
          <p:nvPr/>
        </p:nvSpPr>
        <p:spPr>
          <a:xfrm>
            <a:off x="9875520" y="1508760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6A34A"/>
                </a:solidFill>
              </a:rPr>
              <a:t>Week 6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9875520" y="2377440"/>
            <a:ext cx="1764792" cy="2331720"/>
          </a:xfrm>
          <a:prstGeom prst="roundRect">
            <a:avLst>
              <a:gd name="adj" fmla="val 518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10012680" y="2496312"/>
            <a:ext cx="1490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F172A"/>
                </a:solidFill>
              </a:rPr>
              <a:t>Go-live &amp; training</a:t>
            </a:r>
            <a:endParaRPr lang="en-US" sz="1300" dirty="0"/>
          </a:p>
        </p:txBody>
      </p:sp>
      <p:sp>
        <p:nvSpPr>
          <p:cNvPr id="47" name="Text 44"/>
          <p:cNvSpPr txBox="1"/>
          <p:nvPr/>
        </p:nvSpPr>
        <p:spPr>
          <a:xfrm>
            <a:off x="10012680" y="3063240"/>
            <a:ext cx="15361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334155"/>
                </a:solidFill>
              </a:rPr>
              <a:t>All teams; role-based training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334155"/>
                </a:solidFill>
              </a:rPr>
              <a:t>Hand-over, support channel</a:t>
            </a:r>
            <a:endParaRPr lang="en-US" sz="1050" dirty="0"/>
          </a:p>
        </p:txBody>
      </p:sp>
      <p:sp>
        <p:nvSpPr>
          <p:cNvPr id="48" name="Text 45"/>
          <p:cNvSpPr txBox="1"/>
          <p:nvPr/>
        </p:nvSpPr>
        <p:spPr>
          <a:xfrm>
            <a:off x="548640" y="4892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D6FEB"/>
                </a:solidFill>
              </a:rPr>
              <a:t>WHAT WE NEED FROM YOU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548640" y="5212080"/>
            <a:ext cx="3566160" cy="914400"/>
          </a:xfrm>
          <a:prstGeom prst="roundRect">
            <a:avLst>
              <a:gd name="adj" fmla="val 10000"/>
            </a:avLst>
          </a:prstGeom>
          <a:solidFill>
            <a:srgbClr val="EBF2FF"/>
          </a:solidFill>
          <a:ln w="12700">
            <a:solidFill>
              <a:srgbClr val="EBF2FF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713232" y="5422392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1D6FEB"/>
          </a:solidFill>
          <a:ln w="12700">
            <a:solidFill>
              <a:srgbClr val="1D6FEB"/>
            </a:solidFill>
            <a:prstDash val="solid"/>
          </a:ln>
        </p:spPr>
      </p:sp>
      <p:pic>
        <p:nvPicPr>
          <p:cNvPr id="51" name="Image 1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7839" y="5526999"/>
            <a:ext cx="266273" cy="266273"/>
          </a:xfrm>
          <a:prstGeom prst="rect">
            <a:avLst/>
          </a:prstGeom>
        </p:spPr>
      </p:pic>
      <p:sp>
        <p:nvSpPr>
          <p:cNvPr id="52" name="Text 48"/>
          <p:cNvSpPr txBox="1"/>
          <p:nvPr/>
        </p:nvSpPr>
        <p:spPr>
          <a:xfrm>
            <a:off x="1325880" y="53035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One dealer list and 12+ months of sales data</a:t>
            </a:r>
            <a:endParaRPr lang="en-US" sz="1150" dirty="0"/>
          </a:p>
        </p:txBody>
      </p:sp>
      <p:sp>
        <p:nvSpPr>
          <p:cNvPr id="53" name="Text 49"/>
          <p:cNvSpPr txBox="1"/>
          <p:nvPr/>
        </p:nvSpPr>
        <p:spPr>
          <a:xfrm>
            <a:off x="1325880" y="57607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Excel is fine — we clean it</a:t>
            </a:r>
            <a:endParaRPr lang="en-US" sz="1000" dirty="0"/>
          </a:p>
        </p:txBody>
      </p:sp>
      <p:sp>
        <p:nvSpPr>
          <p:cNvPr id="54" name="Shape 50"/>
          <p:cNvSpPr/>
          <p:nvPr/>
        </p:nvSpPr>
        <p:spPr>
          <a:xfrm>
            <a:off x="4311396" y="5212080"/>
            <a:ext cx="3566160" cy="914400"/>
          </a:xfrm>
          <a:prstGeom prst="roundRect">
            <a:avLst>
              <a:gd name="adj" fmla="val 10000"/>
            </a:avLst>
          </a:prstGeom>
          <a:solidFill>
            <a:srgbClr val="EBF2FF"/>
          </a:solidFill>
          <a:ln w="12700">
            <a:solidFill>
              <a:srgbClr val="EBF2FF"/>
            </a:solidFill>
            <a:prstDash val="solid"/>
          </a:ln>
        </p:spPr>
      </p:sp>
      <p:sp>
        <p:nvSpPr>
          <p:cNvPr id="55" name="Shape 51"/>
          <p:cNvSpPr/>
          <p:nvPr/>
        </p:nvSpPr>
        <p:spPr>
          <a:xfrm>
            <a:off x="4475988" y="5422392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1D6FEB"/>
          </a:solidFill>
          <a:ln w="12700">
            <a:solidFill>
              <a:srgbClr val="1D6FEB"/>
            </a:solidFill>
            <a:prstDash val="solid"/>
          </a:ln>
        </p:spPr>
      </p:sp>
      <p:pic>
        <p:nvPicPr>
          <p:cNvPr id="56" name="Image 2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80595" y="5526999"/>
            <a:ext cx="266273" cy="266273"/>
          </a:xfrm>
          <a:prstGeom prst="rect">
            <a:avLst/>
          </a:prstGeom>
        </p:spPr>
      </p:pic>
      <p:sp>
        <p:nvSpPr>
          <p:cNvPr id="57" name="Text 52"/>
          <p:cNvSpPr txBox="1"/>
          <p:nvPr/>
        </p:nvSpPr>
        <p:spPr>
          <a:xfrm>
            <a:off x="5088636" y="53035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A sponsor and one pilot team</a:t>
            </a:r>
            <a:endParaRPr lang="en-US" sz="1150" dirty="0"/>
          </a:p>
        </p:txBody>
      </p:sp>
      <p:sp>
        <p:nvSpPr>
          <p:cNvPr id="58" name="Text 53"/>
          <p:cNvSpPr txBox="1"/>
          <p:nvPr/>
        </p:nvSpPr>
        <p:spPr>
          <a:xfrm>
            <a:off x="5088636" y="57607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30 minutes a week of their time</a:t>
            </a:r>
            <a:endParaRPr lang="en-US" sz="1000" dirty="0"/>
          </a:p>
        </p:txBody>
      </p:sp>
      <p:sp>
        <p:nvSpPr>
          <p:cNvPr id="59" name="Shape 54"/>
          <p:cNvSpPr/>
          <p:nvPr/>
        </p:nvSpPr>
        <p:spPr>
          <a:xfrm>
            <a:off x="8074152" y="5212080"/>
            <a:ext cx="3566160" cy="914400"/>
          </a:xfrm>
          <a:prstGeom prst="roundRect">
            <a:avLst>
              <a:gd name="adj" fmla="val 10000"/>
            </a:avLst>
          </a:prstGeom>
          <a:solidFill>
            <a:srgbClr val="EBF2FF"/>
          </a:solidFill>
          <a:ln w="12700">
            <a:solidFill>
              <a:srgbClr val="EBF2FF"/>
            </a:solidFill>
            <a:prstDash val="solid"/>
          </a:ln>
        </p:spPr>
      </p:sp>
      <p:sp>
        <p:nvSpPr>
          <p:cNvPr id="60" name="Shape 55"/>
          <p:cNvSpPr/>
          <p:nvPr/>
        </p:nvSpPr>
        <p:spPr>
          <a:xfrm>
            <a:off x="8238744" y="5422392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1D6FEB"/>
          </a:solidFill>
          <a:ln w="12700">
            <a:solidFill>
              <a:srgbClr val="1D6FEB"/>
            </a:solidFill>
            <a:prstDash val="solid"/>
          </a:ln>
        </p:spPr>
      </p:sp>
      <p:pic>
        <p:nvPicPr>
          <p:cNvPr id="61" name="Image 3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43351" y="5526999"/>
            <a:ext cx="266273" cy="266273"/>
          </a:xfrm>
          <a:prstGeom prst="rect">
            <a:avLst/>
          </a:prstGeom>
        </p:spPr>
      </p:pic>
      <p:sp>
        <p:nvSpPr>
          <p:cNvPr id="62" name="Text 56"/>
          <p:cNvSpPr txBox="1"/>
          <p:nvPr/>
        </p:nvSpPr>
        <p:spPr>
          <a:xfrm>
            <a:off x="8851392" y="53035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Access to the systems to sync</a:t>
            </a:r>
            <a:endParaRPr lang="en-US" sz="1150" dirty="0"/>
          </a:p>
        </p:txBody>
      </p:sp>
      <p:sp>
        <p:nvSpPr>
          <p:cNvPr id="63" name="Text 57"/>
          <p:cNvSpPr txBox="1"/>
          <p:nvPr/>
        </p:nvSpPr>
        <p:spPr>
          <a:xfrm>
            <a:off x="8851392" y="57607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API keys or an export schedule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Why it matters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Four changes a sales leader sees in the first month — each one a mechanism you can verify, not a promise</a:t>
            </a:r>
            <a:endParaRPr lang="en-US" sz="1400" dirty="0"/>
          </a:p>
        </p:txBody>
      </p:sp>
      <p:sp>
        <p:nvSpPr>
          <p:cNvPr id="4" name="Text 2">
            <a:hlinkClick r:id="rId1" tooltip="Back to Navigator" action="ppaction://hlinksldjump"/>
          </p:cNvPr>
          <p:cNvSpPr txBox="1"/>
          <p:nvPr/>
        </p:nvSpPr>
        <p:spPr>
          <a:xfrm>
            <a:off x="8732520" y="475488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EBF2FF"/>
          </a:solidFill>
          <a:ln>
            <a:solidFill>
              <a:srgbClr val="EBF2FF"/>
            </a:solidFill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40AF"/>
                </a:solidFill>
              </a:rPr>
              <a:t>VALUE &amp; NEXT STEPS</a:t>
            </a:r>
            <a:endParaRPr lang="en-US" sz="9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20624"/>
            <a:ext cx="561353" cy="4206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991088" y="420624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Lead</a:t>
            </a:r>
            <a:pPr indent="0" marL="0">
              <a:buNone/>
            </a:pPr>
            <a:r>
              <a:rPr lang="en-US" sz="1700" b="1" dirty="0">
                <a:solidFill>
                  <a:srgbClr val="1D6FEB"/>
                </a:solidFill>
              </a:rPr>
              <a:t>Pilot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327648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1D6FEB"/>
          </a:solidFill>
          <a:ln>
            <a:solidFill>
              <a:srgbClr val="1D6FEB"/>
            </a:solidFill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⌂  Navigator</a:t>
            </a:r>
            <a:endParaRPr lang="en-US" sz="1000" dirty="0"/>
          </a:p>
        </p:txBody>
      </p:sp>
      <p:sp>
        <p:nvSpPr>
          <p:cNvPr id="8" name="Text 5">
            <a:hlinkClick r:id="rId4" tooltip="Previous: Rollout plan" action="ppaction://hlinksldjump"/>
          </p:cNvPr>
          <p:cNvSpPr txBox="1"/>
          <p:nvPr/>
        </p:nvSpPr>
        <p:spPr>
          <a:xfrm>
            <a:off x="1920240" y="6327648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</a:rPr>
              <a:t>←  Rollout plan</a:t>
            </a:r>
            <a:endParaRPr lang="en-US" sz="1000" dirty="0"/>
          </a:p>
        </p:txBody>
      </p:sp>
      <p:sp>
        <p:nvSpPr>
          <p:cNvPr id="9" name="Text 6">
            <a:hlinkClick r:id="rId5" tooltip="Next: Engagement options" action="ppaction://hlinksldjump"/>
          </p:cNvPr>
          <p:cNvSpPr txBox="1"/>
          <p:nvPr/>
        </p:nvSpPr>
        <p:spPr>
          <a:xfrm>
            <a:off x="3337560" y="6327648"/>
            <a:ext cx="1691640" cy="329184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</a:rPr>
              <a:t>Engagement options  →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0607040" y="6327648"/>
            <a:ext cx="1033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20 / 22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48640" y="1508760"/>
            <a:ext cx="5454396" cy="1920240"/>
          </a:xfrm>
          <a:prstGeom prst="roundRect">
            <a:avLst>
              <a:gd name="adj" fmla="val 4762"/>
            </a:avLst>
          </a:prstGeom>
          <a:solidFill>
            <a:srgbClr val="EBF2FF"/>
          </a:solidFill>
          <a:ln w="12700">
            <a:solidFill>
              <a:srgbClr val="EBF2FF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77240" y="1737360"/>
            <a:ext cx="585216" cy="585216"/>
          </a:xfrm>
          <a:prstGeom prst="roundRect">
            <a:avLst>
              <a:gd name="adj" fmla="val 22000"/>
            </a:avLst>
          </a:prstGeom>
          <a:solidFill>
            <a:srgbClr val="1D6FEB"/>
          </a:solidFill>
          <a:ln w="12700">
            <a:solidFill>
              <a:srgbClr val="1D6FEB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988" y="1866108"/>
            <a:ext cx="327721" cy="327721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508760" y="1737360"/>
            <a:ext cx="42656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One place to search, filter and act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777240" y="2423160"/>
            <a:ext cx="49971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Reps stop relying on memory and private spreadsheets. New joiners are productive in days because the history is already there.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777240" y="3063240"/>
            <a:ext cx="49971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D6FEB"/>
                </a:solidFill>
              </a:rPr>
              <a:t>Mechanism: single account record + full timeline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185916" y="1508760"/>
            <a:ext cx="5454396" cy="1920240"/>
          </a:xfrm>
          <a:prstGeom prst="roundRect">
            <a:avLst>
              <a:gd name="adj" fmla="val 4762"/>
            </a:avLst>
          </a:prstGeom>
          <a:solidFill>
            <a:srgbClr val="F0FDFA"/>
          </a:solidFill>
          <a:ln w="12700">
            <a:solidFill>
              <a:srgbClr val="F0FDFA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414516" y="1737360"/>
            <a:ext cx="585216" cy="585216"/>
          </a:xfrm>
          <a:prstGeom prst="roundRect">
            <a:avLst>
              <a:gd name="adj" fmla="val 22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3264" y="1866108"/>
            <a:ext cx="327721" cy="327721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7146036" y="1737360"/>
            <a:ext cx="42656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A clearer basis for every decision</a:t>
            </a:r>
            <a:endParaRPr lang="en-US" sz="1700" dirty="0"/>
          </a:p>
        </p:txBody>
      </p:sp>
      <p:sp>
        <p:nvSpPr>
          <p:cNvPr id="21" name="Text 16"/>
          <p:cNvSpPr txBox="1"/>
          <p:nvPr/>
        </p:nvSpPr>
        <p:spPr>
          <a:xfrm>
            <a:off x="6414516" y="2423160"/>
            <a:ext cx="49971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Who to call, which region to invest in, what to stock — each answer comes with the data behind it, so managers coach instead of guess.</a:t>
            </a:r>
            <a:endParaRPr lang="en-US" sz="1150" dirty="0"/>
          </a:p>
        </p:txBody>
      </p:sp>
      <p:sp>
        <p:nvSpPr>
          <p:cNvPr id="22" name="Text 17"/>
          <p:cNvSpPr txBox="1"/>
          <p:nvPr/>
        </p:nvSpPr>
        <p:spPr>
          <a:xfrm>
            <a:off x="6414516" y="3063240"/>
            <a:ext cx="49971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Mechanism: scoring + regional index + alerts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548640" y="3611880"/>
            <a:ext cx="5454396" cy="1920240"/>
          </a:xfrm>
          <a:prstGeom prst="roundRect">
            <a:avLst>
              <a:gd name="adj" fmla="val 4762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777240" y="3840480"/>
            <a:ext cx="585216" cy="585216"/>
          </a:xfrm>
          <a:prstGeom prst="roundRect">
            <a:avLst>
              <a:gd name="adj" fmla="val 22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5988" y="3969228"/>
            <a:ext cx="327721" cy="327721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508760" y="3840480"/>
            <a:ext cx="42656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Proactive instead of reactive planning</a:t>
            </a:r>
            <a:endParaRPr lang="en-US" sz="1700" dirty="0"/>
          </a:p>
        </p:txBody>
      </p:sp>
      <p:sp>
        <p:nvSpPr>
          <p:cNvPr id="27" name="Text 21"/>
          <p:cNvSpPr txBox="1"/>
          <p:nvPr/>
        </p:nvSpPr>
        <p:spPr>
          <a:xfrm>
            <a:off x="777240" y="4526280"/>
            <a:ext cx="49971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The 3-month forecast and trend alerts give a forward view; slipping accounts are caught before the quarter ends.</a:t>
            </a:r>
            <a:endParaRPr lang="en-US" sz="1150" dirty="0"/>
          </a:p>
        </p:txBody>
      </p:sp>
      <p:sp>
        <p:nvSpPr>
          <p:cNvPr id="28" name="Text 22"/>
          <p:cNvSpPr txBox="1"/>
          <p:nvPr/>
        </p:nvSpPr>
        <p:spPr>
          <a:xfrm>
            <a:off x="777240" y="5166360"/>
            <a:ext cx="49971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Mechanism: forecast + customer trend alerts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6185916" y="3611880"/>
            <a:ext cx="5454396" cy="1920240"/>
          </a:xfrm>
          <a:prstGeom prst="roundRect">
            <a:avLst>
              <a:gd name="adj" fmla="val 4762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0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6414516" y="3840480"/>
            <a:ext cx="585216" cy="585216"/>
          </a:xfrm>
          <a:prstGeom prst="roundRect">
            <a:avLst>
              <a:gd name="adj" fmla="val 22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43264" y="3969228"/>
            <a:ext cx="327721" cy="327721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7146036" y="3840480"/>
            <a:ext cx="42656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No double entry, no stale CRM</a:t>
            </a:r>
            <a:endParaRPr lang="en-US" sz="1700" dirty="0"/>
          </a:p>
        </p:txBody>
      </p:sp>
      <p:sp>
        <p:nvSpPr>
          <p:cNvPr id="33" name="Text 26"/>
          <p:cNvSpPr txBox="1"/>
          <p:nvPr/>
        </p:nvSpPr>
        <p:spPr>
          <a:xfrm>
            <a:off x="6414516" y="4526280"/>
            <a:ext cx="49971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Every touch is logged where it happens and synced out automatically — the CRM becomes trustworthy because nobody has to maintain it.</a:t>
            </a:r>
            <a:endParaRPr lang="en-US" sz="1150" dirty="0"/>
          </a:p>
        </p:txBody>
      </p:sp>
      <p:sp>
        <p:nvSpPr>
          <p:cNvPr id="34" name="Text 27"/>
          <p:cNvSpPr txBox="1"/>
          <p:nvPr/>
        </p:nvSpPr>
        <p:spPr>
          <a:xfrm>
            <a:off x="6414516" y="5166360"/>
            <a:ext cx="49971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Mechanism: two-way sync + send-and-track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548640" y="5715000"/>
            <a:ext cx="11091672" cy="438912"/>
          </a:xfrm>
          <a:prstGeom prst="roundRect">
            <a:avLst>
              <a:gd name="adj" fmla="val 20833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36" name="Text 29"/>
          <p:cNvSpPr txBox="1"/>
          <p:nvPr/>
        </p:nvSpPr>
        <p:spPr>
          <a:xfrm>
            <a:off x="777240" y="5715000"/>
            <a:ext cx="10607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Business-led and extensible: features map back to the leadership questions on slide 4, and the decoupled architecture lets live APIs and new models plug in without UI rework.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Three ways to start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From a four-week pilot on your own data to a fully branded build in your cloud — pricing is shared after the discovery call</a:t>
            </a:r>
            <a:endParaRPr lang="en-US" sz="1400" dirty="0"/>
          </a:p>
        </p:txBody>
      </p:sp>
      <p:sp>
        <p:nvSpPr>
          <p:cNvPr id="4" name="Text 2">
            <a:hlinkClick r:id="rId1" tooltip="Back to Navigator" action="ppaction://hlinksldjump"/>
          </p:cNvPr>
          <p:cNvSpPr txBox="1"/>
          <p:nvPr/>
        </p:nvSpPr>
        <p:spPr>
          <a:xfrm>
            <a:off x="8732520" y="475488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EBF2FF"/>
          </a:solidFill>
          <a:ln>
            <a:solidFill>
              <a:srgbClr val="EBF2FF"/>
            </a:solidFill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40AF"/>
                </a:solidFill>
              </a:rPr>
              <a:t>VALUE &amp; NEXT STEPS</a:t>
            </a:r>
            <a:endParaRPr lang="en-US" sz="9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20624"/>
            <a:ext cx="561353" cy="4206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991088" y="420624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Lead</a:t>
            </a:r>
            <a:pPr indent="0" marL="0">
              <a:buNone/>
            </a:pPr>
            <a:r>
              <a:rPr lang="en-US" sz="1700" b="1" dirty="0">
                <a:solidFill>
                  <a:srgbClr val="1D6FEB"/>
                </a:solidFill>
              </a:rPr>
              <a:t>Pilot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327648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1D6FEB"/>
          </a:solidFill>
          <a:ln>
            <a:solidFill>
              <a:srgbClr val="1D6FEB"/>
            </a:solidFill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⌂  Navigator</a:t>
            </a:r>
            <a:endParaRPr lang="en-US" sz="1000" dirty="0"/>
          </a:p>
        </p:txBody>
      </p:sp>
      <p:sp>
        <p:nvSpPr>
          <p:cNvPr id="8" name="Text 5">
            <a:hlinkClick r:id="rId4" tooltip="Previous: Why it matters" action="ppaction://hlinksldjump"/>
          </p:cNvPr>
          <p:cNvSpPr txBox="1"/>
          <p:nvPr/>
        </p:nvSpPr>
        <p:spPr>
          <a:xfrm>
            <a:off x="1920240" y="6327648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</a:rPr>
              <a:t>←  Why it matters</a:t>
            </a:r>
            <a:endParaRPr lang="en-US" sz="1000" dirty="0"/>
          </a:p>
        </p:txBody>
      </p:sp>
      <p:sp>
        <p:nvSpPr>
          <p:cNvPr id="9" name="Text 6">
            <a:hlinkClick r:id="rId5" tooltip="Next: Next steps" action="ppaction://hlinksldjump"/>
          </p:cNvPr>
          <p:cNvSpPr txBox="1"/>
          <p:nvPr/>
        </p:nvSpPr>
        <p:spPr>
          <a:xfrm>
            <a:off x="3474720" y="6327648"/>
            <a:ext cx="1143000" cy="329184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</a:rPr>
              <a:t>Next steps  →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0607040" y="6327648"/>
            <a:ext cx="1033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21 / 22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48640" y="1508760"/>
            <a:ext cx="3566160" cy="4526280"/>
          </a:xfrm>
          <a:prstGeom prst="roundRect">
            <a:avLst>
              <a:gd name="adj" fmla="val 2564"/>
            </a:avLst>
          </a:prstGeom>
          <a:solidFill>
            <a:srgbClr val="F0FDFA"/>
          </a:solidFill>
          <a:ln w="12700">
            <a:solidFill>
              <a:srgbClr val="F0FDFA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77240" y="178308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7941" y="190378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463040" y="1783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Pilot</a:t>
            </a:r>
            <a:endParaRPr lang="en-US" sz="2000" dirty="0"/>
          </a:p>
        </p:txBody>
      </p:sp>
      <p:sp>
        <p:nvSpPr>
          <p:cNvPr id="15" name="Text 11"/>
          <p:cNvSpPr txBox="1"/>
          <p:nvPr/>
        </p:nvSpPr>
        <p:spPr>
          <a:xfrm>
            <a:off x="1463040" y="2103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4 – 6 weeks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777240" y="2514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</a:rPr>
              <a:t>Prove it on one team with your real data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777240" y="297180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✓"/>
            </a:pPr>
            <a:r>
              <a:rPr lang="en-US" sz="1150" dirty="0">
                <a:solidFill>
                  <a:srgbClr val="0F172A"/>
                </a:solidFill>
              </a:rPr>
              <a:t>One sales team, one territory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✓"/>
            </a:pPr>
            <a:r>
              <a:rPr lang="en-US" sz="1150" dirty="0">
                <a:solidFill>
                  <a:srgbClr val="0F172A"/>
                </a:solidFill>
              </a:rPr>
              <a:t>Your dealer list + 12 months of sales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✓"/>
            </a:pPr>
            <a:r>
              <a:rPr lang="en-US" sz="1150" dirty="0">
                <a:solidFill>
                  <a:srgbClr val="0F172A"/>
                </a:solidFill>
              </a:rPr>
              <a:t>Scoring, call lists, dashboard, outreach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✓"/>
            </a:pPr>
            <a:r>
              <a:rPr lang="en-US" sz="1150" dirty="0">
                <a:solidFill>
                  <a:srgbClr val="0F172A"/>
                </a:solidFill>
              </a:rPr>
              <a:t>Excel exchange or one CRM connector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✓"/>
            </a:pPr>
            <a:r>
              <a:rPr lang="en-US" sz="1150" dirty="0">
                <a:solidFill>
                  <a:srgbClr val="0F172A"/>
                </a:solidFill>
              </a:rPr>
              <a:t>Fixed scope, fixed fee; credit against subscription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777240" y="5440680"/>
            <a:ext cx="3108960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914400" y="544068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</a:rPr>
              <a:t>Best for: deciding with evidence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4311396" y="1508760"/>
            <a:ext cx="3566160" cy="452628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9525">
            <a:solidFill>
              <a:srgbClr val="1D6FEB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0000"/>
              </a:srgbClr>
            </a:outerShdw>
          </a:effectLst>
        </p:spPr>
      </p:sp>
      <p:sp>
        <p:nvSpPr>
          <p:cNvPr id="21" name="Text 17"/>
          <p:cNvSpPr txBox="1"/>
          <p:nvPr/>
        </p:nvSpPr>
        <p:spPr>
          <a:xfrm>
            <a:off x="5408676" y="1362456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1D6FEB"/>
          </a:solidFill>
          <a:ln>
            <a:solidFill>
              <a:srgbClr val="1D6F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</a:rPr>
              <a:t>MOST POPULAR</a:t>
            </a: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4539996" y="178308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1D6FEB"/>
          </a:solidFill>
          <a:ln w="12700">
            <a:solidFill>
              <a:srgbClr val="1D6FEB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0697" y="1903781"/>
            <a:ext cx="307238" cy="307238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5225796" y="1783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Subscription</a:t>
            </a:r>
            <a:endParaRPr lang="en-US" sz="2000" dirty="0"/>
          </a:p>
        </p:txBody>
      </p:sp>
      <p:sp>
        <p:nvSpPr>
          <p:cNvPr id="25" name="Text 20"/>
          <p:cNvSpPr txBox="1"/>
          <p:nvPr/>
        </p:nvSpPr>
        <p:spPr>
          <a:xfrm>
            <a:off x="5225796" y="2103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D6FEB"/>
                </a:solidFill>
              </a:rPr>
              <a:t>per user / month</a:t>
            </a:r>
            <a:endParaRPr lang="en-US" sz="1100" dirty="0"/>
          </a:p>
        </p:txBody>
      </p:sp>
      <p:sp>
        <p:nvSpPr>
          <p:cNvPr id="26" name="Text 21"/>
          <p:cNvSpPr txBox="1"/>
          <p:nvPr/>
        </p:nvSpPr>
        <p:spPr>
          <a:xfrm>
            <a:off x="4539996" y="2514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</a:rPr>
              <a:t>The full platform, kept up to date</a:t>
            </a:r>
            <a:endParaRPr lang="en-US" sz="1200" dirty="0"/>
          </a:p>
        </p:txBody>
      </p:sp>
      <p:sp>
        <p:nvSpPr>
          <p:cNvPr id="27" name="Text 22"/>
          <p:cNvSpPr txBox="1"/>
          <p:nvPr/>
        </p:nvSpPr>
        <p:spPr>
          <a:xfrm>
            <a:off x="4539996" y="297180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✓"/>
            </a:pPr>
            <a:r>
              <a:rPr lang="en-US" sz="1150" dirty="0">
                <a:solidFill>
                  <a:srgbClr val="0F172A"/>
                </a:solidFill>
              </a:rPr>
              <a:t>All eight modules, all users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✓"/>
            </a:pPr>
            <a:r>
              <a:rPr lang="en-US" sz="1150" dirty="0">
                <a:solidFill>
                  <a:srgbClr val="0F172A"/>
                </a:solidFill>
              </a:rPr>
              <a:t>Unlimited segments, sequences, alerts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✓"/>
            </a:pPr>
            <a:r>
              <a:rPr lang="en-US" sz="1150" dirty="0">
                <a:solidFill>
                  <a:srgbClr val="0F172A"/>
                </a:solidFill>
              </a:rPr>
              <a:t>CRM / ERP / WhatsApp / mailbox sync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✓"/>
            </a:pPr>
            <a:r>
              <a:rPr lang="en-US" sz="1150" dirty="0">
                <a:solidFill>
                  <a:srgbClr val="0F172A"/>
                </a:solidFill>
              </a:rPr>
              <a:t>Monthly feature updates, support channel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✓"/>
            </a:pPr>
            <a:r>
              <a:rPr lang="en-US" sz="1150" dirty="0">
                <a:solidFill>
                  <a:srgbClr val="0F172A"/>
                </a:solidFill>
              </a:rPr>
              <a:t>Quarterly scoring re-fit included</a:t>
            </a:r>
            <a:endParaRPr lang="en-US" sz="1150" dirty="0"/>
          </a:p>
        </p:txBody>
      </p:sp>
      <p:sp>
        <p:nvSpPr>
          <p:cNvPr id="28" name="Shape 23"/>
          <p:cNvSpPr/>
          <p:nvPr/>
        </p:nvSpPr>
        <p:spPr>
          <a:xfrm>
            <a:off x="4539996" y="5440680"/>
            <a:ext cx="3108960" cy="384048"/>
          </a:xfrm>
          <a:prstGeom prst="roundRect">
            <a:avLst>
              <a:gd name="adj" fmla="val 23810"/>
            </a:avLst>
          </a:prstGeom>
          <a:solidFill>
            <a:srgbClr val="EBF2FF"/>
          </a:solidFill>
          <a:ln w="12700">
            <a:solidFill>
              <a:srgbClr val="EBF2FF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4677156" y="544068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6FEB"/>
                </a:solidFill>
              </a:rPr>
              <a:t>Best for: growing sales teams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8074152" y="1508760"/>
            <a:ext cx="3566160" cy="4526280"/>
          </a:xfrm>
          <a:prstGeom prst="roundRect">
            <a:avLst>
              <a:gd name="adj" fmla="val 2564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8302752" y="178308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3453" y="190378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8988552" y="1783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Custom build</a:t>
            </a:r>
            <a:endParaRPr lang="en-US" sz="2000" dirty="0"/>
          </a:p>
        </p:txBody>
      </p:sp>
      <p:sp>
        <p:nvSpPr>
          <p:cNvPr id="34" name="Text 28"/>
          <p:cNvSpPr txBox="1"/>
          <p:nvPr/>
        </p:nvSpPr>
        <p:spPr>
          <a:xfrm>
            <a:off x="8988552" y="2103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scoped project</a:t>
            </a:r>
            <a:endParaRPr lang="en-US" sz="1100" dirty="0"/>
          </a:p>
        </p:txBody>
      </p:sp>
      <p:sp>
        <p:nvSpPr>
          <p:cNvPr id="35" name="Text 29"/>
          <p:cNvSpPr txBox="1"/>
          <p:nvPr/>
        </p:nvSpPr>
        <p:spPr>
          <a:xfrm>
            <a:off x="8302752" y="2514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</a:rPr>
              <a:t>Your brand, your cloud, your modules</a:t>
            </a:r>
            <a:endParaRPr lang="en-US" sz="1200" dirty="0"/>
          </a:p>
        </p:txBody>
      </p:sp>
      <p:sp>
        <p:nvSpPr>
          <p:cNvPr id="36" name="Text 30"/>
          <p:cNvSpPr txBox="1"/>
          <p:nvPr/>
        </p:nvSpPr>
        <p:spPr>
          <a:xfrm>
            <a:off x="8302752" y="297180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✓"/>
            </a:pPr>
            <a:r>
              <a:rPr lang="en-US" sz="1150" dirty="0">
                <a:solidFill>
                  <a:srgbClr val="0F172A"/>
                </a:solidFill>
              </a:rPr>
              <a:t>Deployed in your Azure / AWS tenant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✓"/>
            </a:pPr>
            <a:r>
              <a:rPr lang="en-US" sz="1150" dirty="0">
                <a:solidFill>
                  <a:srgbClr val="0F172A"/>
                </a:solidFill>
              </a:rPr>
              <a:t>White-labelled web + mobile apps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✓"/>
            </a:pPr>
            <a:r>
              <a:rPr lang="en-US" sz="1150" dirty="0">
                <a:solidFill>
                  <a:srgbClr val="0F172A"/>
                </a:solidFill>
              </a:rPr>
              <a:t>Bespoke modules (orders, quotes, field visits)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✓"/>
            </a:pPr>
            <a:r>
              <a:rPr lang="en-US" sz="1150" dirty="0">
                <a:solidFill>
                  <a:srgbClr val="0F172A"/>
                </a:solidFill>
              </a:rPr>
              <a:t>Dedicated database and SLAs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✓"/>
            </a:pPr>
            <a:r>
              <a:rPr lang="en-US" sz="1150" dirty="0">
                <a:solidFill>
                  <a:srgbClr val="0F172A"/>
                </a:solidFill>
              </a:rPr>
              <a:t>Source escrow or hand-over available</a:t>
            </a:r>
            <a:endParaRPr lang="en-US" sz="1150" dirty="0"/>
          </a:p>
        </p:txBody>
      </p:sp>
      <p:sp>
        <p:nvSpPr>
          <p:cNvPr id="37" name="Shape 31"/>
          <p:cNvSpPr/>
          <p:nvPr/>
        </p:nvSpPr>
        <p:spPr>
          <a:xfrm>
            <a:off x="8302752" y="5440680"/>
            <a:ext cx="3108960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2"/>
          <p:cNvSpPr txBox="1"/>
          <p:nvPr/>
        </p:nvSpPr>
        <p:spPr>
          <a:xfrm>
            <a:off x="8439912" y="544068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</a:rPr>
              <a:t>Best for: enterprises &amp; distributors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3200400"/>
            <a:ext cx="6400800" cy="6400800"/>
          </a:xfrm>
          <a:prstGeom prst="ellipse">
            <a:avLst/>
          </a:prstGeom>
          <a:solidFill>
            <a:srgbClr val="1D6FEB">
              <a:alpha val="18000"/>
            </a:srgbClr>
          </a:solidFill>
          <a:ln w="12700">
            <a:solidFill>
              <a:srgbClr val="1D6FE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0" y="-2286000"/>
            <a:ext cx="5486400" cy="54864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561353" cy="4206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98448" y="502920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Lead</a:t>
            </a:r>
            <a:pPr indent="0" marL="0">
              <a:buNone/>
            </a:pPr>
            <a:r>
              <a:rPr lang="en-US" sz="1700" b="1" dirty="0">
                <a:solidFill>
                  <a:srgbClr val="60A5FA"/>
                </a:solidFill>
              </a:rPr>
              <a:t>Pilot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3716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Let’s start with your data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103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Three steps from this deck to a working pilot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40080" y="2743200"/>
            <a:ext cx="6766560" cy="822960"/>
          </a:xfrm>
          <a:prstGeom prst="roundRect">
            <a:avLst>
              <a:gd name="adj" fmla="val 11111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" y="274320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EEAD4"/>
                </a:solidFill>
              </a:rPr>
              <a:t>01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1371600" y="292608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1D6FEB"/>
          </a:solidFill>
          <a:ln w="12700">
            <a:solidFill>
              <a:srgbClr val="1D6FEB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2184" y="3026664"/>
            <a:ext cx="256032" cy="25603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011680" y="2852928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30-minute discovery call</a:t>
            </a:r>
            <a:endParaRPr lang="en-US" sz="1450" dirty="0"/>
          </a:p>
        </p:txBody>
      </p:sp>
      <p:sp>
        <p:nvSpPr>
          <p:cNvPr id="14" name="Text 10"/>
          <p:cNvSpPr txBox="1"/>
          <p:nvPr/>
        </p:nvSpPr>
        <p:spPr>
          <a:xfrm>
            <a:off x="2011680" y="315468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Walk us through how leads and sales flow today; we map the systems and the pain points.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40080" y="3703320"/>
            <a:ext cx="6766560" cy="822960"/>
          </a:xfrm>
          <a:prstGeom prst="roundRect">
            <a:avLst>
              <a:gd name="adj" fmla="val 11111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822960" y="370332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EEAD4"/>
                </a:solidFill>
              </a:rPr>
              <a:t>02</a:t>
            </a:r>
            <a:endParaRPr lang="en-US" sz="2000" dirty="0"/>
          </a:p>
        </p:txBody>
      </p:sp>
      <p:sp>
        <p:nvSpPr>
          <p:cNvPr id="17" name="Shape 13"/>
          <p:cNvSpPr/>
          <p:nvPr/>
        </p:nvSpPr>
        <p:spPr>
          <a:xfrm>
            <a:off x="1371600" y="388620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1D6FEB"/>
          </a:solidFill>
          <a:ln w="12700">
            <a:solidFill>
              <a:srgbClr val="1D6FEB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2184" y="3986784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2011680" y="3813048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Share one Excel file</a:t>
            </a:r>
            <a:endParaRPr lang="en-US" sz="1450" dirty="0"/>
          </a:p>
        </p:txBody>
      </p:sp>
      <p:sp>
        <p:nvSpPr>
          <p:cNvPr id="20" name="Text 15"/>
          <p:cNvSpPr txBox="1"/>
          <p:nvPr/>
        </p:nvSpPr>
        <p:spPr>
          <a:xfrm>
            <a:off x="2011680" y="411480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Your dealer list and a sales export. We return a data-quality report and a sample scored list.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640080" y="4663440"/>
            <a:ext cx="6766560" cy="822960"/>
          </a:xfrm>
          <a:prstGeom prst="roundRect">
            <a:avLst>
              <a:gd name="adj" fmla="val 11111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822960" y="466344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EEAD4"/>
                </a:solidFill>
              </a:rPr>
              <a:t>03</a:t>
            </a:r>
            <a:endParaRPr lang="en-US" sz="2000" dirty="0"/>
          </a:p>
        </p:txBody>
      </p:sp>
      <p:sp>
        <p:nvSpPr>
          <p:cNvPr id="23" name="Shape 18"/>
          <p:cNvSpPr/>
          <p:nvPr/>
        </p:nvSpPr>
        <p:spPr>
          <a:xfrm>
            <a:off x="1371600" y="484632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1D6FEB"/>
          </a:solidFill>
          <a:ln w="12700">
            <a:solidFill>
              <a:srgbClr val="1D6FEB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2184" y="4946904"/>
            <a:ext cx="256032" cy="256032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2011680" y="4773168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Pilot proposal within a week</a:t>
            </a:r>
            <a:endParaRPr lang="en-US" sz="1450" dirty="0"/>
          </a:p>
        </p:txBody>
      </p:sp>
      <p:sp>
        <p:nvSpPr>
          <p:cNvPr id="26" name="Text 20"/>
          <p:cNvSpPr txBox="1"/>
          <p:nvPr/>
        </p:nvSpPr>
        <p:spPr>
          <a:xfrm>
            <a:off x="2011680" y="507492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Fixed scope, fixed timeline, fixed fee — with the exact screens your team will use.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7863840" y="2743200"/>
            <a:ext cx="370332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0000"/>
              </a:srgbClr>
            </a:outerShdw>
          </a:effectLst>
        </p:spPr>
      </p:sp>
      <p:sp>
        <p:nvSpPr>
          <p:cNvPr id="28" name="Text 22"/>
          <p:cNvSpPr txBox="1"/>
          <p:nvPr/>
        </p:nvSpPr>
        <p:spPr>
          <a:xfrm>
            <a:off x="8092440" y="2926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D6FEB"/>
                </a:solidFill>
              </a:rPr>
              <a:t>CONTACT</a:t>
            </a:r>
            <a:endParaRPr lang="en-US" sz="900" dirty="0"/>
          </a:p>
        </p:txBody>
      </p:sp>
      <p:sp>
        <p:nvSpPr>
          <p:cNvPr id="29" name="Text 23"/>
          <p:cNvSpPr txBox="1"/>
          <p:nvPr/>
        </p:nvSpPr>
        <p:spPr>
          <a:xfrm>
            <a:off x="8092440" y="32004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Sujay Roy</a:t>
            </a:r>
            <a:endParaRPr lang="en-US" sz="1800" dirty="0"/>
          </a:p>
        </p:txBody>
      </p:sp>
      <p:sp>
        <p:nvSpPr>
          <p:cNvPr id="30" name="Text 24"/>
          <p:cNvSpPr txBox="1"/>
          <p:nvPr/>
        </p:nvSpPr>
        <p:spPr>
          <a:xfrm>
            <a:off x="8092440" y="35478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Founder · Software &amp; AI</a:t>
            </a:r>
            <a:endParaRPr lang="en-US" sz="1100" dirty="0"/>
          </a:p>
        </p:txBody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0" y="4023360"/>
            <a:ext cx="256032" cy="256032"/>
          </a:xfrm>
          <a:prstGeom prst="rect">
            <a:avLst/>
          </a:prstGeom>
        </p:spPr>
      </p:pic>
      <p:sp>
        <p:nvSpPr>
          <p:cNvPr id="32" name="Text 25">
            <a:hlinkClick r:id="rId6" tooltip="Email Sujay Roy"/>
          </p:cNvPr>
          <p:cNvSpPr txBox="1"/>
          <p:nvPr/>
        </p:nvSpPr>
        <p:spPr>
          <a:xfrm>
            <a:off x="8458200" y="397764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u="sng" dirty="0">
                <a:solidFill>
                  <a:srgbClr val="1D6FEB"/>
                </a:solidFill>
                <a:hlinkClick r:id="rId6" invalidUrl="" action="" tgtFrame="" tooltip="Email Sujay Roy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sujaydevroy@gmail.com</a:t>
            </a:r>
            <a:endParaRPr lang="en-US" sz="1200" dirty="0"/>
          </a:p>
        </p:txBody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2440" y="4434840"/>
            <a:ext cx="256032" cy="256032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8458200" y="438912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Kolkata, India · remote-first delivery</a:t>
            </a:r>
            <a:endParaRPr lang="en-US" sz="1100" dirty="0"/>
          </a:p>
        </p:txBody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92440" y="4846320"/>
            <a:ext cx="256032" cy="256032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8458200" y="480060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Office visit or Google Meet, 15–30 min</a:t>
            </a:r>
            <a:endParaRPr lang="en-US" sz="1100" dirty="0"/>
          </a:p>
        </p:txBody>
      </p:sp>
      <p:sp>
        <p:nvSpPr>
          <p:cNvPr id="37" name="Text 28"/>
          <p:cNvSpPr txBox="1"/>
          <p:nvPr/>
        </p:nvSpPr>
        <p:spPr>
          <a:xfrm>
            <a:off x="640080" y="6035040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1D6FEB"/>
          </a:solidFill>
          <a:ln>
            <a:solidFill>
              <a:srgbClr val="1D6FEB"/>
            </a:solidFill>
          </a:ln>
        </p:spPr>
        <p:txBody>
          <a:bodyPr wrap="square" lIns="0" tIns="1270" rIns="127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⌂  Back to Navigator</a:t>
            </a:r>
            <a:endParaRPr lang="en-US" sz="1000" dirty="0"/>
          </a:p>
        </p:txBody>
      </p:sp>
      <p:sp>
        <p:nvSpPr>
          <p:cNvPr id="38" name="Text 29"/>
          <p:cNvSpPr txBox="1"/>
          <p:nvPr/>
        </p:nvSpPr>
        <p:spPr>
          <a:xfrm>
            <a:off x="2697480" y="6035040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  <p:txBody>
          <a:bodyPr wrap="square" lIns="0" tIns="1270" rIns="127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7D2FE"/>
                </a:solidFill>
              </a:rPr>
              <a:t>←  Engagement options</a:t>
            </a:r>
            <a:endParaRPr lang="en-US" sz="1000" dirty="0"/>
          </a:p>
        </p:txBody>
      </p:sp>
      <p:sp>
        <p:nvSpPr>
          <p:cNvPr id="39" name="Text 30"/>
          <p:cNvSpPr txBox="1"/>
          <p:nvPr/>
        </p:nvSpPr>
        <p:spPr>
          <a:xfrm>
            <a:off x="5943600" y="6035040"/>
            <a:ext cx="5623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LeadPilot  ·  Find the demand. Sync the sale.  ·  October 2026</a:t>
            </a:r>
            <a:endParaRPr lang="en-US" sz="1000" dirty="0"/>
          </a:p>
        </p:txBody>
      </p:sp>
      <p:sp>
        <p:nvSpPr>
          <p:cNvPr id="40" name="Text 31"/>
          <p:cNvSpPr txBox="1"/>
          <p:nvPr/>
        </p:nvSpPr>
        <p:spPr>
          <a:xfrm>
            <a:off x="10607040" y="640080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22 / 22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adPilot">
  <a:themeElements>
    <a:clrScheme name="LeadPilot">
      <a:dk1>
        <a:srgbClr val="0F172A"/>
      </a:dk1>
      <a:lt1>
        <a:srgbClr val="FFFFFF"/>
      </a:lt1>
      <a:dk2>
        <a:srgbClr val="1E1B4B"/>
      </a:dk2>
      <a:lt2>
        <a:srgbClr val="F1F5F9"/>
      </a:lt2>
      <a:accent1>
        <a:srgbClr val="1D6FEB"/>
      </a:accent1>
      <a:accent2>
        <a:srgbClr val="0D9488"/>
      </a:accent2>
      <a:accent3>
        <a:srgbClr val="F59E0B"/>
      </a:accent3>
      <a:accent4>
        <a:srgbClr val="E11D48"/>
      </a:accent4>
      <a:accent5>
        <a:srgbClr val="7C3AED"/>
      </a:accent5>
      <a:accent6>
        <a:srgbClr val="0284C7"/>
      </a:accent6>
      <a:hlink>
        <a:srgbClr val="1D6FEB"/>
      </a:hlink>
      <a:folHlink>
        <a:srgbClr val="7C3AED"/>
      </a:folHlink>
    </a:clrScheme>
    <a:fontScheme name="LeadPilot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LeadPilot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LeadPilot — Sales Intelligence, Lead Generation &amp; Sync</dc:title>
  <dc:subject>PptxGenJS Presentation</dc:subject>
  <dc:creator>Sujay Roy</dc:creator>
  <cp:lastModifiedBy>Sujay Roy</cp:lastModifiedBy>
  <cp:revision>1</cp:revision>
  <dcterms:created xsi:type="dcterms:W3CDTF">2026-10-08T07:31:03Z</dcterms:created>
  <dcterms:modified xsi:type="dcterms:W3CDTF">2026-10-08T07:31:03Z</dcterms:modified>
</cp:coreProperties>
</file>